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1" r:id="rId3"/>
    <p:sldId id="272" r:id="rId4"/>
    <p:sldId id="258" r:id="rId5"/>
    <p:sldId id="259" r:id="rId6"/>
    <p:sldId id="266" r:id="rId7"/>
    <p:sldId id="260" r:id="rId8"/>
    <p:sldId id="267" r:id="rId9"/>
    <p:sldId id="261" r:id="rId10"/>
    <p:sldId id="270" r:id="rId11"/>
    <p:sldId id="269" r:id="rId12"/>
    <p:sldId id="263" r:id="rId13"/>
    <p:sldId id="26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955EA-41A8-016C-5170-EB3A2F5BA54E}" v="531" dt="2026-04-06T22:07:15.522"/>
    <p1510:client id="{4AFAA9F4-B76D-4098-9CC9-F97D68A7CFF0}" v="96" dt="2026-04-06T01:12:59.915"/>
    <p1510:client id="{7AD368A3-6D25-E256-36B0-8A75AB6D808D}" v="14" dt="2026-04-06T21:02:49.560"/>
    <p1510:client id="{C6ACA2A9-C472-251E-91BF-A23C363F72E5}" v="1107" dt="2026-04-06T10:54:25.903"/>
    <p1510:client id="{CD605EBC-9224-49F2-AE29-BD2A2F4433DA}" v="58" dt="2026-04-06T22:15:02.171"/>
    <p1510:client id="{DEF7070A-D50E-EA17-79D9-866A5266864F}" v="48" dt="2026-04-06T20:22:07.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D5BFC09-06A8-4B52-B357-73D71569EB6A}" type="datetimeFigureOut">
              <a:t>4/6/2026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E33BA36-F6CF-476A-898B-63FD3A79F3E0}" type="slidenum">
              <a:t>‹#›</a:t>
            </a:fld>
            <a:endParaRPr lang="en-US"/>
          </a:p>
        </p:txBody>
      </p:sp>
    </p:spTree>
    <p:extLst>
      <p:ext uri="{BB962C8B-B14F-4D97-AF65-F5344CB8AC3E}">
        <p14:creationId xmlns:p14="http://schemas.microsoft.com/office/powerpoint/2010/main" val="3128924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AF8EC-89F5-C8B7-AAA4-7E169BE67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A20E0-4BEF-89BC-56CA-E8C19FB40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C28CE-10A3-4E3D-F750-DD86AED127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704730-4EF0-5C21-D2B2-D3D78B8CE8C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14663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16C0-638E-DB01-016A-F85C6789C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72095-43B7-D431-6C40-49C007EC1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F4B244-22AE-152F-C51A-8C5C79F6F8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07782D-AB24-E3E6-80C5-ED667040FE5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22131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2AA3-FC60-DEEF-2037-08B359D80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44F04-4148-4075-6C58-FD7F322CE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DEF90-2843-5617-298B-9C2267FDF0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B097A0-C833-CFB0-F95F-813C81D9556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08280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9C9D8-38A0-8E7F-32F9-368F7E29D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47383-9261-5FD8-C6A0-75D548C67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25347-C01B-A301-F3E9-3FD1DB09CB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50DC8F-455A-D56A-892C-E7C0358DAEA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77960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video" Target="https://www.youtube.com/embed/4sEZqdryVMg?feature=oembed" TargetMode="External"/><Relationship Id="rId5" Type="http://schemas.openxmlformats.org/officeDocument/2006/relationships/hyperlink" Target="http://www.youtube.com/watch?v=4sEZqdryVMg&amp;feature=youtu.be" TargetMode="Externa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8412480" y="457200"/>
            <a:ext cx="73152" cy="73152"/>
          </a:xfrm>
          <a:prstGeom prst="ellipse">
            <a:avLst/>
          </a:prstGeom>
          <a:solidFill>
            <a:srgbClr val="14B8A6">
              <a:alpha val="40000"/>
            </a:srgbClr>
          </a:solidFill>
          <a:ln w="12700">
            <a:solidFill>
              <a:srgbClr val="14B8A6"/>
            </a:solidFill>
            <a:prstDash val="solid"/>
          </a:ln>
        </p:spPr>
      </p:sp>
      <p:sp>
        <p:nvSpPr>
          <p:cNvPr id="3" name="Shape 1"/>
          <p:cNvSpPr/>
          <p:nvPr/>
        </p:nvSpPr>
        <p:spPr>
          <a:xfrm>
            <a:off x="8796528" y="457200"/>
            <a:ext cx="73152" cy="73152"/>
          </a:xfrm>
          <a:prstGeom prst="ellipse">
            <a:avLst/>
          </a:prstGeom>
          <a:solidFill>
            <a:srgbClr val="14B8A6">
              <a:alpha val="40000"/>
            </a:srgbClr>
          </a:solidFill>
          <a:ln w="12700">
            <a:solidFill>
              <a:srgbClr val="14B8A6"/>
            </a:solidFill>
            <a:prstDash val="solid"/>
          </a:ln>
        </p:spPr>
      </p:sp>
      <p:sp>
        <p:nvSpPr>
          <p:cNvPr id="4" name="Shape 2"/>
          <p:cNvSpPr/>
          <p:nvPr/>
        </p:nvSpPr>
        <p:spPr>
          <a:xfrm>
            <a:off x="9180576" y="457200"/>
            <a:ext cx="73152" cy="73152"/>
          </a:xfrm>
          <a:prstGeom prst="ellipse">
            <a:avLst/>
          </a:prstGeom>
          <a:solidFill>
            <a:srgbClr val="14B8A6">
              <a:alpha val="40000"/>
            </a:srgbClr>
          </a:solidFill>
          <a:ln w="12700">
            <a:solidFill>
              <a:srgbClr val="14B8A6"/>
            </a:solidFill>
            <a:prstDash val="solid"/>
          </a:ln>
        </p:spPr>
      </p:sp>
      <p:sp>
        <p:nvSpPr>
          <p:cNvPr id="5" name="Shape 3"/>
          <p:cNvSpPr/>
          <p:nvPr/>
        </p:nvSpPr>
        <p:spPr>
          <a:xfrm>
            <a:off x="9564624" y="457200"/>
            <a:ext cx="73152" cy="73152"/>
          </a:xfrm>
          <a:prstGeom prst="ellipse">
            <a:avLst/>
          </a:prstGeom>
          <a:solidFill>
            <a:srgbClr val="14B8A6">
              <a:alpha val="40000"/>
            </a:srgbClr>
          </a:solidFill>
          <a:ln w="12700">
            <a:solidFill>
              <a:srgbClr val="14B8A6"/>
            </a:solidFill>
            <a:prstDash val="solid"/>
          </a:ln>
        </p:spPr>
      </p:sp>
      <p:sp>
        <p:nvSpPr>
          <p:cNvPr id="6" name="Shape 4"/>
          <p:cNvSpPr/>
          <p:nvPr/>
        </p:nvSpPr>
        <p:spPr>
          <a:xfrm>
            <a:off x="9948672" y="457200"/>
            <a:ext cx="73152" cy="73152"/>
          </a:xfrm>
          <a:prstGeom prst="ellipse">
            <a:avLst/>
          </a:prstGeom>
          <a:solidFill>
            <a:srgbClr val="14B8A6">
              <a:alpha val="40000"/>
            </a:srgbClr>
          </a:solidFill>
          <a:ln w="12700">
            <a:solidFill>
              <a:srgbClr val="14B8A6"/>
            </a:solidFill>
            <a:prstDash val="solid"/>
          </a:ln>
        </p:spPr>
      </p:sp>
      <p:sp>
        <p:nvSpPr>
          <p:cNvPr id="7" name="Shape 5"/>
          <p:cNvSpPr/>
          <p:nvPr/>
        </p:nvSpPr>
        <p:spPr>
          <a:xfrm>
            <a:off x="10332720" y="457200"/>
            <a:ext cx="73152" cy="73152"/>
          </a:xfrm>
          <a:prstGeom prst="ellipse">
            <a:avLst/>
          </a:prstGeom>
          <a:solidFill>
            <a:srgbClr val="14B8A6">
              <a:alpha val="40000"/>
            </a:srgbClr>
          </a:solidFill>
          <a:ln w="12700">
            <a:solidFill>
              <a:srgbClr val="14B8A6"/>
            </a:solidFill>
            <a:prstDash val="solid"/>
          </a:ln>
        </p:spPr>
      </p:sp>
      <p:sp>
        <p:nvSpPr>
          <p:cNvPr id="8" name="Shape 6"/>
          <p:cNvSpPr/>
          <p:nvPr/>
        </p:nvSpPr>
        <p:spPr>
          <a:xfrm>
            <a:off x="10716768" y="457200"/>
            <a:ext cx="73152" cy="73152"/>
          </a:xfrm>
          <a:prstGeom prst="ellipse">
            <a:avLst/>
          </a:prstGeom>
          <a:solidFill>
            <a:srgbClr val="14B8A6">
              <a:alpha val="40000"/>
            </a:srgbClr>
          </a:solidFill>
          <a:ln w="12700">
            <a:solidFill>
              <a:srgbClr val="14B8A6"/>
            </a:solidFill>
            <a:prstDash val="solid"/>
          </a:ln>
        </p:spPr>
      </p:sp>
      <p:sp>
        <p:nvSpPr>
          <p:cNvPr id="9" name="Shape 7"/>
          <p:cNvSpPr/>
          <p:nvPr/>
        </p:nvSpPr>
        <p:spPr>
          <a:xfrm>
            <a:off x="11100816" y="457200"/>
            <a:ext cx="73152" cy="73152"/>
          </a:xfrm>
          <a:prstGeom prst="ellipse">
            <a:avLst/>
          </a:prstGeom>
          <a:solidFill>
            <a:srgbClr val="14B8A6">
              <a:alpha val="40000"/>
            </a:srgbClr>
          </a:solidFill>
          <a:ln w="12700">
            <a:solidFill>
              <a:srgbClr val="14B8A6"/>
            </a:solidFill>
            <a:prstDash val="solid"/>
          </a:ln>
        </p:spPr>
      </p:sp>
      <p:sp>
        <p:nvSpPr>
          <p:cNvPr id="10" name="Shape 8"/>
          <p:cNvSpPr/>
          <p:nvPr/>
        </p:nvSpPr>
        <p:spPr>
          <a:xfrm>
            <a:off x="11484864" y="457200"/>
            <a:ext cx="73152" cy="73152"/>
          </a:xfrm>
          <a:prstGeom prst="ellipse">
            <a:avLst/>
          </a:prstGeom>
          <a:solidFill>
            <a:srgbClr val="14B8A6">
              <a:alpha val="40000"/>
            </a:srgbClr>
          </a:solidFill>
          <a:ln w="12700">
            <a:solidFill>
              <a:srgbClr val="14B8A6"/>
            </a:solidFill>
            <a:prstDash val="solid"/>
          </a:ln>
        </p:spPr>
      </p:sp>
      <p:sp>
        <p:nvSpPr>
          <p:cNvPr id="11" name="Shape 9"/>
          <p:cNvSpPr/>
          <p:nvPr/>
        </p:nvSpPr>
        <p:spPr>
          <a:xfrm>
            <a:off x="11868912" y="457200"/>
            <a:ext cx="73152" cy="73152"/>
          </a:xfrm>
          <a:prstGeom prst="ellipse">
            <a:avLst/>
          </a:prstGeom>
          <a:solidFill>
            <a:srgbClr val="14B8A6">
              <a:alpha val="40000"/>
            </a:srgbClr>
          </a:solidFill>
          <a:ln w="12700">
            <a:solidFill>
              <a:srgbClr val="14B8A6"/>
            </a:solidFill>
            <a:prstDash val="solid"/>
          </a:ln>
        </p:spPr>
      </p:sp>
      <p:sp>
        <p:nvSpPr>
          <p:cNvPr id="12" name="Shape 10"/>
          <p:cNvSpPr/>
          <p:nvPr/>
        </p:nvSpPr>
        <p:spPr>
          <a:xfrm>
            <a:off x="8412480" y="841248"/>
            <a:ext cx="73152" cy="73152"/>
          </a:xfrm>
          <a:prstGeom prst="ellipse">
            <a:avLst/>
          </a:prstGeom>
          <a:solidFill>
            <a:srgbClr val="14B8A6">
              <a:alpha val="40000"/>
            </a:srgbClr>
          </a:solidFill>
          <a:ln w="12700">
            <a:solidFill>
              <a:srgbClr val="14B8A6"/>
            </a:solidFill>
            <a:prstDash val="solid"/>
          </a:ln>
        </p:spPr>
      </p:sp>
      <p:sp>
        <p:nvSpPr>
          <p:cNvPr id="13" name="Shape 11"/>
          <p:cNvSpPr/>
          <p:nvPr/>
        </p:nvSpPr>
        <p:spPr>
          <a:xfrm>
            <a:off x="8796528" y="841248"/>
            <a:ext cx="73152" cy="73152"/>
          </a:xfrm>
          <a:prstGeom prst="ellipse">
            <a:avLst/>
          </a:prstGeom>
          <a:solidFill>
            <a:srgbClr val="14B8A6">
              <a:alpha val="40000"/>
            </a:srgbClr>
          </a:solidFill>
          <a:ln w="12700">
            <a:solidFill>
              <a:srgbClr val="14B8A6"/>
            </a:solidFill>
            <a:prstDash val="solid"/>
          </a:ln>
        </p:spPr>
      </p:sp>
      <p:sp>
        <p:nvSpPr>
          <p:cNvPr id="14" name="Shape 12"/>
          <p:cNvSpPr/>
          <p:nvPr/>
        </p:nvSpPr>
        <p:spPr>
          <a:xfrm>
            <a:off x="9180576" y="841248"/>
            <a:ext cx="73152" cy="73152"/>
          </a:xfrm>
          <a:prstGeom prst="ellipse">
            <a:avLst/>
          </a:prstGeom>
          <a:solidFill>
            <a:srgbClr val="14B8A6">
              <a:alpha val="40000"/>
            </a:srgbClr>
          </a:solidFill>
          <a:ln w="12700">
            <a:solidFill>
              <a:srgbClr val="14B8A6"/>
            </a:solidFill>
            <a:prstDash val="solid"/>
          </a:ln>
        </p:spPr>
      </p:sp>
      <p:sp>
        <p:nvSpPr>
          <p:cNvPr id="15" name="Shape 13"/>
          <p:cNvSpPr/>
          <p:nvPr/>
        </p:nvSpPr>
        <p:spPr>
          <a:xfrm>
            <a:off x="9564624" y="841248"/>
            <a:ext cx="73152" cy="73152"/>
          </a:xfrm>
          <a:prstGeom prst="ellipse">
            <a:avLst/>
          </a:prstGeom>
          <a:solidFill>
            <a:srgbClr val="14B8A6">
              <a:alpha val="40000"/>
            </a:srgbClr>
          </a:solidFill>
          <a:ln w="12700">
            <a:solidFill>
              <a:srgbClr val="14B8A6"/>
            </a:solidFill>
            <a:prstDash val="solid"/>
          </a:ln>
        </p:spPr>
      </p:sp>
      <p:sp>
        <p:nvSpPr>
          <p:cNvPr id="16" name="Shape 14"/>
          <p:cNvSpPr/>
          <p:nvPr/>
        </p:nvSpPr>
        <p:spPr>
          <a:xfrm>
            <a:off x="9948672" y="841248"/>
            <a:ext cx="73152" cy="73152"/>
          </a:xfrm>
          <a:prstGeom prst="ellipse">
            <a:avLst/>
          </a:prstGeom>
          <a:solidFill>
            <a:srgbClr val="14B8A6">
              <a:alpha val="40000"/>
            </a:srgbClr>
          </a:solidFill>
          <a:ln w="12700">
            <a:solidFill>
              <a:srgbClr val="14B8A6"/>
            </a:solidFill>
            <a:prstDash val="solid"/>
          </a:ln>
        </p:spPr>
      </p:sp>
      <p:sp>
        <p:nvSpPr>
          <p:cNvPr id="17" name="Shape 15"/>
          <p:cNvSpPr/>
          <p:nvPr/>
        </p:nvSpPr>
        <p:spPr>
          <a:xfrm>
            <a:off x="10332720" y="841248"/>
            <a:ext cx="73152" cy="73152"/>
          </a:xfrm>
          <a:prstGeom prst="ellipse">
            <a:avLst/>
          </a:prstGeom>
          <a:solidFill>
            <a:srgbClr val="14B8A6">
              <a:alpha val="40000"/>
            </a:srgbClr>
          </a:solidFill>
          <a:ln w="12700">
            <a:solidFill>
              <a:srgbClr val="14B8A6"/>
            </a:solidFill>
            <a:prstDash val="solid"/>
          </a:ln>
        </p:spPr>
      </p:sp>
      <p:sp>
        <p:nvSpPr>
          <p:cNvPr id="18" name="Shape 16"/>
          <p:cNvSpPr/>
          <p:nvPr/>
        </p:nvSpPr>
        <p:spPr>
          <a:xfrm>
            <a:off x="10716768" y="841248"/>
            <a:ext cx="73152" cy="73152"/>
          </a:xfrm>
          <a:prstGeom prst="ellipse">
            <a:avLst/>
          </a:prstGeom>
          <a:solidFill>
            <a:srgbClr val="14B8A6">
              <a:alpha val="40000"/>
            </a:srgbClr>
          </a:solidFill>
          <a:ln w="12700">
            <a:solidFill>
              <a:srgbClr val="14B8A6"/>
            </a:solidFill>
            <a:prstDash val="solid"/>
          </a:ln>
        </p:spPr>
      </p:sp>
      <p:sp>
        <p:nvSpPr>
          <p:cNvPr id="19" name="Shape 17"/>
          <p:cNvSpPr/>
          <p:nvPr/>
        </p:nvSpPr>
        <p:spPr>
          <a:xfrm>
            <a:off x="11100816" y="841248"/>
            <a:ext cx="73152" cy="73152"/>
          </a:xfrm>
          <a:prstGeom prst="ellipse">
            <a:avLst/>
          </a:prstGeom>
          <a:solidFill>
            <a:srgbClr val="14B8A6">
              <a:alpha val="40000"/>
            </a:srgbClr>
          </a:solidFill>
          <a:ln w="12700">
            <a:solidFill>
              <a:srgbClr val="14B8A6"/>
            </a:solidFill>
            <a:prstDash val="solid"/>
          </a:ln>
        </p:spPr>
      </p:sp>
      <p:sp>
        <p:nvSpPr>
          <p:cNvPr id="20" name="Shape 18"/>
          <p:cNvSpPr/>
          <p:nvPr/>
        </p:nvSpPr>
        <p:spPr>
          <a:xfrm>
            <a:off x="11484864" y="841248"/>
            <a:ext cx="73152" cy="73152"/>
          </a:xfrm>
          <a:prstGeom prst="ellipse">
            <a:avLst/>
          </a:prstGeom>
          <a:solidFill>
            <a:srgbClr val="14B8A6">
              <a:alpha val="40000"/>
            </a:srgbClr>
          </a:solidFill>
          <a:ln w="12700">
            <a:solidFill>
              <a:srgbClr val="14B8A6"/>
            </a:solidFill>
            <a:prstDash val="solid"/>
          </a:ln>
        </p:spPr>
      </p:sp>
      <p:sp>
        <p:nvSpPr>
          <p:cNvPr id="21" name="Shape 19"/>
          <p:cNvSpPr/>
          <p:nvPr/>
        </p:nvSpPr>
        <p:spPr>
          <a:xfrm>
            <a:off x="11868912" y="841248"/>
            <a:ext cx="73152" cy="73152"/>
          </a:xfrm>
          <a:prstGeom prst="ellipse">
            <a:avLst/>
          </a:prstGeom>
          <a:solidFill>
            <a:srgbClr val="14B8A6">
              <a:alpha val="40000"/>
            </a:srgbClr>
          </a:solidFill>
          <a:ln w="12700">
            <a:solidFill>
              <a:srgbClr val="14B8A6"/>
            </a:solidFill>
            <a:prstDash val="solid"/>
          </a:ln>
        </p:spPr>
      </p:sp>
      <p:sp>
        <p:nvSpPr>
          <p:cNvPr id="22" name="Shape 20"/>
          <p:cNvSpPr/>
          <p:nvPr/>
        </p:nvSpPr>
        <p:spPr>
          <a:xfrm>
            <a:off x="8412480" y="1225296"/>
            <a:ext cx="73152" cy="73152"/>
          </a:xfrm>
          <a:prstGeom prst="ellipse">
            <a:avLst/>
          </a:prstGeom>
          <a:solidFill>
            <a:srgbClr val="14B8A6">
              <a:alpha val="40000"/>
            </a:srgbClr>
          </a:solidFill>
          <a:ln w="12700">
            <a:solidFill>
              <a:srgbClr val="14B8A6"/>
            </a:solidFill>
            <a:prstDash val="solid"/>
          </a:ln>
        </p:spPr>
      </p:sp>
      <p:sp>
        <p:nvSpPr>
          <p:cNvPr id="23" name="Shape 21"/>
          <p:cNvSpPr/>
          <p:nvPr/>
        </p:nvSpPr>
        <p:spPr>
          <a:xfrm>
            <a:off x="8796528" y="1225296"/>
            <a:ext cx="73152" cy="73152"/>
          </a:xfrm>
          <a:prstGeom prst="ellipse">
            <a:avLst/>
          </a:prstGeom>
          <a:solidFill>
            <a:srgbClr val="14B8A6">
              <a:alpha val="40000"/>
            </a:srgbClr>
          </a:solidFill>
          <a:ln w="12700">
            <a:solidFill>
              <a:srgbClr val="14B8A6"/>
            </a:solidFill>
            <a:prstDash val="solid"/>
          </a:ln>
        </p:spPr>
      </p:sp>
      <p:sp>
        <p:nvSpPr>
          <p:cNvPr id="24" name="Shape 22"/>
          <p:cNvSpPr/>
          <p:nvPr/>
        </p:nvSpPr>
        <p:spPr>
          <a:xfrm>
            <a:off x="9180576" y="1225296"/>
            <a:ext cx="73152" cy="73152"/>
          </a:xfrm>
          <a:prstGeom prst="ellipse">
            <a:avLst/>
          </a:prstGeom>
          <a:solidFill>
            <a:srgbClr val="14B8A6">
              <a:alpha val="40000"/>
            </a:srgbClr>
          </a:solidFill>
          <a:ln w="12700">
            <a:solidFill>
              <a:srgbClr val="14B8A6"/>
            </a:solidFill>
            <a:prstDash val="solid"/>
          </a:ln>
        </p:spPr>
      </p:sp>
      <p:sp>
        <p:nvSpPr>
          <p:cNvPr id="25" name="Shape 23"/>
          <p:cNvSpPr/>
          <p:nvPr/>
        </p:nvSpPr>
        <p:spPr>
          <a:xfrm>
            <a:off x="9564624" y="1225296"/>
            <a:ext cx="73152" cy="73152"/>
          </a:xfrm>
          <a:prstGeom prst="ellipse">
            <a:avLst/>
          </a:prstGeom>
          <a:solidFill>
            <a:srgbClr val="14B8A6">
              <a:alpha val="40000"/>
            </a:srgbClr>
          </a:solidFill>
          <a:ln w="12700">
            <a:solidFill>
              <a:srgbClr val="14B8A6"/>
            </a:solidFill>
            <a:prstDash val="solid"/>
          </a:ln>
        </p:spPr>
      </p:sp>
      <p:sp>
        <p:nvSpPr>
          <p:cNvPr id="26" name="Shape 24"/>
          <p:cNvSpPr/>
          <p:nvPr/>
        </p:nvSpPr>
        <p:spPr>
          <a:xfrm>
            <a:off x="9948672" y="1225296"/>
            <a:ext cx="73152" cy="73152"/>
          </a:xfrm>
          <a:prstGeom prst="ellipse">
            <a:avLst/>
          </a:prstGeom>
          <a:solidFill>
            <a:srgbClr val="14B8A6">
              <a:alpha val="40000"/>
            </a:srgbClr>
          </a:solidFill>
          <a:ln w="12700">
            <a:solidFill>
              <a:srgbClr val="14B8A6"/>
            </a:solidFill>
            <a:prstDash val="solid"/>
          </a:ln>
        </p:spPr>
      </p:sp>
      <p:sp>
        <p:nvSpPr>
          <p:cNvPr id="27" name="Shape 25"/>
          <p:cNvSpPr/>
          <p:nvPr/>
        </p:nvSpPr>
        <p:spPr>
          <a:xfrm>
            <a:off x="10332720" y="1225296"/>
            <a:ext cx="73152" cy="73152"/>
          </a:xfrm>
          <a:prstGeom prst="ellipse">
            <a:avLst/>
          </a:prstGeom>
          <a:solidFill>
            <a:srgbClr val="14B8A6">
              <a:alpha val="40000"/>
            </a:srgbClr>
          </a:solidFill>
          <a:ln w="12700">
            <a:solidFill>
              <a:srgbClr val="14B8A6"/>
            </a:solidFill>
            <a:prstDash val="solid"/>
          </a:ln>
        </p:spPr>
      </p:sp>
      <p:sp>
        <p:nvSpPr>
          <p:cNvPr id="28" name="Shape 26"/>
          <p:cNvSpPr/>
          <p:nvPr/>
        </p:nvSpPr>
        <p:spPr>
          <a:xfrm>
            <a:off x="10716768" y="1225296"/>
            <a:ext cx="73152" cy="73152"/>
          </a:xfrm>
          <a:prstGeom prst="ellipse">
            <a:avLst/>
          </a:prstGeom>
          <a:solidFill>
            <a:srgbClr val="14B8A6">
              <a:alpha val="40000"/>
            </a:srgbClr>
          </a:solidFill>
          <a:ln w="12700">
            <a:solidFill>
              <a:srgbClr val="14B8A6"/>
            </a:solidFill>
            <a:prstDash val="solid"/>
          </a:ln>
        </p:spPr>
      </p:sp>
      <p:sp>
        <p:nvSpPr>
          <p:cNvPr id="29" name="Shape 27"/>
          <p:cNvSpPr/>
          <p:nvPr/>
        </p:nvSpPr>
        <p:spPr>
          <a:xfrm>
            <a:off x="11100816" y="1225296"/>
            <a:ext cx="73152" cy="73152"/>
          </a:xfrm>
          <a:prstGeom prst="ellipse">
            <a:avLst/>
          </a:prstGeom>
          <a:solidFill>
            <a:srgbClr val="14B8A6">
              <a:alpha val="40000"/>
            </a:srgbClr>
          </a:solidFill>
          <a:ln w="12700">
            <a:solidFill>
              <a:srgbClr val="14B8A6"/>
            </a:solidFill>
            <a:prstDash val="solid"/>
          </a:ln>
        </p:spPr>
      </p:sp>
      <p:sp>
        <p:nvSpPr>
          <p:cNvPr id="30" name="Shape 28"/>
          <p:cNvSpPr/>
          <p:nvPr/>
        </p:nvSpPr>
        <p:spPr>
          <a:xfrm>
            <a:off x="11484864" y="1225296"/>
            <a:ext cx="73152" cy="73152"/>
          </a:xfrm>
          <a:prstGeom prst="ellipse">
            <a:avLst/>
          </a:prstGeom>
          <a:solidFill>
            <a:srgbClr val="14B8A6">
              <a:alpha val="40000"/>
            </a:srgbClr>
          </a:solidFill>
          <a:ln w="12700">
            <a:solidFill>
              <a:srgbClr val="14B8A6"/>
            </a:solidFill>
            <a:prstDash val="solid"/>
          </a:ln>
        </p:spPr>
      </p:sp>
      <p:sp>
        <p:nvSpPr>
          <p:cNvPr id="31" name="Shape 29"/>
          <p:cNvSpPr/>
          <p:nvPr/>
        </p:nvSpPr>
        <p:spPr>
          <a:xfrm>
            <a:off x="11868912" y="1225296"/>
            <a:ext cx="73152" cy="73152"/>
          </a:xfrm>
          <a:prstGeom prst="ellipse">
            <a:avLst/>
          </a:prstGeom>
          <a:solidFill>
            <a:srgbClr val="14B8A6">
              <a:alpha val="40000"/>
            </a:srgbClr>
          </a:solidFill>
          <a:ln w="12700">
            <a:solidFill>
              <a:srgbClr val="14B8A6"/>
            </a:solidFill>
            <a:prstDash val="solid"/>
          </a:ln>
        </p:spPr>
      </p:sp>
      <p:sp>
        <p:nvSpPr>
          <p:cNvPr id="32" name="Shape 30"/>
          <p:cNvSpPr/>
          <p:nvPr/>
        </p:nvSpPr>
        <p:spPr>
          <a:xfrm>
            <a:off x="8412480" y="1609344"/>
            <a:ext cx="73152" cy="73152"/>
          </a:xfrm>
          <a:prstGeom prst="ellipse">
            <a:avLst/>
          </a:prstGeom>
          <a:solidFill>
            <a:srgbClr val="14B8A6">
              <a:alpha val="40000"/>
            </a:srgbClr>
          </a:solidFill>
          <a:ln w="12700">
            <a:solidFill>
              <a:srgbClr val="14B8A6"/>
            </a:solidFill>
            <a:prstDash val="solid"/>
          </a:ln>
        </p:spPr>
      </p:sp>
      <p:sp>
        <p:nvSpPr>
          <p:cNvPr id="33" name="Shape 31"/>
          <p:cNvSpPr/>
          <p:nvPr/>
        </p:nvSpPr>
        <p:spPr>
          <a:xfrm>
            <a:off x="8796528" y="1609344"/>
            <a:ext cx="73152" cy="73152"/>
          </a:xfrm>
          <a:prstGeom prst="ellipse">
            <a:avLst/>
          </a:prstGeom>
          <a:solidFill>
            <a:srgbClr val="14B8A6">
              <a:alpha val="40000"/>
            </a:srgbClr>
          </a:solidFill>
          <a:ln w="12700">
            <a:solidFill>
              <a:srgbClr val="14B8A6"/>
            </a:solidFill>
            <a:prstDash val="solid"/>
          </a:ln>
        </p:spPr>
      </p:sp>
      <p:sp>
        <p:nvSpPr>
          <p:cNvPr id="34" name="Shape 32"/>
          <p:cNvSpPr/>
          <p:nvPr/>
        </p:nvSpPr>
        <p:spPr>
          <a:xfrm>
            <a:off x="9180576" y="1609344"/>
            <a:ext cx="73152" cy="73152"/>
          </a:xfrm>
          <a:prstGeom prst="ellipse">
            <a:avLst/>
          </a:prstGeom>
          <a:solidFill>
            <a:srgbClr val="14B8A6">
              <a:alpha val="40000"/>
            </a:srgbClr>
          </a:solidFill>
          <a:ln w="12700">
            <a:solidFill>
              <a:srgbClr val="14B8A6"/>
            </a:solidFill>
            <a:prstDash val="solid"/>
          </a:ln>
        </p:spPr>
      </p:sp>
      <p:sp>
        <p:nvSpPr>
          <p:cNvPr id="35" name="Shape 33"/>
          <p:cNvSpPr/>
          <p:nvPr/>
        </p:nvSpPr>
        <p:spPr>
          <a:xfrm>
            <a:off x="9564624" y="1609344"/>
            <a:ext cx="73152" cy="73152"/>
          </a:xfrm>
          <a:prstGeom prst="ellipse">
            <a:avLst/>
          </a:prstGeom>
          <a:solidFill>
            <a:srgbClr val="14B8A6">
              <a:alpha val="40000"/>
            </a:srgbClr>
          </a:solidFill>
          <a:ln w="12700">
            <a:solidFill>
              <a:srgbClr val="14B8A6"/>
            </a:solidFill>
            <a:prstDash val="solid"/>
          </a:ln>
        </p:spPr>
      </p:sp>
      <p:sp>
        <p:nvSpPr>
          <p:cNvPr id="36" name="Shape 34"/>
          <p:cNvSpPr/>
          <p:nvPr/>
        </p:nvSpPr>
        <p:spPr>
          <a:xfrm>
            <a:off x="9948672" y="1609344"/>
            <a:ext cx="73152" cy="73152"/>
          </a:xfrm>
          <a:prstGeom prst="ellipse">
            <a:avLst/>
          </a:prstGeom>
          <a:solidFill>
            <a:srgbClr val="14B8A6">
              <a:alpha val="40000"/>
            </a:srgbClr>
          </a:solidFill>
          <a:ln w="12700">
            <a:solidFill>
              <a:srgbClr val="14B8A6"/>
            </a:solidFill>
            <a:prstDash val="solid"/>
          </a:ln>
        </p:spPr>
      </p:sp>
      <p:sp>
        <p:nvSpPr>
          <p:cNvPr id="37" name="Shape 35"/>
          <p:cNvSpPr/>
          <p:nvPr/>
        </p:nvSpPr>
        <p:spPr>
          <a:xfrm>
            <a:off x="10332720" y="1609344"/>
            <a:ext cx="73152" cy="73152"/>
          </a:xfrm>
          <a:prstGeom prst="ellipse">
            <a:avLst/>
          </a:prstGeom>
          <a:solidFill>
            <a:srgbClr val="14B8A6">
              <a:alpha val="40000"/>
            </a:srgbClr>
          </a:solidFill>
          <a:ln w="12700">
            <a:solidFill>
              <a:srgbClr val="14B8A6"/>
            </a:solidFill>
            <a:prstDash val="solid"/>
          </a:ln>
        </p:spPr>
      </p:sp>
      <p:sp>
        <p:nvSpPr>
          <p:cNvPr id="38" name="Shape 36"/>
          <p:cNvSpPr/>
          <p:nvPr/>
        </p:nvSpPr>
        <p:spPr>
          <a:xfrm>
            <a:off x="10716768" y="1609344"/>
            <a:ext cx="73152" cy="73152"/>
          </a:xfrm>
          <a:prstGeom prst="ellipse">
            <a:avLst/>
          </a:prstGeom>
          <a:solidFill>
            <a:srgbClr val="14B8A6">
              <a:alpha val="40000"/>
            </a:srgbClr>
          </a:solidFill>
          <a:ln w="12700">
            <a:solidFill>
              <a:srgbClr val="14B8A6"/>
            </a:solidFill>
            <a:prstDash val="solid"/>
          </a:ln>
        </p:spPr>
      </p:sp>
      <p:sp>
        <p:nvSpPr>
          <p:cNvPr id="39" name="Shape 37"/>
          <p:cNvSpPr/>
          <p:nvPr/>
        </p:nvSpPr>
        <p:spPr>
          <a:xfrm>
            <a:off x="11100816" y="1609344"/>
            <a:ext cx="73152" cy="73152"/>
          </a:xfrm>
          <a:prstGeom prst="ellipse">
            <a:avLst/>
          </a:prstGeom>
          <a:solidFill>
            <a:srgbClr val="14B8A6">
              <a:alpha val="40000"/>
            </a:srgbClr>
          </a:solidFill>
          <a:ln w="12700">
            <a:solidFill>
              <a:srgbClr val="14B8A6"/>
            </a:solidFill>
            <a:prstDash val="solid"/>
          </a:ln>
        </p:spPr>
      </p:sp>
      <p:sp>
        <p:nvSpPr>
          <p:cNvPr id="40" name="Shape 38"/>
          <p:cNvSpPr/>
          <p:nvPr/>
        </p:nvSpPr>
        <p:spPr>
          <a:xfrm>
            <a:off x="11484864" y="1609344"/>
            <a:ext cx="73152" cy="73152"/>
          </a:xfrm>
          <a:prstGeom prst="ellipse">
            <a:avLst/>
          </a:prstGeom>
          <a:solidFill>
            <a:srgbClr val="14B8A6">
              <a:alpha val="40000"/>
            </a:srgbClr>
          </a:solidFill>
          <a:ln w="12700">
            <a:solidFill>
              <a:srgbClr val="14B8A6"/>
            </a:solidFill>
            <a:prstDash val="solid"/>
          </a:ln>
        </p:spPr>
      </p:sp>
      <p:sp>
        <p:nvSpPr>
          <p:cNvPr id="41" name="Shape 39"/>
          <p:cNvSpPr/>
          <p:nvPr/>
        </p:nvSpPr>
        <p:spPr>
          <a:xfrm>
            <a:off x="11868912" y="1609344"/>
            <a:ext cx="73152" cy="73152"/>
          </a:xfrm>
          <a:prstGeom prst="ellipse">
            <a:avLst/>
          </a:prstGeom>
          <a:solidFill>
            <a:srgbClr val="14B8A6">
              <a:alpha val="40000"/>
            </a:srgbClr>
          </a:solidFill>
          <a:ln w="12700">
            <a:solidFill>
              <a:srgbClr val="14B8A6"/>
            </a:solidFill>
            <a:prstDash val="solid"/>
          </a:ln>
        </p:spPr>
      </p:sp>
      <p:sp>
        <p:nvSpPr>
          <p:cNvPr id="42" name="Shape 40"/>
          <p:cNvSpPr/>
          <p:nvPr/>
        </p:nvSpPr>
        <p:spPr>
          <a:xfrm>
            <a:off x="8412480" y="1993392"/>
            <a:ext cx="73152" cy="73152"/>
          </a:xfrm>
          <a:prstGeom prst="ellipse">
            <a:avLst/>
          </a:prstGeom>
          <a:solidFill>
            <a:srgbClr val="14B8A6">
              <a:alpha val="40000"/>
            </a:srgbClr>
          </a:solidFill>
          <a:ln w="12700">
            <a:solidFill>
              <a:srgbClr val="14B8A6"/>
            </a:solidFill>
            <a:prstDash val="solid"/>
          </a:ln>
        </p:spPr>
      </p:sp>
      <p:sp>
        <p:nvSpPr>
          <p:cNvPr id="43" name="Shape 41"/>
          <p:cNvSpPr/>
          <p:nvPr/>
        </p:nvSpPr>
        <p:spPr>
          <a:xfrm>
            <a:off x="8796528" y="1993392"/>
            <a:ext cx="73152" cy="73152"/>
          </a:xfrm>
          <a:prstGeom prst="ellipse">
            <a:avLst/>
          </a:prstGeom>
          <a:solidFill>
            <a:srgbClr val="14B8A6">
              <a:alpha val="40000"/>
            </a:srgbClr>
          </a:solidFill>
          <a:ln w="12700">
            <a:solidFill>
              <a:srgbClr val="14B8A6"/>
            </a:solidFill>
            <a:prstDash val="solid"/>
          </a:ln>
        </p:spPr>
      </p:sp>
      <p:sp>
        <p:nvSpPr>
          <p:cNvPr id="44" name="Shape 42"/>
          <p:cNvSpPr/>
          <p:nvPr/>
        </p:nvSpPr>
        <p:spPr>
          <a:xfrm>
            <a:off x="9180576" y="1993392"/>
            <a:ext cx="73152" cy="73152"/>
          </a:xfrm>
          <a:prstGeom prst="ellipse">
            <a:avLst/>
          </a:prstGeom>
          <a:solidFill>
            <a:srgbClr val="14B8A6">
              <a:alpha val="40000"/>
            </a:srgbClr>
          </a:solidFill>
          <a:ln w="12700">
            <a:solidFill>
              <a:srgbClr val="14B8A6"/>
            </a:solidFill>
            <a:prstDash val="solid"/>
          </a:ln>
        </p:spPr>
      </p:sp>
      <p:sp>
        <p:nvSpPr>
          <p:cNvPr id="45" name="Shape 43"/>
          <p:cNvSpPr/>
          <p:nvPr/>
        </p:nvSpPr>
        <p:spPr>
          <a:xfrm>
            <a:off x="9564624" y="1993392"/>
            <a:ext cx="73152" cy="73152"/>
          </a:xfrm>
          <a:prstGeom prst="ellipse">
            <a:avLst/>
          </a:prstGeom>
          <a:solidFill>
            <a:srgbClr val="14B8A6">
              <a:alpha val="40000"/>
            </a:srgbClr>
          </a:solidFill>
          <a:ln w="12700">
            <a:solidFill>
              <a:srgbClr val="14B8A6"/>
            </a:solidFill>
            <a:prstDash val="solid"/>
          </a:ln>
        </p:spPr>
      </p:sp>
      <p:sp>
        <p:nvSpPr>
          <p:cNvPr id="46" name="Shape 44"/>
          <p:cNvSpPr/>
          <p:nvPr/>
        </p:nvSpPr>
        <p:spPr>
          <a:xfrm>
            <a:off x="9948672" y="1993392"/>
            <a:ext cx="73152" cy="73152"/>
          </a:xfrm>
          <a:prstGeom prst="ellipse">
            <a:avLst/>
          </a:prstGeom>
          <a:solidFill>
            <a:srgbClr val="14B8A6">
              <a:alpha val="40000"/>
            </a:srgbClr>
          </a:solidFill>
          <a:ln w="12700">
            <a:solidFill>
              <a:srgbClr val="14B8A6"/>
            </a:solidFill>
            <a:prstDash val="solid"/>
          </a:ln>
        </p:spPr>
      </p:sp>
      <p:sp>
        <p:nvSpPr>
          <p:cNvPr id="47" name="Shape 45"/>
          <p:cNvSpPr/>
          <p:nvPr/>
        </p:nvSpPr>
        <p:spPr>
          <a:xfrm>
            <a:off x="10332720" y="1993392"/>
            <a:ext cx="73152" cy="73152"/>
          </a:xfrm>
          <a:prstGeom prst="ellipse">
            <a:avLst/>
          </a:prstGeom>
          <a:solidFill>
            <a:srgbClr val="14B8A6">
              <a:alpha val="40000"/>
            </a:srgbClr>
          </a:solidFill>
          <a:ln w="12700">
            <a:solidFill>
              <a:srgbClr val="14B8A6"/>
            </a:solidFill>
            <a:prstDash val="solid"/>
          </a:ln>
        </p:spPr>
      </p:sp>
      <p:sp>
        <p:nvSpPr>
          <p:cNvPr id="48" name="Shape 46"/>
          <p:cNvSpPr/>
          <p:nvPr/>
        </p:nvSpPr>
        <p:spPr>
          <a:xfrm>
            <a:off x="10716768" y="1993392"/>
            <a:ext cx="73152" cy="73152"/>
          </a:xfrm>
          <a:prstGeom prst="ellipse">
            <a:avLst/>
          </a:prstGeom>
          <a:solidFill>
            <a:srgbClr val="14B8A6">
              <a:alpha val="40000"/>
            </a:srgbClr>
          </a:solidFill>
          <a:ln w="12700">
            <a:solidFill>
              <a:srgbClr val="14B8A6"/>
            </a:solidFill>
            <a:prstDash val="solid"/>
          </a:ln>
        </p:spPr>
      </p:sp>
      <p:sp>
        <p:nvSpPr>
          <p:cNvPr id="49" name="Shape 47"/>
          <p:cNvSpPr/>
          <p:nvPr/>
        </p:nvSpPr>
        <p:spPr>
          <a:xfrm>
            <a:off x="11100816" y="1993392"/>
            <a:ext cx="73152" cy="73152"/>
          </a:xfrm>
          <a:prstGeom prst="ellipse">
            <a:avLst/>
          </a:prstGeom>
          <a:solidFill>
            <a:srgbClr val="14B8A6">
              <a:alpha val="40000"/>
            </a:srgbClr>
          </a:solidFill>
          <a:ln w="12700">
            <a:solidFill>
              <a:srgbClr val="14B8A6"/>
            </a:solidFill>
            <a:prstDash val="solid"/>
          </a:ln>
        </p:spPr>
      </p:sp>
      <p:sp>
        <p:nvSpPr>
          <p:cNvPr id="50" name="Shape 48"/>
          <p:cNvSpPr/>
          <p:nvPr/>
        </p:nvSpPr>
        <p:spPr>
          <a:xfrm>
            <a:off x="11484864" y="1993392"/>
            <a:ext cx="73152" cy="73152"/>
          </a:xfrm>
          <a:prstGeom prst="ellipse">
            <a:avLst/>
          </a:prstGeom>
          <a:solidFill>
            <a:srgbClr val="14B8A6">
              <a:alpha val="40000"/>
            </a:srgbClr>
          </a:solidFill>
          <a:ln w="12700">
            <a:solidFill>
              <a:srgbClr val="14B8A6"/>
            </a:solidFill>
            <a:prstDash val="solid"/>
          </a:ln>
        </p:spPr>
      </p:sp>
      <p:sp>
        <p:nvSpPr>
          <p:cNvPr id="51" name="Shape 49"/>
          <p:cNvSpPr/>
          <p:nvPr/>
        </p:nvSpPr>
        <p:spPr>
          <a:xfrm>
            <a:off x="11868912" y="1993392"/>
            <a:ext cx="73152" cy="73152"/>
          </a:xfrm>
          <a:prstGeom prst="ellipse">
            <a:avLst/>
          </a:prstGeom>
          <a:solidFill>
            <a:srgbClr val="14B8A6">
              <a:alpha val="40000"/>
            </a:srgbClr>
          </a:solidFill>
          <a:ln w="12700">
            <a:solidFill>
              <a:srgbClr val="14B8A6"/>
            </a:solidFill>
            <a:prstDash val="solid"/>
          </a:ln>
        </p:spPr>
      </p:sp>
      <p:sp>
        <p:nvSpPr>
          <p:cNvPr id="52" name="Shape 50"/>
          <p:cNvSpPr/>
          <p:nvPr/>
        </p:nvSpPr>
        <p:spPr>
          <a:xfrm>
            <a:off x="8412480" y="2377440"/>
            <a:ext cx="73152" cy="73152"/>
          </a:xfrm>
          <a:prstGeom prst="ellipse">
            <a:avLst/>
          </a:prstGeom>
          <a:solidFill>
            <a:srgbClr val="14B8A6">
              <a:alpha val="40000"/>
            </a:srgbClr>
          </a:solidFill>
          <a:ln w="12700">
            <a:solidFill>
              <a:srgbClr val="14B8A6"/>
            </a:solidFill>
            <a:prstDash val="solid"/>
          </a:ln>
        </p:spPr>
      </p:sp>
      <p:sp>
        <p:nvSpPr>
          <p:cNvPr id="53" name="Shape 51"/>
          <p:cNvSpPr/>
          <p:nvPr/>
        </p:nvSpPr>
        <p:spPr>
          <a:xfrm>
            <a:off x="8796528" y="2377440"/>
            <a:ext cx="73152" cy="73152"/>
          </a:xfrm>
          <a:prstGeom prst="ellipse">
            <a:avLst/>
          </a:prstGeom>
          <a:solidFill>
            <a:srgbClr val="14B8A6">
              <a:alpha val="40000"/>
            </a:srgbClr>
          </a:solidFill>
          <a:ln w="12700">
            <a:solidFill>
              <a:srgbClr val="14B8A6"/>
            </a:solidFill>
            <a:prstDash val="solid"/>
          </a:ln>
        </p:spPr>
      </p:sp>
      <p:sp>
        <p:nvSpPr>
          <p:cNvPr id="54" name="Shape 52"/>
          <p:cNvSpPr/>
          <p:nvPr/>
        </p:nvSpPr>
        <p:spPr>
          <a:xfrm>
            <a:off x="9180576" y="2377440"/>
            <a:ext cx="73152" cy="73152"/>
          </a:xfrm>
          <a:prstGeom prst="ellipse">
            <a:avLst/>
          </a:prstGeom>
          <a:solidFill>
            <a:srgbClr val="14B8A6">
              <a:alpha val="40000"/>
            </a:srgbClr>
          </a:solidFill>
          <a:ln w="12700">
            <a:solidFill>
              <a:srgbClr val="14B8A6"/>
            </a:solidFill>
            <a:prstDash val="solid"/>
          </a:ln>
        </p:spPr>
      </p:sp>
      <p:sp>
        <p:nvSpPr>
          <p:cNvPr id="55" name="Shape 53"/>
          <p:cNvSpPr/>
          <p:nvPr/>
        </p:nvSpPr>
        <p:spPr>
          <a:xfrm>
            <a:off x="9564624" y="2377440"/>
            <a:ext cx="73152" cy="73152"/>
          </a:xfrm>
          <a:prstGeom prst="ellipse">
            <a:avLst/>
          </a:prstGeom>
          <a:solidFill>
            <a:srgbClr val="14B8A6">
              <a:alpha val="40000"/>
            </a:srgbClr>
          </a:solidFill>
          <a:ln w="12700">
            <a:solidFill>
              <a:srgbClr val="14B8A6"/>
            </a:solidFill>
            <a:prstDash val="solid"/>
          </a:ln>
        </p:spPr>
      </p:sp>
      <p:sp>
        <p:nvSpPr>
          <p:cNvPr id="56" name="Shape 54"/>
          <p:cNvSpPr/>
          <p:nvPr/>
        </p:nvSpPr>
        <p:spPr>
          <a:xfrm>
            <a:off x="9948672" y="2377440"/>
            <a:ext cx="73152" cy="73152"/>
          </a:xfrm>
          <a:prstGeom prst="ellipse">
            <a:avLst/>
          </a:prstGeom>
          <a:solidFill>
            <a:srgbClr val="14B8A6">
              <a:alpha val="40000"/>
            </a:srgbClr>
          </a:solidFill>
          <a:ln w="12700">
            <a:solidFill>
              <a:srgbClr val="14B8A6"/>
            </a:solidFill>
            <a:prstDash val="solid"/>
          </a:ln>
        </p:spPr>
      </p:sp>
      <p:sp>
        <p:nvSpPr>
          <p:cNvPr id="57" name="Shape 55"/>
          <p:cNvSpPr/>
          <p:nvPr/>
        </p:nvSpPr>
        <p:spPr>
          <a:xfrm>
            <a:off x="10332720" y="2377440"/>
            <a:ext cx="73152" cy="73152"/>
          </a:xfrm>
          <a:prstGeom prst="ellipse">
            <a:avLst/>
          </a:prstGeom>
          <a:solidFill>
            <a:srgbClr val="14B8A6">
              <a:alpha val="40000"/>
            </a:srgbClr>
          </a:solidFill>
          <a:ln w="12700">
            <a:solidFill>
              <a:srgbClr val="14B8A6"/>
            </a:solidFill>
            <a:prstDash val="solid"/>
          </a:ln>
        </p:spPr>
      </p:sp>
      <p:sp>
        <p:nvSpPr>
          <p:cNvPr id="58" name="Shape 56"/>
          <p:cNvSpPr/>
          <p:nvPr/>
        </p:nvSpPr>
        <p:spPr>
          <a:xfrm>
            <a:off x="10716768" y="2377440"/>
            <a:ext cx="73152" cy="73152"/>
          </a:xfrm>
          <a:prstGeom prst="ellipse">
            <a:avLst/>
          </a:prstGeom>
          <a:solidFill>
            <a:srgbClr val="14B8A6">
              <a:alpha val="40000"/>
            </a:srgbClr>
          </a:solidFill>
          <a:ln w="12700">
            <a:solidFill>
              <a:srgbClr val="14B8A6"/>
            </a:solidFill>
            <a:prstDash val="solid"/>
          </a:ln>
        </p:spPr>
      </p:sp>
      <p:sp>
        <p:nvSpPr>
          <p:cNvPr id="59" name="Shape 57"/>
          <p:cNvSpPr/>
          <p:nvPr/>
        </p:nvSpPr>
        <p:spPr>
          <a:xfrm>
            <a:off x="11100816" y="2377440"/>
            <a:ext cx="73152" cy="73152"/>
          </a:xfrm>
          <a:prstGeom prst="ellipse">
            <a:avLst/>
          </a:prstGeom>
          <a:solidFill>
            <a:srgbClr val="14B8A6">
              <a:alpha val="40000"/>
            </a:srgbClr>
          </a:solidFill>
          <a:ln w="12700">
            <a:solidFill>
              <a:srgbClr val="14B8A6"/>
            </a:solidFill>
            <a:prstDash val="solid"/>
          </a:ln>
        </p:spPr>
      </p:sp>
      <p:sp>
        <p:nvSpPr>
          <p:cNvPr id="60" name="Shape 58"/>
          <p:cNvSpPr/>
          <p:nvPr/>
        </p:nvSpPr>
        <p:spPr>
          <a:xfrm>
            <a:off x="11484864" y="2377440"/>
            <a:ext cx="73152" cy="73152"/>
          </a:xfrm>
          <a:prstGeom prst="ellipse">
            <a:avLst/>
          </a:prstGeom>
          <a:solidFill>
            <a:srgbClr val="14B8A6">
              <a:alpha val="40000"/>
            </a:srgbClr>
          </a:solidFill>
          <a:ln w="12700">
            <a:solidFill>
              <a:srgbClr val="14B8A6"/>
            </a:solidFill>
            <a:prstDash val="solid"/>
          </a:ln>
        </p:spPr>
      </p:sp>
      <p:sp>
        <p:nvSpPr>
          <p:cNvPr id="61" name="Shape 59"/>
          <p:cNvSpPr/>
          <p:nvPr/>
        </p:nvSpPr>
        <p:spPr>
          <a:xfrm>
            <a:off x="11868912" y="2377440"/>
            <a:ext cx="73152" cy="73152"/>
          </a:xfrm>
          <a:prstGeom prst="ellipse">
            <a:avLst/>
          </a:prstGeom>
          <a:solidFill>
            <a:srgbClr val="14B8A6">
              <a:alpha val="40000"/>
            </a:srgbClr>
          </a:solidFill>
          <a:ln w="12700">
            <a:solidFill>
              <a:srgbClr val="14B8A6"/>
            </a:solidFill>
            <a:prstDash val="solid"/>
          </a:ln>
        </p:spPr>
      </p:sp>
      <p:sp>
        <p:nvSpPr>
          <p:cNvPr id="62" name="Shape 60"/>
          <p:cNvSpPr/>
          <p:nvPr/>
        </p:nvSpPr>
        <p:spPr>
          <a:xfrm>
            <a:off x="731520" y="2377440"/>
            <a:ext cx="137160" cy="1645920"/>
          </a:xfrm>
          <a:prstGeom prst="rect">
            <a:avLst/>
          </a:prstGeom>
          <a:solidFill>
            <a:srgbClr val="14B8A6"/>
          </a:solidFill>
          <a:ln w="12700">
            <a:solidFill>
              <a:srgbClr val="14B8A6"/>
            </a:solidFill>
            <a:prstDash val="solid"/>
          </a:ln>
        </p:spPr>
      </p:sp>
      <p:sp>
        <p:nvSpPr>
          <p:cNvPr id="64" name="Text 62"/>
          <p:cNvSpPr/>
          <p:nvPr/>
        </p:nvSpPr>
        <p:spPr>
          <a:xfrm>
            <a:off x="1005840" y="2651760"/>
            <a:ext cx="10972800" cy="914400"/>
          </a:xfrm>
          <a:prstGeom prst="rect">
            <a:avLst/>
          </a:prstGeom>
          <a:noFill/>
          <a:ln/>
        </p:spPr>
        <p:txBody>
          <a:bodyPr wrap="square" lIns="0" tIns="0" rIns="0" bIns="0" rtlCol="0" anchor="ctr"/>
          <a:lstStyle/>
          <a:p>
            <a:pPr marL="0" indent="0">
              <a:buNone/>
            </a:pPr>
            <a:r>
              <a:rPr lang="en-US" sz="5400" b="1">
                <a:solidFill>
                  <a:srgbClr val="FFFFFF"/>
                </a:solidFill>
                <a:latin typeface="Calibri" pitchFamily="34" charset="0"/>
                <a:ea typeface="Calibri" pitchFamily="34" charset="-122"/>
                <a:cs typeface="Calibri" pitchFamily="34" charset="-120"/>
              </a:rPr>
              <a:t>AES Benchmarking</a:t>
            </a:r>
            <a:endParaRPr lang="en-US" sz="5400"/>
          </a:p>
        </p:txBody>
      </p:sp>
      <p:sp>
        <p:nvSpPr>
          <p:cNvPr id="65" name="Text 63"/>
          <p:cNvSpPr/>
          <p:nvPr/>
        </p:nvSpPr>
        <p:spPr>
          <a:xfrm>
            <a:off x="1005840" y="3520440"/>
            <a:ext cx="10972800" cy="640080"/>
          </a:xfrm>
          <a:prstGeom prst="rect">
            <a:avLst/>
          </a:prstGeom>
          <a:noFill/>
          <a:ln/>
        </p:spPr>
        <p:txBody>
          <a:bodyPr wrap="square" lIns="0" tIns="0" rIns="0" bIns="0" rtlCol="0" anchor="ctr"/>
          <a:lstStyle/>
          <a:p>
            <a:pPr marL="0" indent="0">
              <a:buNone/>
            </a:pPr>
            <a:r>
              <a:rPr lang="en-US" sz="3200" i="1">
                <a:solidFill>
                  <a:srgbClr val="F8FAFC"/>
                </a:solidFill>
                <a:latin typeface="Calibri" pitchFamily="34" charset="0"/>
                <a:ea typeface="Calibri" pitchFamily="34" charset="-122"/>
                <a:cs typeface="Calibri" pitchFamily="34" charset="-120"/>
              </a:rPr>
              <a:t>on the Raspberry Pi 4</a:t>
            </a:r>
            <a:endParaRPr lang="en-US" sz="3200"/>
          </a:p>
        </p:txBody>
      </p:sp>
      <p:sp>
        <p:nvSpPr>
          <p:cNvPr id="66" name="Text 64"/>
          <p:cNvSpPr/>
          <p:nvPr/>
        </p:nvSpPr>
        <p:spPr>
          <a:xfrm>
            <a:off x="1005840" y="4343400"/>
            <a:ext cx="9144000" cy="731520"/>
          </a:xfrm>
          <a:prstGeom prst="rect">
            <a:avLst/>
          </a:prstGeom>
          <a:noFill/>
          <a:ln/>
        </p:spPr>
        <p:txBody>
          <a:bodyPr wrap="square" lIns="0" tIns="0" rIns="0" bIns="0" rtlCol="0" anchor="ctr"/>
          <a:lstStyle/>
          <a:p>
            <a:pPr marL="0" indent="0">
              <a:buNone/>
            </a:pPr>
            <a:r>
              <a:rPr lang="en-US" sz="1400">
                <a:solidFill>
                  <a:srgbClr val="94A3B8"/>
                </a:solidFill>
                <a:latin typeface="Calibri" pitchFamily="34" charset="0"/>
                <a:ea typeface="Calibri" pitchFamily="34" charset="-122"/>
                <a:cs typeface="Calibri" pitchFamily="34" charset="-120"/>
              </a:rPr>
              <a:t>Characterizing software AES across key sizes and modes of operation</a:t>
            </a:r>
            <a:endParaRPr lang="en-US" sz="1400"/>
          </a:p>
          <a:p>
            <a:pPr marL="0" indent="0">
              <a:buNone/>
            </a:pPr>
            <a:r>
              <a:rPr lang="en-US" sz="1400">
                <a:solidFill>
                  <a:srgbClr val="94A3B8"/>
                </a:solidFill>
                <a:latin typeface="Calibri"/>
                <a:ea typeface="Calibri"/>
                <a:cs typeface="Calibri"/>
              </a:rPr>
              <a:t>on an ARM Cortex-A72 </a:t>
            </a:r>
            <a:endParaRPr lang="en-US" sz="1400">
              <a:latin typeface="Calibri"/>
              <a:ea typeface="Calibri"/>
              <a:cs typeface="Calibri"/>
            </a:endParaRPr>
          </a:p>
        </p:txBody>
      </p:sp>
      <p:sp>
        <p:nvSpPr>
          <p:cNvPr id="67" name="Shape 65"/>
          <p:cNvSpPr/>
          <p:nvPr/>
        </p:nvSpPr>
        <p:spPr>
          <a:xfrm>
            <a:off x="1005840" y="5394960"/>
            <a:ext cx="2286000" cy="0"/>
          </a:xfrm>
          <a:prstGeom prst="line">
            <a:avLst/>
          </a:prstGeom>
          <a:noFill/>
          <a:ln w="19050">
            <a:solidFill>
              <a:srgbClr val="14B8A6"/>
            </a:solidFill>
            <a:prstDash val="solid"/>
          </a:ln>
        </p:spPr>
      </p:sp>
      <p:sp>
        <p:nvSpPr>
          <p:cNvPr id="69" name="Text 67"/>
          <p:cNvSpPr/>
          <p:nvPr/>
        </p:nvSpPr>
        <p:spPr>
          <a:xfrm>
            <a:off x="1012644" y="5429250"/>
            <a:ext cx="5486400" cy="1005840"/>
          </a:xfrm>
          <a:prstGeom prst="rect">
            <a:avLst/>
          </a:prstGeom>
          <a:noFill/>
          <a:ln/>
        </p:spPr>
        <p:txBody>
          <a:bodyPr wrap="square" lIns="0" tIns="0" rIns="0" bIns="0" rtlCol="0" anchor="ctr"/>
          <a:lstStyle/>
          <a:p>
            <a:pPr marL="0" indent="0">
              <a:buNone/>
            </a:pPr>
            <a:r>
              <a:rPr lang="en-US" sz="1300">
                <a:solidFill>
                  <a:srgbClr val="E2E8F0"/>
                </a:solidFill>
                <a:latin typeface="Calibri" pitchFamily="34" charset="0"/>
                <a:ea typeface="Calibri" pitchFamily="34" charset="-122"/>
                <a:cs typeface="Calibri" pitchFamily="34" charset="-120"/>
              </a:rPr>
              <a:t>Dhruv Bhatnagar</a:t>
            </a:r>
            <a:endParaRPr lang="en-US" sz="1300"/>
          </a:p>
          <a:p>
            <a:pPr marL="0" indent="0">
              <a:buNone/>
            </a:pPr>
            <a:r>
              <a:rPr lang="en-US" sz="1300">
                <a:solidFill>
                  <a:srgbClr val="E2E8F0"/>
                </a:solidFill>
                <a:latin typeface="Calibri" pitchFamily="34" charset="0"/>
                <a:ea typeface="Calibri" pitchFamily="34" charset="-122"/>
                <a:cs typeface="Calibri" pitchFamily="34" charset="-120"/>
              </a:rPr>
              <a:t>Waamiq Sharrar</a:t>
            </a:r>
            <a:endParaRPr lang="en-US" sz="1300"/>
          </a:p>
          <a:p>
            <a:pPr marL="0" indent="0">
              <a:buNone/>
            </a:pPr>
            <a:r>
              <a:rPr lang="en-US" sz="1300">
                <a:solidFill>
                  <a:srgbClr val="E2E8F0"/>
                </a:solidFill>
                <a:latin typeface="Calibri" pitchFamily="34" charset="0"/>
                <a:ea typeface="Calibri" pitchFamily="34" charset="-122"/>
                <a:cs typeface="Calibri" pitchFamily="34" charset="-120"/>
              </a:rPr>
              <a:t>Mikael Parsamyan</a:t>
            </a:r>
            <a:endParaRPr lang="en-US" sz="1300"/>
          </a:p>
          <a:p>
            <a:pPr marL="0" indent="0">
              <a:buNone/>
            </a:pPr>
            <a:r>
              <a:rPr lang="en-US" sz="1300">
                <a:solidFill>
                  <a:srgbClr val="E2E8F0"/>
                </a:solidFill>
                <a:latin typeface="Calibri" pitchFamily="34" charset="0"/>
                <a:ea typeface="Calibri" pitchFamily="34" charset="-122"/>
                <a:cs typeface="Calibri" pitchFamily="34" charset="-120"/>
              </a:rPr>
              <a:t>Parsa Ghasemi</a:t>
            </a:r>
            <a:endParaRPr lang="en-US" sz="1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txBody>
          <a:bodyPr/>
          <a:lstStyle/>
          <a:p>
            <a:endParaRPr lang="en-US"/>
          </a:p>
        </p:txBody>
      </p:sp>
      <p:sp>
        <p:nvSpPr>
          <p:cNvPr id="3" name="Text 1"/>
          <p:cNvSpPr/>
          <p:nvPr/>
        </p:nvSpPr>
        <p:spPr>
          <a:xfrm>
            <a:off x="548640" y="320040"/>
            <a:ext cx="9144000" cy="320040"/>
          </a:xfrm>
          <a:prstGeom prst="rect">
            <a:avLst/>
          </a:prstGeom>
          <a:noFill/>
          <a:ln/>
        </p:spPr>
        <p:txBody>
          <a:bodyPr wrap="square" lIns="0" tIns="0" rIns="0" bIns="0" rtlCol="0" anchor="ctr"/>
          <a:lstStyle/>
          <a:p>
            <a:pPr marL="0" indent="0">
              <a:buNone/>
            </a:pPr>
            <a:endParaRPr lang="en-US" sz="1200" b="1" kern="0" spc="300">
              <a:solidFill>
                <a:srgbClr val="0D9488"/>
              </a:solidFill>
              <a:latin typeface="Consolas"/>
            </a:endParaRPr>
          </a:p>
        </p:txBody>
      </p:sp>
      <p:sp>
        <p:nvSpPr>
          <p:cNvPr id="4" name="Text 2"/>
          <p:cNvSpPr/>
          <p:nvPr/>
        </p:nvSpPr>
        <p:spPr>
          <a:xfrm>
            <a:off x="548640" y="594360"/>
            <a:ext cx="10972800" cy="731520"/>
          </a:xfrm>
          <a:prstGeom prst="rect">
            <a:avLst/>
          </a:prstGeom>
          <a:noFill/>
          <a:ln/>
        </p:spPr>
        <p:txBody>
          <a:bodyPr wrap="square" lIns="0" tIns="0" rIns="0" bIns="0" rtlCol="0" anchor="ctr"/>
          <a:lstStyle/>
          <a:p>
            <a:r>
              <a:rPr lang="en-US" sz="3200" b="1">
                <a:solidFill>
                  <a:srgbClr val="0F172A"/>
                </a:solidFill>
                <a:ea typeface="Calibri"/>
                <a:cs typeface="Calibri"/>
              </a:rPr>
              <a:t>Explaining AES</a:t>
            </a:r>
          </a:p>
        </p:txBody>
      </p:sp>
      <p:sp>
        <p:nvSpPr>
          <p:cNvPr id="5" name="Shape 3"/>
          <p:cNvSpPr/>
          <p:nvPr/>
        </p:nvSpPr>
        <p:spPr>
          <a:xfrm>
            <a:off x="548640" y="1371600"/>
            <a:ext cx="1097280" cy="0"/>
          </a:xfrm>
          <a:prstGeom prst="line">
            <a:avLst/>
          </a:prstGeom>
          <a:noFill/>
          <a:ln w="31750">
            <a:solidFill>
              <a:srgbClr val="14B8A6"/>
            </a:solidFill>
            <a:prstDash val="solid"/>
          </a:ln>
        </p:spPr>
        <p:txBody>
          <a:bodyPr/>
          <a:lstStyle/>
          <a:p>
            <a:endParaRPr lang="en-US"/>
          </a:p>
        </p:txBody>
      </p:sp>
      <p:sp>
        <p:nvSpPr>
          <p:cNvPr id="6" name="Text 4"/>
          <p:cNvSpPr/>
          <p:nvPr/>
        </p:nvSpPr>
        <p:spPr>
          <a:xfrm>
            <a:off x="548640" y="1600200"/>
            <a:ext cx="11064240" cy="548640"/>
          </a:xfrm>
          <a:prstGeom prst="rect">
            <a:avLst/>
          </a:prstGeom>
          <a:noFill/>
          <a:ln/>
        </p:spPr>
        <p:txBody>
          <a:bodyPr wrap="square" lIns="0" tIns="0" rIns="0" bIns="0" rtlCol="0" anchor="ctr"/>
          <a:lstStyle/>
          <a:p>
            <a:r>
              <a:rPr lang="en-US" sz="1300" b="1">
                <a:solidFill>
                  <a:srgbClr val="0F172A"/>
                </a:solidFill>
                <a:latin typeface="Calibri"/>
                <a:ea typeface="Calibri"/>
                <a:cs typeface="Calibri"/>
              </a:rPr>
              <a:t>AES is a block cipher.  </a:t>
            </a:r>
            <a:r>
              <a:rPr lang="en-US" sz="1300">
                <a:solidFill>
                  <a:srgbClr val="0F172A"/>
                </a:solidFill>
                <a:latin typeface="Calibri"/>
                <a:ea typeface="Calibri"/>
                <a:cs typeface="Calibri"/>
              </a:rPr>
              <a:t>It always operates on fixed 16-byte blocks, regardless of key size, by arranging them as a 4×4 grid of bytes called the </a:t>
            </a:r>
            <a:r>
              <a:rPr lang="en-US" sz="1300" i="1">
                <a:solidFill>
                  <a:srgbClr val="0F172A"/>
                </a:solidFill>
                <a:latin typeface="Calibri"/>
                <a:ea typeface="Calibri"/>
                <a:cs typeface="Calibri"/>
              </a:rPr>
              <a:t>state</a:t>
            </a:r>
            <a:r>
              <a:rPr lang="en-US" sz="1300">
                <a:solidFill>
                  <a:srgbClr val="0F172A"/>
                </a:solidFill>
                <a:latin typeface="Calibri"/>
                <a:ea typeface="Calibri"/>
                <a:cs typeface="Calibri"/>
              </a:rPr>
              <a:t> and running it through several rounds of four fixed operations.</a:t>
            </a:r>
            <a:endParaRPr lang="en-US" sz="1300">
              <a:latin typeface="Calibri"/>
              <a:ea typeface="Calibri"/>
              <a:cs typeface="Calibri"/>
            </a:endParaRPr>
          </a:p>
        </p:txBody>
      </p:sp>
      <p:sp>
        <p:nvSpPr>
          <p:cNvPr id="7" name="Text 5"/>
          <p:cNvSpPr/>
          <p:nvPr/>
        </p:nvSpPr>
        <p:spPr>
          <a:xfrm>
            <a:off x="548640" y="2331720"/>
            <a:ext cx="3657600" cy="274320"/>
          </a:xfrm>
          <a:prstGeom prst="rect">
            <a:avLst/>
          </a:prstGeom>
          <a:noFill/>
          <a:ln/>
        </p:spPr>
        <p:txBody>
          <a:bodyPr wrap="square" lIns="0" tIns="0" rIns="0" bIns="0" rtlCol="0" anchor="ctr"/>
          <a:lstStyle/>
          <a:p>
            <a:pPr marL="0" indent="0">
              <a:buNone/>
            </a:pPr>
            <a:r>
              <a:rPr lang="en-US" sz="1000" b="1" kern="0" spc="200">
                <a:solidFill>
                  <a:srgbClr val="0D9488"/>
                </a:solidFill>
                <a:latin typeface="Consolas" pitchFamily="34" charset="0"/>
                <a:ea typeface="Consolas" pitchFamily="34" charset="-122"/>
                <a:cs typeface="Consolas" pitchFamily="34" charset="-120"/>
              </a:rPr>
              <a:t>EXAMPLE INPUT</a:t>
            </a:r>
            <a:endParaRPr lang="en-US" sz="1000"/>
          </a:p>
        </p:txBody>
      </p:sp>
      <p:sp>
        <p:nvSpPr>
          <p:cNvPr id="8" name="Text 6"/>
          <p:cNvSpPr/>
          <p:nvPr/>
        </p:nvSpPr>
        <p:spPr>
          <a:xfrm>
            <a:off x="548640" y="2578608"/>
            <a:ext cx="3840480" cy="320040"/>
          </a:xfrm>
          <a:prstGeom prst="rect">
            <a:avLst/>
          </a:prstGeom>
          <a:noFill/>
          <a:ln/>
        </p:spPr>
        <p:txBody>
          <a:bodyPr wrap="square" lIns="0" tIns="0" rIns="0" bIns="0" rtlCol="0" anchor="ctr"/>
          <a:lstStyle/>
          <a:p>
            <a:pPr marL="0" indent="0">
              <a:buNone/>
            </a:pPr>
            <a:r>
              <a:rPr lang="en-US" sz="1500" b="1">
                <a:solidFill>
                  <a:srgbClr val="0F172A"/>
                </a:solidFill>
                <a:latin typeface="Consolas" pitchFamily="34" charset="0"/>
                <a:ea typeface="Consolas" pitchFamily="34" charset="-122"/>
                <a:cs typeface="Consolas" pitchFamily="34" charset="-120"/>
              </a:rPr>
              <a:t>"HELLO WORLD, THI"</a:t>
            </a:r>
            <a:endParaRPr lang="en-US" sz="1500"/>
          </a:p>
        </p:txBody>
      </p:sp>
      <p:sp>
        <p:nvSpPr>
          <p:cNvPr id="9" name="Text 7"/>
          <p:cNvSpPr/>
          <p:nvPr/>
        </p:nvSpPr>
        <p:spPr>
          <a:xfrm>
            <a:off x="548640" y="2880360"/>
            <a:ext cx="3840480" cy="274320"/>
          </a:xfrm>
          <a:prstGeom prst="rect">
            <a:avLst/>
          </a:prstGeom>
          <a:noFill/>
          <a:ln/>
        </p:spPr>
        <p:txBody>
          <a:bodyPr wrap="square" lIns="0" tIns="0" rIns="0" bIns="0" rtlCol="0" anchor="ctr"/>
          <a:lstStyle/>
          <a:p>
            <a:pPr marL="0" indent="0">
              <a:buNone/>
            </a:pPr>
            <a:r>
              <a:rPr lang="en-US" sz="1000" i="1">
                <a:solidFill>
                  <a:srgbClr val="64748B"/>
                </a:solidFill>
                <a:latin typeface="Calibri" pitchFamily="34" charset="0"/>
                <a:ea typeface="Calibri" pitchFamily="34" charset="-122"/>
                <a:cs typeface="Calibri" pitchFamily="34" charset="-120"/>
              </a:rPr>
              <a:t>16 bytes  →  arranged as 4×4 state</a:t>
            </a:r>
            <a:endParaRPr lang="en-US" sz="1000"/>
          </a:p>
        </p:txBody>
      </p:sp>
      <p:sp>
        <p:nvSpPr>
          <p:cNvPr id="10" name="Shape 8"/>
          <p:cNvSpPr/>
          <p:nvPr/>
        </p:nvSpPr>
        <p:spPr>
          <a:xfrm>
            <a:off x="1005840" y="3291840"/>
            <a:ext cx="566928" cy="566928"/>
          </a:xfrm>
          <a:prstGeom prst="rect">
            <a:avLst/>
          </a:prstGeom>
          <a:solidFill>
            <a:srgbClr val="FFFFFF"/>
          </a:solidFill>
          <a:ln w="15240">
            <a:solidFill>
              <a:srgbClr val="0F172A"/>
            </a:solidFill>
            <a:prstDash val="solid"/>
          </a:ln>
        </p:spPr>
        <p:txBody>
          <a:bodyPr/>
          <a:lstStyle/>
          <a:p>
            <a:endParaRPr lang="en-US"/>
          </a:p>
        </p:txBody>
      </p:sp>
      <p:sp>
        <p:nvSpPr>
          <p:cNvPr id="11" name="Text 9"/>
          <p:cNvSpPr/>
          <p:nvPr/>
        </p:nvSpPr>
        <p:spPr>
          <a:xfrm>
            <a:off x="1005840" y="3291840"/>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48</a:t>
            </a:r>
            <a:endParaRPr lang="en-US" sz="1300"/>
          </a:p>
        </p:txBody>
      </p:sp>
      <p:sp>
        <p:nvSpPr>
          <p:cNvPr id="12" name="Shape 10"/>
          <p:cNvSpPr/>
          <p:nvPr/>
        </p:nvSpPr>
        <p:spPr>
          <a:xfrm>
            <a:off x="1572768" y="3291840"/>
            <a:ext cx="566928" cy="566928"/>
          </a:xfrm>
          <a:prstGeom prst="rect">
            <a:avLst/>
          </a:prstGeom>
          <a:solidFill>
            <a:srgbClr val="FFFFFF"/>
          </a:solidFill>
          <a:ln w="15240">
            <a:solidFill>
              <a:srgbClr val="0F172A"/>
            </a:solidFill>
            <a:prstDash val="solid"/>
          </a:ln>
        </p:spPr>
        <p:txBody>
          <a:bodyPr/>
          <a:lstStyle/>
          <a:p>
            <a:endParaRPr lang="en-US"/>
          </a:p>
        </p:txBody>
      </p:sp>
      <p:sp>
        <p:nvSpPr>
          <p:cNvPr id="13" name="Text 11"/>
          <p:cNvSpPr/>
          <p:nvPr/>
        </p:nvSpPr>
        <p:spPr>
          <a:xfrm>
            <a:off x="1572768" y="3291840"/>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4F</a:t>
            </a:r>
            <a:endParaRPr lang="en-US" sz="1300"/>
          </a:p>
        </p:txBody>
      </p:sp>
      <p:sp>
        <p:nvSpPr>
          <p:cNvPr id="14" name="Shape 12"/>
          <p:cNvSpPr/>
          <p:nvPr/>
        </p:nvSpPr>
        <p:spPr>
          <a:xfrm>
            <a:off x="2139696" y="3291840"/>
            <a:ext cx="566928" cy="566928"/>
          </a:xfrm>
          <a:prstGeom prst="rect">
            <a:avLst/>
          </a:prstGeom>
          <a:solidFill>
            <a:srgbClr val="FFFFFF"/>
          </a:solidFill>
          <a:ln w="15240">
            <a:solidFill>
              <a:srgbClr val="0F172A"/>
            </a:solidFill>
            <a:prstDash val="solid"/>
          </a:ln>
        </p:spPr>
        <p:txBody>
          <a:bodyPr/>
          <a:lstStyle/>
          <a:p>
            <a:endParaRPr lang="en-US"/>
          </a:p>
        </p:txBody>
      </p:sp>
      <p:sp>
        <p:nvSpPr>
          <p:cNvPr id="15" name="Text 13"/>
          <p:cNvSpPr/>
          <p:nvPr/>
        </p:nvSpPr>
        <p:spPr>
          <a:xfrm>
            <a:off x="2139696" y="3291840"/>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52</a:t>
            </a:r>
            <a:endParaRPr lang="en-US" sz="1300"/>
          </a:p>
        </p:txBody>
      </p:sp>
      <p:sp>
        <p:nvSpPr>
          <p:cNvPr id="16" name="Shape 14"/>
          <p:cNvSpPr/>
          <p:nvPr/>
        </p:nvSpPr>
        <p:spPr>
          <a:xfrm>
            <a:off x="2706624" y="3291840"/>
            <a:ext cx="566928" cy="566928"/>
          </a:xfrm>
          <a:prstGeom prst="rect">
            <a:avLst/>
          </a:prstGeom>
          <a:solidFill>
            <a:srgbClr val="FFFFFF"/>
          </a:solidFill>
          <a:ln w="15240">
            <a:solidFill>
              <a:srgbClr val="0F172A"/>
            </a:solidFill>
            <a:prstDash val="solid"/>
          </a:ln>
        </p:spPr>
        <p:txBody>
          <a:bodyPr/>
          <a:lstStyle/>
          <a:p>
            <a:endParaRPr lang="en-US"/>
          </a:p>
        </p:txBody>
      </p:sp>
      <p:sp>
        <p:nvSpPr>
          <p:cNvPr id="17" name="Text 15"/>
          <p:cNvSpPr/>
          <p:nvPr/>
        </p:nvSpPr>
        <p:spPr>
          <a:xfrm>
            <a:off x="2706624" y="3291840"/>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20</a:t>
            </a:r>
            <a:endParaRPr lang="en-US" sz="1300"/>
          </a:p>
        </p:txBody>
      </p:sp>
      <p:sp>
        <p:nvSpPr>
          <p:cNvPr id="18" name="Shape 16"/>
          <p:cNvSpPr/>
          <p:nvPr/>
        </p:nvSpPr>
        <p:spPr>
          <a:xfrm>
            <a:off x="1005840" y="3858768"/>
            <a:ext cx="566928" cy="566928"/>
          </a:xfrm>
          <a:prstGeom prst="rect">
            <a:avLst/>
          </a:prstGeom>
          <a:solidFill>
            <a:srgbClr val="FFFFFF"/>
          </a:solidFill>
          <a:ln w="15240">
            <a:solidFill>
              <a:srgbClr val="0F172A"/>
            </a:solidFill>
            <a:prstDash val="solid"/>
          </a:ln>
        </p:spPr>
        <p:txBody>
          <a:bodyPr/>
          <a:lstStyle/>
          <a:p>
            <a:endParaRPr lang="en-US"/>
          </a:p>
        </p:txBody>
      </p:sp>
      <p:sp>
        <p:nvSpPr>
          <p:cNvPr id="19" name="Text 17"/>
          <p:cNvSpPr/>
          <p:nvPr/>
        </p:nvSpPr>
        <p:spPr>
          <a:xfrm>
            <a:off x="1005840" y="3858768"/>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45</a:t>
            </a:r>
            <a:endParaRPr lang="en-US" sz="1300"/>
          </a:p>
        </p:txBody>
      </p:sp>
      <p:sp>
        <p:nvSpPr>
          <p:cNvPr id="20" name="Shape 18"/>
          <p:cNvSpPr/>
          <p:nvPr/>
        </p:nvSpPr>
        <p:spPr>
          <a:xfrm>
            <a:off x="1572768" y="3858768"/>
            <a:ext cx="566928" cy="566928"/>
          </a:xfrm>
          <a:prstGeom prst="rect">
            <a:avLst/>
          </a:prstGeom>
          <a:solidFill>
            <a:srgbClr val="FFFFFF"/>
          </a:solidFill>
          <a:ln w="15240">
            <a:solidFill>
              <a:srgbClr val="0F172A"/>
            </a:solidFill>
            <a:prstDash val="solid"/>
          </a:ln>
        </p:spPr>
        <p:txBody>
          <a:bodyPr/>
          <a:lstStyle/>
          <a:p>
            <a:endParaRPr lang="en-US"/>
          </a:p>
        </p:txBody>
      </p:sp>
      <p:sp>
        <p:nvSpPr>
          <p:cNvPr id="21" name="Text 19"/>
          <p:cNvSpPr/>
          <p:nvPr/>
        </p:nvSpPr>
        <p:spPr>
          <a:xfrm>
            <a:off x="1572768" y="3858768"/>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20</a:t>
            </a:r>
            <a:endParaRPr lang="en-US" sz="1300"/>
          </a:p>
        </p:txBody>
      </p:sp>
      <p:sp>
        <p:nvSpPr>
          <p:cNvPr id="22" name="Shape 20"/>
          <p:cNvSpPr/>
          <p:nvPr/>
        </p:nvSpPr>
        <p:spPr>
          <a:xfrm>
            <a:off x="2139696" y="3858768"/>
            <a:ext cx="566928" cy="566928"/>
          </a:xfrm>
          <a:prstGeom prst="rect">
            <a:avLst/>
          </a:prstGeom>
          <a:solidFill>
            <a:srgbClr val="FFFFFF"/>
          </a:solidFill>
          <a:ln w="15240">
            <a:solidFill>
              <a:srgbClr val="0F172A"/>
            </a:solidFill>
            <a:prstDash val="solid"/>
          </a:ln>
        </p:spPr>
        <p:txBody>
          <a:bodyPr/>
          <a:lstStyle/>
          <a:p>
            <a:endParaRPr lang="en-US"/>
          </a:p>
        </p:txBody>
      </p:sp>
      <p:sp>
        <p:nvSpPr>
          <p:cNvPr id="23" name="Text 21"/>
          <p:cNvSpPr/>
          <p:nvPr/>
        </p:nvSpPr>
        <p:spPr>
          <a:xfrm>
            <a:off x="2139696" y="3858768"/>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4C</a:t>
            </a:r>
            <a:endParaRPr lang="en-US" sz="1300"/>
          </a:p>
        </p:txBody>
      </p:sp>
      <p:sp>
        <p:nvSpPr>
          <p:cNvPr id="24" name="Shape 22"/>
          <p:cNvSpPr/>
          <p:nvPr/>
        </p:nvSpPr>
        <p:spPr>
          <a:xfrm>
            <a:off x="2706624" y="3858768"/>
            <a:ext cx="566928" cy="566928"/>
          </a:xfrm>
          <a:prstGeom prst="rect">
            <a:avLst/>
          </a:prstGeom>
          <a:solidFill>
            <a:srgbClr val="FFFFFF"/>
          </a:solidFill>
          <a:ln w="15240">
            <a:solidFill>
              <a:srgbClr val="0F172A"/>
            </a:solidFill>
            <a:prstDash val="solid"/>
          </a:ln>
        </p:spPr>
        <p:txBody>
          <a:bodyPr/>
          <a:lstStyle/>
          <a:p>
            <a:endParaRPr lang="en-US"/>
          </a:p>
        </p:txBody>
      </p:sp>
      <p:sp>
        <p:nvSpPr>
          <p:cNvPr id="25" name="Text 23"/>
          <p:cNvSpPr/>
          <p:nvPr/>
        </p:nvSpPr>
        <p:spPr>
          <a:xfrm>
            <a:off x="2706624" y="3858768"/>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54</a:t>
            </a:r>
            <a:endParaRPr lang="en-US" sz="1300"/>
          </a:p>
        </p:txBody>
      </p:sp>
      <p:sp>
        <p:nvSpPr>
          <p:cNvPr id="26" name="Shape 24"/>
          <p:cNvSpPr/>
          <p:nvPr/>
        </p:nvSpPr>
        <p:spPr>
          <a:xfrm>
            <a:off x="1005840" y="4425696"/>
            <a:ext cx="566928" cy="566928"/>
          </a:xfrm>
          <a:prstGeom prst="rect">
            <a:avLst/>
          </a:prstGeom>
          <a:solidFill>
            <a:srgbClr val="FFFFFF"/>
          </a:solidFill>
          <a:ln w="15240">
            <a:solidFill>
              <a:srgbClr val="0F172A"/>
            </a:solidFill>
            <a:prstDash val="solid"/>
          </a:ln>
        </p:spPr>
        <p:txBody>
          <a:bodyPr/>
          <a:lstStyle/>
          <a:p>
            <a:endParaRPr lang="en-US"/>
          </a:p>
        </p:txBody>
      </p:sp>
      <p:sp>
        <p:nvSpPr>
          <p:cNvPr id="27" name="Text 25"/>
          <p:cNvSpPr/>
          <p:nvPr/>
        </p:nvSpPr>
        <p:spPr>
          <a:xfrm>
            <a:off x="1005840" y="4425696"/>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4C</a:t>
            </a:r>
            <a:endParaRPr lang="en-US" sz="1300"/>
          </a:p>
        </p:txBody>
      </p:sp>
      <p:sp>
        <p:nvSpPr>
          <p:cNvPr id="28" name="Shape 26"/>
          <p:cNvSpPr/>
          <p:nvPr/>
        </p:nvSpPr>
        <p:spPr>
          <a:xfrm>
            <a:off x="1572768" y="4425696"/>
            <a:ext cx="566928" cy="566928"/>
          </a:xfrm>
          <a:prstGeom prst="rect">
            <a:avLst/>
          </a:prstGeom>
          <a:solidFill>
            <a:srgbClr val="FFFFFF"/>
          </a:solidFill>
          <a:ln w="15240">
            <a:solidFill>
              <a:srgbClr val="0F172A"/>
            </a:solidFill>
            <a:prstDash val="solid"/>
          </a:ln>
        </p:spPr>
        <p:txBody>
          <a:bodyPr/>
          <a:lstStyle/>
          <a:p>
            <a:endParaRPr lang="en-US"/>
          </a:p>
        </p:txBody>
      </p:sp>
      <p:sp>
        <p:nvSpPr>
          <p:cNvPr id="29" name="Text 27"/>
          <p:cNvSpPr/>
          <p:nvPr/>
        </p:nvSpPr>
        <p:spPr>
          <a:xfrm>
            <a:off x="1572768" y="4425696"/>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57</a:t>
            </a:r>
            <a:endParaRPr lang="en-US" sz="1300"/>
          </a:p>
        </p:txBody>
      </p:sp>
      <p:sp>
        <p:nvSpPr>
          <p:cNvPr id="30" name="Shape 28"/>
          <p:cNvSpPr/>
          <p:nvPr/>
        </p:nvSpPr>
        <p:spPr>
          <a:xfrm>
            <a:off x="2139696" y="4425696"/>
            <a:ext cx="566928" cy="566928"/>
          </a:xfrm>
          <a:prstGeom prst="rect">
            <a:avLst/>
          </a:prstGeom>
          <a:solidFill>
            <a:srgbClr val="FFFFFF"/>
          </a:solidFill>
          <a:ln w="15240">
            <a:solidFill>
              <a:srgbClr val="0F172A"/>
            </a:solidFill>
            <a:prstDash val="solid"/>
          </a:ln>
        </p:spPr>
        <p:txBody>
          <a:bodyPr/>
          <a:lstStyle/>
          <a:p>
            <a:endParaRPr lang="en-US"/>
          </a:p>
        </p:txBody>
      </p:sp>
      <p:sp>
        <p:nvSpPr>
          <p:cNvPr id="31" name="Text 29"/>
          <p:cNvSpPr/>
          <p:nvPr/>
        </p:nvSpPr>
        <p:spPr>
          <a:xfrm>
            <a:off x="2139696" y="4425696"/>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44</a:t>
            </a:r>
            <a:endParaRPr lang="en-US" sz="1300"/>
          </a:p>
        </p:txBody>
      </p:sp>
      <p:sp>
        <p:nvSpPr>
          <p:cNvPr id="32" name="Shape 30"/>
          <p:cNvSpPr/>
          <p:nvPr/>
        </p:nvSpPr>
        <p:spPr>
          <a:xfrm>
            <a:off x="2706624" y="4425696"/>
            <a:ext cx="566928" cy="566928"/>
          </a:xfrm>
          <a:prstGeom prst="rect">
            <a:avLst/>
          </a:prstGeom>
          <a:solidFill>
            <a:srgbClr val="FFFFFF"/>
          </a:solidFill>
          <a:ln w="15240">
            <a:solidFill>
              <a:srgbClr val="0F172A"/>
            </a:solidFill>
            <a:prstDash val="solid"/>
          </a:ln>
        </p:spPr>
        <p:txBody>
          <a:bodyPr/>
          <a:lstStyle/>
          <a:p>
            <a:endParaRPr lang="en-US"/>
          </a:p>
        </p:txBody>
      </p:sp>
      <p:sp>
        <p:nvSpPr>
          <p:cNvPr id="33" name="Text 31"/>
          <p:cNvSpPr/>
          <p:nvPr/>
        </p:nvSpPr>
        <p:spPr>
          <a:xfrm>
            <a:off x="2706624" y="4425696"/>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48</a:t>
            </a:r>
            <a:endParaRPr lang="en-US" sz="1300"/>
          </a:p>
        </p:txBody>
      </p:sp>
      <p:sp>
        <p:nvSpPr>
          <p:cNvPr id="34" name="Shape 32"/>
          <p:cNvSpPr/>
          <p:nvPr/>
        </p:nvSpPr>
        <p:spPr>
          <a:xfrm>
            <a:off x="1005840" y="4992624"/>
            <a:ext cx="566928" cy="566928"/>
          </a:xfrm>
          <a:prstGeom prst="rect">
            <a:avLst/>
          </a:prstGeom>
          <a:solidFill>
            <a:srgbClr val="FFFFFF"/>
          </a:solidFill>
          <a:ln w="15240">
            <a:solidFill>
              <a:srgbClr val="0F172A"/>
            </a:solidFill>
            <a:prstDash val="solid"/>
          </a:ln>
        </p:spPr>
        <p:txBody>
          <a:bodyPr/>
          <a:lstStyle/>
          <a:p>
            <a:endParaRPr lang="en-US"/>
          </a:p>
        </p:txBody>
      </p:sp>
      <p:sp>
        <p:nvSpPr>
          <p:cNvPr id="35" name="Text 33"/>
          <p:cNvSpPr/>
          <p:nvPr/>
        </p:nvSpPr>
        <p:spPr>
          <a:xfrm>
            <a:off x="1005840" y="4992624"/>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4C</a:t>
            </a:r>
            <a:endParaRPr lang="en-US" sz="1300"/>
          </a:p>
        </p:txBody>
      </p:sp>
      <p:sp>
        <p:nvSpPr>
          <p:cNvPr id="36" name="Shape 34"/>
          <p:cNvSpPr/>
          <p:nvPr/>
        </p:nvSpPr>
        <p:spPr>
          <a:xfrm>
            <a:off x="1572768" y="4992624"/>
            <a:ext cx="566928" cy="566928"/>
          </a:xfrm>
          <a:prstGeom prst="rect">
            <a:avLst/>
          </a:prstGeom>
          <a:solidFill>
            <a:srgbClr val="FFFFFF"/>
          </a:solidFill>
          <a:ln w="15240">
            <a:solidFill>
              <a:srgbClr val="0F172A"/>
            </a:solidFill>
            <a:prstDash val="solid"/>
          </a:ln>
        </p:spPr>
        <p:txBody>
          <a:bodyPr/>
          <a:lstStyle/>
          <a:p>
            <a:endParaRPr lang="en-US"/>
          </a:p>
        </p:txBody>
      </p:sp>
      <p:sp>
        <p:nvSpPr>
          <p:cNvPr id="37" name="Text 35"/>
          <p:cNvSpPr/>
          <p:nvPr/>
        </p:nvSpPr>
        <p:spPr>
          <a:xfrm>
            <a:off x="1572768" y="4992624"/>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4F</a:t>
            </a:r>
            <a:endParaRPr lang="en-US" sz="1300"/>
          </a:p>
        </p:txBody>
      </p:sp>
      <p:sp>
        <p:nvSpPr>
          <p:cNvPr id="38" name="Shape 36"/>
          <p:cNvSpPr/>
          <p:nvPr/>
        </p:nvSpPr>
        <p:spPr>
          <a:xfrm>
            <a:off x="2139696" y="4992624"/>
            <a:ext cx="566928" cy="566928"/>
          </a:xfrm>
          <a:prstGeom prst="rect">
            <a:avLst/>
          </a:prstGeom>
          <a:solidFill>
            <a:srgbClr val="FFFFFF"/>
          </a:solidFill>
          <a:ln w="15240">
            <a:solidFill>
              <a:srgbClr val="0F172A"/>
            </a:solidFill>
            <a:prstDash val="solid"/>
          </a:ln>
        </p:spPr>
        <p:txBody>
          <a:bodyPr/>
          <a:lstStyle/>
          <a:p>
            <a:endParaRPr lang="en-US"/>
          </a:p>
        </p:txBody>
      </p:sp>
      <p:sp>
        <p:nvSpPr>
          <p:cNvPr id="39" name="Text 37"/>
          <p:cNvSpPr/>
          <p:nvPr/>
        </p:nvSpPr>
        <p:spPr>
          <a:xfrm>
            <a:off x="2139696" y="4992624"/>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2C</a:t>
            </a:r>
            <a:endParaRPr lang="en-US" sz="1300"/>
          </a:p>
        </p:txBody>
      </p:sp>
      <p:sp>
        <p:nvSpPr>
          <p:cNvPr id="40" name="Shape 38"/>
          <p:cNvSpPr/>
          <p:nvPr/>
        </p:nvSpPr>
        <p:spPr>
          <a:xfrm>
            <a:off x="2706624" y="4992624"/>
            <a:ext cx="566928" cy="566928"/>
          </a:xfrm>
          <a:prstGeom prst="rect">
            <a:avLst/>
          </a:prstGeom>
          <a:solidFill>
            <a:srgbClr val="FFFFFF"/>
          </a:solidFill>
          <a:ln w="15240">
            <a:solidFill>
              <a:srgbClr val="0F172A"/>
            </a:solidFill>
            <a:prstDash val="solid"/>
          </a:ln>
        </p:spPr>
        <p:txBody>
          <a:bodyPr/>
          <a:lstStyle/>
          <a:p>
            <a:endParaRPr lang="en-US"/>
          </a:p>
        </p:txBody>
      </p:sp>
      <p:sp>
        <p:nvSpPr>
          <p:cNvPr id="41" name="Text 39"/>
          <p:cNvSpPr/>
          <p:nvPr/>
        </p:nvSpPr>
        <p:spPr>
          <a:xfrm>
            <a:off x="2706624" y="4992624"/>
            <a:ext cx="566928" cy="566928"/>
          </a:xfrm>
          <a:prstGeom prst="rect">
            <a:avLst/>
          </a:prstGeom>
          <a:noFill/>
          <a:ln/>
        </p:spPr>
        <p:txBody>
          <a:bodyPr wrap="square" lIns="0" tIns="0" rIns="0" bIns="0" rtlCol="0" anchor="ctr"/>
          <a:lstStyle/>
          <a:p>
            <a:pPr marL="0" indent="0" algn="ctr">
              <a:buNone/>
            </a:pPr>
            <a:r>
              <a:rPr lang="en-US" sz="1300" b="1">
                <a:solidFill>
                  <a:srgbClr val="0F172A"/>
                </a:solidFill>
                <a:latin typeface="Consolas" pitchFamily="34" charset="0"/>
                <a:ea typeface="Consolas" pitchFamily="34" charset="-122"/>
                <a:cs typeface="Consolas" pitchFamily="34" charset="-120"/>
              </a:rPr>
              <a:t>49</a:t>
            </a:r>
            <a:endParaRPr lang="en-US" sz="1300"/>
          </a:p>
        </p:txBody>
      </p:sp>
      <p:sp>
        <p:nvSpPr>
          <p:cNvPr id="44" name="Shape 42"/>
          <p:cNvSpPr/>
          <p:nvPr/>
        </p:nvSpPr>
        <p:spPr>
          <a:xfrm>
            <a:off x="4937760" y="2651760"/>
            <a:ext cx="365760" cy="365760"/>
          </a:xfrm>
          <a:prstGeom prst="ellipse">
            <a:avLst/>
          </a:prstGeom>
          <a:solidFill>
            <a:srgbClr val="14B8A6"/>
          </a:solidFill>
          <a:ln w="12700">
            <a:solidFill>
              <a:srgbClr val="14B8A6"/>
            </a:solidFill>
            <a:prstDash val="solid"/>
          </a:ln>
        </p:spPr>
        <p:txBody>
          <a:bodyPr/>
          <a:lstStyle/>
          <a:p>
            <a:endParaRPr lang="en-US"/>
          </a:p>
        </p:txBody>
      </p:sp>
      <p:sp>
        <p:nvSpPr>
          <p:cNvPr id="45" name="Text 43"/>
          <p:cNvSpPr/>
          <p:nvPr/>
        </p:nvSpPr>
        <p:spPr>
          <a:xfrm>
            <a:off x="4937760" y="2651760"/>
            <a:ext cx="365760" cy="3657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1</a:t>
            </a:r>
            <a:endParaRPr lang="en-US" sz="1400"/>
          </a:p>
        </p:txBody>
      </p:sp>
      <p:sp>
        <p:nvSpPr>
          <p:cNvPr id="46" name="Text 44"/>
          <p:cNvSpPr/>
          <p:nvPr/>
        </p:nvSpPr>
        <p:spPr>
          <a:xfrm>
            <a:off x="5440680" y="2633472"/>
            <a:ext cx="4846320" cy="292608"/>
          </a:xfrm>
          <a:prstGeom prst="rect">
            <a:avLst/>
          </a:prstGeom>
          <a:noFill/>
          <a:ln/>
        </p:spPr>
        <p:txBody>
          <a:bodyPr wrap="square" lIns="0" tIns="0" rIns="0" bIns="0" rtlCol="0" anchor="ctr"/>
          <a:lstStyle/>
          <a:p>
            <a:pPr marL="0" indent="0">
              <a:buNone/>
            </a:pPr>
            <a:r>
              <a:rPr lang="en-US" sz="1500" b="1">
                <a:solidFill>
                  <a:srgbClr val="0F172A"/>
                </a:solidFill>
                <a:latin typeface="Calibri" pitchFamily="34" charset="0"/>
                <a:ea typeface="Calibri" pitchFamily="34" charset="-122"/>
                <a:cs typeface="Calibri" pitchFamily="34" charset="-120"/>
              </a:rPr>
              <a:t>SubBytes</a:t>
            </a:r>
            <a:endParaRPr lang="en-US" sz="1500"/>
          </a:p>
        </p:txBody>
      </p:sp>
      <p:sp>
        <p:nvSpPr>
          <p:cNvPr id="47" name="Text 45"/>
          <p:cNvSpPr/>
          <p:nvPr/>
        </p:nvSpPr>
        <p:spPr>
          <a:xfrm>
            <a:off x="5440680" y="2926080"/>
            <a:ext cx="4846320" cy="475488"/>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Each byte is replaced via a 256-entry lookup table (the S-box). The only nonlinear step — makes algebra attacks fail.</a:t>
            </a:r>
            <a:endParaRPr lang="en-US" sz="1000"/>
          </a:p>
        </p:txBody>
      </p:sp>
      <p:sp>
        <p:nvSpPr>
          <p:cNvPr id="48" name="Shape 46"/>
          <p:cNvSpPr/>
          <p:nvPr/>
        </p:nvSpPr>
        <p:spPr>
          <a:xfrm>
            <a:off x="4937760" y="3447288"/>
            <a:ext cx="365760" cy="365760"/>
          </a:xfrm>
          <a:prstGeom prst="ellipse">
            <a:avLst/>
          </a:prstGeom>
          <a:solidFill>
            <a:srgbClr val="14B8A6"/>
          </a:solidFill>
          <a:ln w="12700">
            <a:solidFill>
              <a:srgbClr val="14B8A6"/>
            </a:solidFill>
            <a:prstDash val="solid"/>
          </a:ln>
        </p:spPr>
        <p:txBody>
          <a:bodyPr/>
          <a:lstStyle/>
          <a:p>
            <a:endParaRPr lang="en-US"/>
          </a:p>
        </p:txBody>
      </p:sp>
      <p:sp>
        <p:nvSpPr>
          <p:cNvPr id="49" name="Text 47"/>
          <p:cNvSpPr/>
          <p:nvPr/>
        </p:nvSpPr>
        <p:spPr>
          <a:xfrm>
            <a:off x="4937760" y="3447288"/>
            <a:ext cx="365760" cy="3657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2</a:t>
            </a:r>
            <a:endParaRPr lang="en-US" sz="1400"/>
          </a:p>
        </p:txBody>
      </p:sp>
      <p:sp>
        <p:nvSpPr>
          <p:cNvPr id="50" name="Text 48"/>
          <p:cNvSpPr/>
          <p:nvPr/>
        </p:nvSpPr>
        <p:spPr>
          <a:xfrm>
            <a:off x="5440680" y="3429000"/>
            <a:ext cx="4846320" cy="292608"/>
          </a:xfrm>
          <a:prstGeom prst="rect">
            <a:avLst/>
          </a:prstGeom>
          <a:noFill/>
          <a:ln/>
        </p:spPr>
        <p:txBody>
          <a:bodyPr wrap="square" lIns="0" tIns="0" rIns="0" bIns="0" rtlCol="0" anchor="ctr"/>
          <a:lstStyle/>
          <a:p>
            <a:pPr marL="0" indent="0">
              <a:buNone/>
            </a:pPr>
            <a:r>
              <a:rPr lang="en-US" sz="1500" b="1">
                <a:solidFill>
                  <a:srgbClr val="0F172A"/>
                </a:solidFill>
                <a:latin typeface="Calibri" pitchFamily="34" charset="0"/>
                <a:ea typeface="Calibri" pitchFamily="34" charset="-122"/>
                <a:cs typeface="Calibri" pitchFamily="34" charset="-120"/>
              </a:rPr>
              <a:t>ShiftRows</a:t>
            </a:r>
            <a:endParaRPr lang="en-US" sz="1500"/>
          </a:p>
        </p:txBody>
      </p:sp>
      <p:sp>
        <p:nvSpPr>
          <p:cNvPr id="51" name="Text 49"/>
          <p:cNvSpPr/>
          <p:nvPr/>
        </p:nvSpPr>
        <p:spPr>
          <a:xfrm>
            <a:off x="5440680" y="3721608"/>
            <a:ext cx="4846320" cy="475488"/>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Rows of the grid slide sideways by 0/1/2/3. Spreads bytes across columns.</a:t>
            </a:r>
            <a:endParaRPr lang="en-US" sz="1000"/>
          </a:p>
        </p:txBody>
      </p:sp>
      <p:sp>
        <p:nvSpPr>
          <p:cNvPr id="52" name="Shape 50"/>
          <p:cNvSpPr/>
          <p:nvPr/>
        </p:nvSpPr>
        <p:spPr>
          <a:xfrm>
            <a:off x="4937760" y="4242816"/>
            <a:ext cx="365760" cy="365760"/>
          </a:xfrm>
          <a:prstGeom prst="ellipse">
            <a:avLst/>
          </a:prstGeom>
          <a:solidFill>
            <a:srgbClr val="14B8A6"/>
          </a:solidFill>
          <a:ln w="12700">
            <a:solidFill>
              <a:srgbClr val="14B8A6"/>
            </a:solidFill>
            <a:prstDash val="solid"/>
          </a:ln>
        </p:spPr>
        <p:txBody>
          <a:bodyPr/>
          <a:lstStyle/>
          <a:p>
            <a:endParaRPr lang="en-US"/>
          </a:p>
        </p:txBody>
      </p:sp>
      <p:sp>
        <p:nvSpPr>
          <p:cNvPr id="53" name="Text 51"/>
          <p:cNvSpPr/>
          <p:nvPr/>
        </p:nvSpPr>
        <p:spPr>
          <a:xfrm>
            <a:off x="4937760" y="4242816"/>
            <a:ext cx="365760" cy="3657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3</a:t>
            </a:r>
            <a:endParaRPr lang="en-US" sz="1400"/>
          </a:p>
        </p:txBody>
      </p:sp>
      <p:sp>
        <p:nvSpPr>
          <p:cNvPr id="54" name="Text 52"/>
          <p:cNvSpPr/>
          <p:nvPr/>
        </p:nvSpPr>
        <p:spPr>
          <a:xfrm>
            <a:off x="5440680" y="4224528"/>
            <a:ext cx="4846320" cy="292608"/>
          </a:xfrm>
          <a:prstGeom prst="rect">
            <a:avLst/>
          </a:prstGeom>
          <a:noFill/>
          <a:ln/>
        </p:spPr>
        <p:txBody>
          <a:bodyPr wrap="square" lIns="0" tIns="0" rIns="0" bIns="0" rtlCol="0" anchor="ctr"/>
          <a:lstStyle/>
          <a:p>
            <a:pPr marL="0" indent="0">
              <a:buNone/>
            </a:pPr>
            <a:r>
              <a:rPr lang="en-US" sz="1500" b="1">
                <a:solidFill>
                  <a:srgbClr val="0F172A"/>
                </a:solidFill>
                <a:latin typeface="Calibri" pitchFamily="34" charset="0"/>
                <a:ea typeface="Calibri" pitchFamily="34" charset="-122"/>
                <a:cs typeface="Calibri" pitchFamily="34" charset="-120"/>
              </a:rPr>
              <a:t>MixColumns</a:t>
            </a:r>
            <a:endParaRPr lang="en-US" sz="1500"/>
          </a:p>
        </p:txBody>
      </p:sp>
      <p:sp>
        <p:nvSpPr>
          <p:cNvPr id="55" name="Text 53"/>
          <p:cNvSpPr/>
          <p:nvPr/>
        </p:nvSpPr>
        <p:spPr>
          <a:xfrm>
            <a:off x="5440680" y="4517136"/>
            <a:ext cx="4846320" cy="475488"/>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Each column is multiplied by a fixed matrix in GF(2⁸). Spreads influence within columns.</a:t>
            </a:r>
            <a:endParaRPr lang="en-US" sz="1000"/>
          </a:p>
        </p:txBody>
      </p:sp>
      <p:sp>
        <p:nvSpPr>
          <p:cNvPr id="57" name="Text 55"/>
          <p:cNvSpPr/>
          <p:nvPr/>
        </p:nvSpPr>
        <p:spPr>
          <a:xfrm>
            <a:off x="5209903" y="4698165"/>
            <a:ext cx="365760" cy="365760"/>
          </a:xfrm>
          <a:prstGeom prst="rect">
            <a:avLst/>
          </a:prstGeom>
          <a:noFill/>
          <a:ln/>
        </p:spPr>
        <p:txBody>
          <a:bodyPr wrap="square" lIns="0" tIns="0" rIns="0" bIns="0" rtlCol="0" anchor="ctr"/>
          <a:lstStyle/>
          <a:p>
            <a:pPr marL="0" indent="0" algn="ctr">
              <a:buNone/>
            </a:pPr>
            <a:endParaRPr lang="en-US" sz="1400" b="1">
              <a:solidFill>
                <a:srgbClr val="FFFFFF"/>
              </a:solidFill>
              <a:ea typeface="Calibri"/>
              <a:cs typeface="Calibri"/>
            </a:endParaRPr>
          </a:p>
        </p:txBody>
      </p:sp>
      <p:sp>
        <p:nvSpPr>
          <p:cNvPr id="58" name="Text 56"/>
          <p:cNvSpPr/>
          <p:nvPr/>
        </p:nvSpPr>
        <p:spPr>
          <a:xfrm>
            <a:off x="5440680" y="5020056"/>
            <a:ext cx="4846320" cy="292608"/>
          </a:xfrm>
          <a:prstGeom prst="rect">
            <a:avLst/>
          </a:prstGeom>
          <a:noFill/>
          <a:ln/>
        </p:spPr>
        <p:txBody>
          <a:bodyPr wrap="square" lIns="0" tIns="0" rIns="0" bIns="0" rtlCol="0" anchor="ctr"/>
          <a:lstStyle/>
          <a:p>
            <a:pPr marL="0" indent="0">
              <a:buNone/>
            </a:pPr>
            <a:r>
              <a:rPr lang="en-US" sz="1500" b="1" err="1">
                <a:latin typeface="Calibri"/>
                <a:ea typeface="Calibri"/>
                <a:cs typeface="Calibri"/>
              </a:rPr>
              <a:t>AddRoundKey</a:t>
            </a:r>
            <a:endParaRPr lang="en-US" sz="1500" err="1">
              <a:latin typeface="Calibri"/>
              <a:ea typeface="Calibri"/>
              <a:cs typeface="Calibri"/>
            </a:endParaRPr>
          </a:p>
        </p:txBody>
      </p:sp>
      <p:sp>
        <p:nvSpPr>
          <p:cNvPr id="59" name="Text 57"/>
          <p:cNvSpPr/>
          <p:nvPr/>
        </p:nvSpPr>
        <p:spPr>
          <a:xfrm>
            <a:off x="5440680" y="5312664"/>
            <a:ext cx="4846320" cy="475488"/>
          </a:xfrm>
          <a:prstGeom prst="rect">
            <a:avLst/>
          </a:prstGeom>
          <a:noFill/>
          <a:ln/>
        </p:spPr>
        <p:txBody>
          <a:bodyPr wrap="square" lIns="0" tIns="0" rIns="0" bIns="0" rtlCol="0" anchor="ctr"/>
          <a:lstStyle/>
          <a:p>
            <a:r>
              <a:rPr lang="en-US" sz="1000">
                <a:solidFill>
                  <a:srgbClr val="64748B"/>
                </a:solidFill>
                <a:latin typeface="Calibri"/>
                <a:ea typeface="Calibri"/>
                <a:cs typeface="Calibri"/>
              </a:rPr>
              <a:t>A 16-byte round key is XOR-ed into the state. The only step that touches the key.</a:t>
            </a:r>
            <a:endParaRPr lang="en-US" sz="1000">
              <a:latin typeface="Calibri"/>
              <a:ea typeface="Calibri"/>
              <a:cs typeface="Calibri"/>
            </a:endParaRPr>
          </a:p>
        </p:txBody>
      </p:sp>
      <p:sp>
        <p:nvSpPr>
          <p:cNvPr id="60" name="Shape 58"/>
          <p:cNvSpPr/>
          <p:nvPr/>
        </p:nvSpPr>
        <p:spPr>
          <a:xfrm>
            <a:off x="10332720" y="2331720"/>
            <a:ext cx="1280160" cy="3657600"/>
          </a:xfrm>
          <a:prstGeom prst="rect">
            <a:avLst/>
          </a:prstGeom>
          <a:solidFill>
            <a:srgbClr val="0F172A"/>
          </a:solidFill>
          <a:ln w="12700">
            <a:solidFill>
              <a:srgbClr val="0F172A"/>
            </a:solidFill>
            <a:prstDash val="solid"/>
          </a:ln>
        </p:spPr>
        <p:txBody>
          <a:bodyPr/>
          <a:lstStyle/>
          <a:p>
            <a:endParaRPr lang="en-US"/>
          </a:p>
        </p:txBody>
      </p:sp>
      <p:sp>
        <p:nvSpPr>
          <p:cNvPr id="61" name="Text 59"/>
          <p:cNvSpPr/>
          <p:nvPr/>
        </p:nvSpPr>
        <p:spPr>
          <a:xfrm>
            <a:off x="10332720" y="2468880"/>
            <a:ext cx="1280160" cy="274320"/>
          </a:xfrm>
          <a:prstGeom prst="rect">
            <a:avLst/>
          </a:prstGeom>
          <a:noFill/>
          <a:ln/>
        </p:spPr>
        <p:txBody>
          <a:bodyPr wrap="square" lIns="0" tIns="0" rIns="0" bIns="0" rtlCol="0" anchor="ctr"/>
          <a:lstStyle/>
          <a:p>
            <a:pPr marL="0" indent="0" algn="ctr">
              <a:buNone/>
            </a:pPr>
            <a:r>
              <a:rPr lang="en-US" sz="900" b="1" kern="0" spc="200">
                <a:solidFill>
                  <a:srgbClr val="14B8A6"/>
                </a:solidFill>
                <a:latin typeface="Consolas" pitchFamily="34" charset="0"/>
                <a:ea typeface="Consolas" pitchFamily="34" charset="-122"/>
                <a:cs typeface="Consolas" pitchFamily="34" charset="-120"/>
              </a:rPr>
              <a:t>ROUNDS</a:t>
            </a:r>
            <a:endParaRPr lang="en-US" sz="900"/>
          </a:p>
        </p:txBody>
      </p:sp>
      <p:sp>
        <p:nvSpPr>
          <p:cNvPr id="62" name="Text 60"/>
          <p:cNvSpPr/>
          <p:nvPr/>
        </p:nvSpPr>
        <p:spPr>
          <a:xfrm>
            <a:off x="10332720" y="2834640"/>
            <a:ext cx="1280160" cy="548640"/>
          </a:xfrm>
          <a:prstGeom prst="rect">
            <a:avLst/>
          </a:prstGeom>
          <a:noFill/>
          <a:ln/>
        </p:spPr>
        <p:txBody>
          <a:bodyPr wrap="square" lIns="0" tIns="0" rIns="0" bIns="0" rtlCol="0" anchor="ctr"/>
          <a:lstStyle/>
          <a:p>
            <a:pPr marL="0" indent="0" algn="ctr">
              <a:buNone/>
            </a:pPr>
            <a:r>
              <a:rPr lang="en-US" sz="3600" b="1">
                <a:solidFill>
                  <a:srgbClr val="FFFFFF"/>
                </a:solidFill>
                <a:latin typeface="Calibri" pitchFamily="34" charset="0"/>
                <a:ea typeface="Calibri" pitchFamily="34" charset="-122"/>
                <a:cs typeface="Calibri" pitchFamily="34" charset="-120"/>
              </a:rPr>
              <a:t>10</a:t>
            </a:r>
            <a:endParaRPr lang="en-US" sz="3600"/>
          </a:p>
        </p:txBody>
      </p:sp>
      <p:sp>
        <p:nvSpPr>
          <p:cNvPr id="63" name="Text 61"/>
          <p:cNvSpPr/>
          <p:nvPr/>
        </p:nvSpPr>
        <p:spPr>
          <a:xfrm>
            <a:off x="10332720" y="3429000"/>
            <a:ext cx="1280160" cy="274320"/>
          </a:xfrm>
          <a:prstGeom prst="rect">
            <a:avLst/>
          </a:prstGeom>
          <a:noFill/>
          <a:ln/>
        </p:spPr>
        <p:txBody>
          <a:bodyPr wrap="square" lIns="0" tIns="0" rIns="0" bIns="0" rtlCol="0" anchor="ctr"/>
          <a:lstStyle/>
          <a:p>
            <a:pPr marL="0" indent="0" algn="ctr">
              <a:buNone/>
            </a:pPr>
            <a:r>
              <a:rPr lang="en-US" sz="1000">
                <a:solidFill>
                  <a:srgbClr val="14B8A6"/>
                </a:solidFill>
                <a:latin typeface="Consolas" pitchFamily="34" charset="0"/>
                <a:ea typeface="Consolas" pitchFamily="34" charset="-122"/>
                <a:cs typeface="Consolas" pitchFamily="34" charset="-120"/>
              </a:rPr>
              <a:t>AES-128</a:t>
            </a:r>
            <a:endParaRPr lang="en-US" sz="1000"/>
          </a:p>
        </p:txBody>
      </p:sp>
      <p:sp>
        <p:nvSpPr>
          <p:cNvPr id="64" name="Text 62"/>
          <p:cNvSpPr/>
          <p:nvPr/>
        </p:nvSpPr>
        <p:spPr>
          <a:xfrm>
            <a:off x="10332720" y="3886200"/>
            <a:ext cx="1280160" cy="548640"/>
          </a:xfrm>
          <a:prstGeom prst="rect">
            <a:avLst/>
          </a:prstGeom>
          <a:noFill/>
          <a:ln/>
        </p:spPr>
        <p:txBody>
          <a:bodyPr wrap="square" lIns="0" tIns="0" rIns="0" bIns="0" rtlCol="0" anchor="ctr"/>
          <a:lstStyle/>
          <a:p>
            <a:pPr marL="0" indent="0" algn="ctr">
              <a:buNone/>
            </a:pPr>
            <a:r>
              <a:rPr lang="en-US" sz="3600" b="1">
                <a:solidFill>
                  <a:srgbClr val="FFFFFF"/>
                </a:solidFill>
                <a:latin typeface="Calibri" pitchFamily="34" charset="0"/>
                <a:ea typeface="Calibri" pitchFamily="34" charset="-122"/>
                <a:cs typeface="Calibri" pitchFamily="34" charset="-120"/>
              </a:rPr>
              <a:t>12</a:t>
            </a:r>
            <a:endParaRPr lang="en-US" sz="3600"/>
          </a:p>
        </p:txBody>
      </p:sp>
      <p:sp>
        <p:nvSpPr>
          <p:cNvPr id="65" name="Text 63"/>
          <p:cNvSpPr/>
          <p:nvPr/>
        </p:nvSpPr>
        <p:spPr>
          <a:xfrm>
            <a:off x="10332720" y="4480560"/>
            <a:ext cx="1280160" cy="274320"/>
          </a:xfrm>
          <a:prstGeom prst="rect">
            <a:avLst/>
          </a:prstGeom>
          <a:noFill/>
          <a:ln/>
        </p:spPr>
        <p:txBody>
          <a:bodyPr wrap="square" lIns="0" tIns="0" rIns="0" bIns="0" rtlCol="0" anchor="ctr"/>
          <a:lstStyle/>
          <a:p>
            <a:pPr marL="0" indent="0" algn="ctr">
              <a:buNone/>
            </a:pPr>
            <a:r>
              <a:rPr lang="en-US" sz="1000">
                <a:solidFill>
                  <a:srgbClr val="14B8A6"/>
                </a:solidFill>
                <a:latin typeface="Consolas" pitchFamily="34" charset="0"/>
                <a:ea typeface="Consolas" pitchFamily="34" charset="-122"/>
                <a:cs typeface="Consolas" pitchFamily="34" charset="-120"/>
              </a:rPr>
              <a:t>AES-192</a:t>
            </a:r>
            <a:endParaRPr lang="en-US" sz="1000"/>
          </a:p>
        </p:txBody>
      </p:sp>
      <p:sp>
        <p:nvSpPr>
          <p:cNvPr id="66" name="Text 64"/>
          <p:cNvSpPr/>
          <p:nvPr/>
        </p:nvSpPr>
        <p:spPr>
          <a:xfrm>
            <a:off x="10332720" y="4937760"/>
            <a:ext cx="1280160" cy="548640"/>
          </a:xfrm>
          <a:prstGeom prst="rect">
            <a:avLst/>
          </a:prstGeom>
          <a:noFill/>
          <a:ln/>
        </p:spPr>
        <p:txBody>
          <a:bodyPr wrap="square" lIns="0" tIns="0" rIns="0" bIns="0" rtlCol="0" anchor="ctr"/>
          <a:lstStyle/>
          <a:p>
            <a:pPr marL="0" indent="0" algn="ctr">
              <a:buNone/>
            </a:pPr>
            <a:r>
              <a:rPr lang="en-US" sz="3600" b="1">
                <a:solidFill>
                  <a:srgbClr val="FFFFFF"/>
                </a:solidFill>
                <a:latin typeface="Calibri" pitchFamily="34" charset="0"/>
                <a:ea typeface="Calibri" pitchFamily="34" charset="-122"/>
                <a:cs typeface="Calibri" pitchFamily="34" charset="-120"/>
              </a:rPr>
              <a:t>14</a:t>
            </a:r>
            <a:endParaRPr lang="en-US" sz="3600"/>
          </a:p>
        </p:txBody>
      </p:sp>
      <p:sp>
        <p:nvSpPr>
          <p:cNvPr id="67" name="Text 65"/>
          <p:cNvSpPr/>
          <p:nvPr/>
        </p:nvSpPr>
        <p:spPr>
          <a:xfrm>
            <a:off x="10332720" y="5532120"/>
            <a:ext cx="1280160" cy="274320"/>
          </a:xfrm>
          <a:prstGeom prst="rect">
            <a:avLst/>
          </a:prstGeom>
          <a:noFill/>
          <a:ln/>
        </p:spPr>
        <p:txBody>
          <a:bodyPr wrap="square" lIns="0" tIns="0" rIns="0" bIns="0" rtlCol="0" anchor="ctr"/>
          <a:lstStyle/>
          <a:p>
            <a:pPr marL="0" indent="0" algn="ctr">
              <a:buNone/>
            </a:pPr>
            <a:r>
              <a:rPr lang="en-US" sz="1000">
                <a:solidFill>
                  <a:srgbClr val="14B8A6"/>
                </a:solidFill>
                <a:latin typeface="Consolas" pitchFamily="34" charset="0"/>
                <a:ea typeface="Consolas" pitchFamily="34" charset="-122"/>
                <a:cs typeface="Consolas" pitchFamily="34" charset="-120"/>
              </a:rPr>
              <a:t>AES-256</a:t>
            </a:r>
            <a:endParaRPr lang="en-US" sz="1000"/>
          </a:p>
        </p:txBody>
      </p:sp>
      <p:sp>
        <p:nvSpPr>
          <p:cNvPr id="73" name="Shape 50">
            <a:extLst>
              <a:ext uri="{FF2B5EF4-FFF2-40B4-BE49-F238E27FC236}">
                <a16:creationId xmlns:a16="http://schemas.microsoft.com/office/drawing/2014/main" id="{EDBE8813-D572-CB61-06FD-C1BB5575EB34}"/>
              </a:ext>
            </a:extLst>
          </p:cNvPr>
          <p:cNvSpPr/>
          <p:nvPr/>
        </p:nvSpPr>
        <p:spPr>
          <a:xfrm>
            <a:off x="4951367" y="4998012"/>
            <a:ext cx="365760" cy="365760"/>
          </a:xfrm>
          <a:prstGeom prst="ellipse">
            <a:avLst/>
          </a:prstGeom>
          <a:solidFill>
            <a:srgbClr val="14B8A6"/>
          </a:solidFill>
          <a:ln w="12700">
            <a:solidFill>
              <a:srgbClr val="14B8A6"/>
            </a:solidFill>
            <a:prstDash val="solid"/>
          </a:ln>
        </p:spPr>
        <p:txBody>
          <a:bodyPr/>
          <a:lstStyle/>
          <a:p>
            <a:endParaRPr lang="en-US"/>
          </a:p>
        </p:txBody>
      </p:sp>
      <p:sp>
        <p:nvSpPr>
          <p:cNvPr id="74" name="Text 51">
            <a:extLst>
              <a:ext uri="{FF2B5EF4-FFF2-40B4-BE49-F238E27FC236}">
                <a16:creationId xmlns:a16="http://schemas.microsoft.com/office/drawing/2014/main" id="{9A259BE1-1394-701F-E06D-EE982662DD40}"/>
              </a:ext>
            </a:extLst>
          </p:cNvPr>
          <p:cNvSpPr/>
          <p:nvPr/>
        </p:nvSpPr>
        <p:spPr>
          <a:xfrm>
            <a:off x="4951367" y="4998012"/>
            <a:ext cx="365760" cy="365760"/>
          </a:xfrm>
          <a:prstGeom prst="rect">
            <a:avLst/>
          </a:prstGeom>
          <a:noFill/>
          <a:ln/>
        </p:spPr>
        <p:txBody>
          <a:bodyPr wrap="square" lIns="0" tIns="0" rIns="0" bIns="0" rtlCol="0" anchor="ctr"/>
          <a:lstStyle/>
          <a:p>
            <a:pPr marL="0" indent="0" algn="ctr">
              <a:buNone/>
            </a:pPr>
            <a:r>
              <a:rPr lang="en-US" sz="1400" b="1">
                <a:solidFill>
                  <a:srgbClr val="FFFFFF"/>
                </a:solidFill>
                <a:ea typeface="Calibri"/>
                <a:cs typeface="Calibri"/>
              </a:rPr>
              <a:t>4</a:t>
            </a:r>
          </a:p>
        </p:txBody>
      </p:sp>
    </p:spTree>
    <p:extLst>
      <p:ext uri="{BB962C8B-B14F-4D97-AF65-F5344CB8AC3E}">
        <p14:creationId xmlns:p14="http://schemas.microsoft.com/office/powerpoint/2010/main" val="3727647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txBody>
          <a:bodyPr/>
          <a:lstStyle/>
          <a:p>
            <a:endParaRPr lang="en-US"/>
          </a:p>
        </p:txBody>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Modes of Operation</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txBody>
          <a:bodyPr/>
          <a:lstStyle/>
          <a:p>
            <a:endParaRPr lang="en-US"/>
          </a:p>
        </p:txBody>
      </p:sp>
      <p:sp>
        <p:nvSpPr>
          <p:cNvPr id="6" name="Text 4"/>
          <p:cNvSpPr/>
          <p:nvPr/>
        </p:nvSpPr>
        <p:spPr>
          <a:xfrm>
            <a:off x="548640" y="1600200"/>
            <a:ext cx="11064240" cy="731520"/>
          </a:xfrm>
          <a:prstGeom prst="rect">
            <a:avLst/>
          </a:prstGeom>
          <a:noFill/>
          <a:ln/>
        </p:spPr>
        <p:txBody>
          <a:bodyPr wrap="square" lIns="0" tIns="0" rIns="0" bIns="0" rtlCol="0" anchor="ctr"/>
          <a:lstStyle/>
          <a:p>
            <a:r>
              <a:rPr lang="en-US" sz="1300" b="1">
                <a:solidFill>
                  <a:srgbClr val="0F172A"/>
                </a:solidFill>
                <a:latin typeface="Calibri"/>
                <a:ea typeface="Calibri"/>
                <a:cs typeface="Calibri"/>
              </a:rPr>
              <a:t>AES only encrypts 16 bytes at a time.  </a:t>
            </a:r>
            <a:r>
              <a:rPr lang="en-US" sz="1300">
                <a:solidFill>
                  <a:srgbClr val="0F172A"/>
                </a:solidFill>
                <a:latin typeface="Calibri"/>
                <a:ea typeface="Calibri"/>
                <a:cs typeface="Calibri"/>
              </a:rPr>
              <a:t>A</a:t>
            </a:r>
            <a:r>
              <a:rPr lang="en-US" sz="1300" i="1">
                <a:solidFill>
                  <a:srgbClr val="0F172A"/>
                </a:solidFill>
                <a:latin typeface="Calibri"/>
                <a:ea typeface="Calibri"/>
                <a:cs typeface="Calibri"/>
              </a:rPr>
              <a:t> </a:t>
            </a:r>
            <a:r>
              <a:rPr lang="en-US" sz="1300">
                <a:solidFill>
                  <a:srgbClr val="0F172A"/>
                </a:solidFill>
                <a:latin typeface="Calibri"/>
                <a:ea typeface="Calibri"/>
                <a:cs typeface="Calibri"/>
              </a:rPr>
              <a:t>mode of operation is the rule for how you chain many AES calls together to encrypt a longer message. </a:t>
            </a:r>
          </a:p>
        </p:txBody>
      </p:sp>
      <p:sp>
        <p:nvSpPr>
          <p:cNvPr id="7" name="Shape 5"/>
          <p:cNvSpPr/>
          <p:nvPr/>
        </p:nvSpPr>
        <p:spPr>
          <a:xfrm>
            <a:off x="548640" y="2514600"/>
            <a:ext cx="3611880" cy="3931920"/>
          </a:xfrm>
          <a:prstGeom prst="rect">
            <a:avLst/>
          </a:prstGeom>
          <a:solidFill>
            <a:srgbClr val="FFFFFF"/>
          </a:solidFill>
          <a:ln w="12700">
            <a:solidFill>
              <a:srgbClr val="E2E8F0"/>
            </a:solidFill>
            <a:prstDash val="solid"/>
          </a:ln>
          <a:effectLst>
            <a:outerShdw blurRad="101600" dist="25400" dir="5400000" algn="bl" rotWithShape="0">
              <a:srgbClr val="000000">
                <a:alpha val="6000"/>
              </a:srgbClr>
            </a:outerShdw>
          </a:effectLst>
        </p:spPr>
        <p:txBody>
          <a:bodyPr/>
          <a:lstStyle/>
          <a:p>
            <a:endParaRPr lang="en-US"/>
          </a:p>
        </p:txBody>
      </p:sp>
      <p:sp>
        <p:nvSpPr>
          <p:cNvPr id="8" name="Shape 6"/>
          <p:cNvSpPr/>
          <p:nvPr/>
        </p:nvSpPr>
        <p:spPr>
          <a:xfrm>
            <a:off x="548640" y="2514600"/>
            <a:ext cx="3611880" cy="109728"/>
          </a:xfrm>
          <a:prstGeom prst="rect">
            <a:avLst/>
          </a:prstGeom>
          <a:solidFill>
            <a:schemeClr val="tx1"/>
          </a:solidFill>
          <a:ln w="12700">
            <a:solidFill>
              <a:srgbClr val="F59E0B"/>
            </a:solidFill>
            <a:prstDash val="solid"/>
          </a:ln>
        </p:spPr>
        <p:txBody>
          <a:bodyPr/>
          <a:lstStyle/>
          <a:p>
            <a:endParaRPr lang="en-US"/>
          </a:p>
        </p:txBody>
      </p:sp>
      <p:sp>
        <p:nvSpPr>
          <p:cNvPr id="9" name="Text 7"/>
          <p:cNvSpPr/>
          <p:nvPr/>
        </p:nvSpPr>
        <p:spPr>
          <a:xfrm>
            <a:off x="777240" y="2679192"/>
            <a:ext cx="3154680" cy="438912"/>
          </a:xfrm>
          <a:prstGeom prst="rect">
            <a:avLst/>
          </a:prstGeom>
          <a:noFill/>
          <a:ln/>
        </p:spPr>
        <p:txBody>
          <a:bodyPr wrap="square" lIns="0" tIns="0" rIns="0" bIns="0" rtlCol="0" anchor="ctr"/>
          <a:lstStyle/>
          <a:p>
            <a:pPr marL="0" indent="0">
              <a:buNone/>
            </a:pPr>
            <a:r>
              <a:rPr lang="en-US" sz="2600" b="1">
                <a:solidFill>
                  <a:srgbClr val="0F172A"/>
                </a:solidFill>
                <a:latin typeface="Calibri" pitchFamily="34" charset="0"/>
                <a:ea typeface="Calibri" pitchFamily="34" charset="-122"/>
                <a:cs typeface="Calibri" pitchFamily="34" charset="-120"/>
              </a:rPr>
              <a:t>CBC</a:t>
            </a:r>
            <a:endParaRPr lang="en-US" sz="2600"/>
          </a:p>
        </p:txBody>
      </p:sp>
      <p:sp>
        <p:nvSpPr>
          <p:cNvPr id="10" name="Text 8"/>
          <p:cNvSpPr/>
          <p:nvPr/>
        </p:nvSpPr>
        <p:spPr>
          <a:xfrm>
            <a:off x="777240" y="3108960"/>
            <a:ext cx="3154680" cy="256032"/>
          </a:xfrm>
          <a:prstGeom prst="rect">
            <a:avLst/>
          </a:prstGeom>
          <a:noFill/>
          <a:ln/>
        </p:spPr>
        <p:txBody>
          <a:bodyPr wrap="square" lIns="0" tIns="0" rIns="0" bIns="0" rtlCol="0" anchor="ctr"/>
          <a:lstStyle/>
          <a:p>
            <a:pPr marL="0" indent="0">
              <a:buNone/>
            </a:pPr>
            <a:r>
              <a:rPr lang="en-US" sz="1100" b="1">
                <a:latin typeface="Consolas"/>
                <a:ea typeface="Consolas" pitchFamily="34" charset="-122"/>
                <a:cs typeface="Consolas" pitchFamily="34" charset="-120"/>
              </a:rPr>
              <a:t>Cipher Block Chaining</a:t>
            </a:r>
            <a:endParaRPr lang="en-US" sz="1100">
              <a:latin typeface="Consolas"/>
            </a:endParaRPr>
          </a:p>
        </p:txBody>
      </p:sp>
      <p:sp>
        <p:nvSpPr>
          <p:cNvPr id="11" name="Shape 9"/>
          <p:cNvSpPr/>
          <p:nvPr/>
        </p:nvSpPr>
        <p:spPr>
          <a:xfrm>
            <a:off x="777240" y="3429000"/>
            <a:ext cx="3154680" cy="0"/>
          </a:xfrm>
          <a:prstGeom prst="line">
            <a:avLst/>
          </a:prstGeom>
          <a:noFill/>
          <a:ln w="12700">
            <a:solidFill>
              <a:srgbClr val="E2E8F0"/>
            </a:solidFill>
            <a:prstDash val="solid"/>
          </a:ln>
        </p:spPr>
        <p:txBody>
          <a:bodyPr/>
          <a:lstStyle/>
          <a:p>
            <a:endParaRPr lang="en-US"/>
          </a:p>
        </p:txBody>
      </p:sp>
      <p:sp>
        <p:nvSpPr>
          <p:cNvPr id="12" name="Text 10"/>
          <p:cNvSpPr/>
          <p:nvPr/>
        </p:nvSpPr>
        <p:spPr>
          <a:xfrm>
            <a:off x="777240" y="3502152"/>
            <a:ext cx="3154680" cy="201168"/>
          </a:xfrm>
          <a:prstGeom prst="rect">
            <a:avLst/>
          </a:prstGeom>
          <a:noFill/>
          <a:ln/>
        </p:spPr>
        <p:txBody>
          <a:bodyPr wrap="square" lIns="0" tIns="0" rIns="0" bIns="0" rtlCol="0" anchor="ctr"/>
          <a:lstStyle/>
          <a:p>
            <a:pPr marL="0" indent="0">
              <a:buNone/>
            </a:pPr>
            <a:r>
              <a:rPr lang="en-US" sz="900" b="1" kern="0" spc="200">
                <a:latin typeface="Consolas"/>
                <a:ea typeface="Consolas" pitchFamily="34" charset="-122"/>
                <a:cs typeface="Consolas" pitchFamily="34" charset="-120"/>
              </a:rPr>
              <a:t>THE RULE</a:t>
            </a:r>
            <a:endParaRPr lang="en-US" sz="900">
              <a:latin typeface="Consolas"/>
              <a:ea typeface="Calibri"/>
              <a:cs typeface="Calibri"/>
            </a:endParaRPr>
          </a:p>
        </p:txBody>
      </p:sp>
      <p:sp>
        <p:nvSpPr>
          <p:cNvPr id="13" name="Text 11"/>
          <p:cNvSpPr/>
          <p:nvPr/>
        </p:nvSpPr>
        <p:spPr>
          <a:xfrm>
            <a:off x="777240" y="3703320"/>
            <a:ext cx="3154680" cy="502920"/>
          </a:xfrm>
          <a:prstGeom prst="rect">
            <a:avLst/>
          </a:prstGeom>
          <a:noFill/>
          <a:ln/>
        </p:spPr>
        <p:txBody>
          <a:bodyPr wrap="square" lIns="0" tIns="0" rIns="0" bIns="0" rtlCol="0" anchor="ctr"/>
          <a:lstStyle/>
          <a:p>
            <a:pPr marL="0" indent="0">
              <a:buNone/>
            </a:pPr>
            <a:r>
              <a:rPr lang="en-US" sz="1100">
                <a:solidFill>
                  <a:srgbClr val="0F172A"/>
                </a:solidFill>
                <a:latin typeface="Calibri" pitchFamily="34" charset="0"/>
                <a:ea typeface="Calibri" pitchFamily="34" charset="-122"/>
                <a:cs typeface="Calibri" pitchFamily="34" charset="-120"/>
              </a:rPr>
              <a:t>Each block is XORed with the previous block's ciphertext before being encrypted.</a:t>
            </a:r>
            <a:endParaRPr lang="en-US" sz="1100"/>
          </a:p>
        </p:txBody>
      </p:sp>
      <p:sp>
        <p:nvSpPr>
          <p:cNvPr id="14" name="Text 12"/>
          <p:cNvSpPr/>
          <p:nvPr/>
        </p:nvSpPr>
        <p:spPr>
          <a:xfrm>
            <a:off x="777240" y="4270248"/>
            <a:ext cx="3154680" cy="201168"/>
          </a:xfrm>
          <a:prstGeom prst="rect">
            <a:avLst/>
          </a:prstGeom>
          <a:noFill/>
          <a:ln/>
        </p:spPr>
        <p:txBody>
          <a:bodyPr wrap="square" lIns="0" tIns="0" rIns="0" bIns="0" rtlCol="0" anchor="ctr"/>
          <a:lstStyle/>
          <a:p>
            <a:pPr marL="0" indent="0">
              <a:buNone/>
            </a:pPr>
            <a:r>
              <a:rPr lang="en-US" sz="900" b="1" kern="0" spc="200">
                <a:latin typeface="Consolas"/>
                <a:ea typeface="Consolas" pitchFamily="34" charset="-122"/>
                <a:cs typeface="Consolas" pitchFamily="34" charset="-120"/>
              </a:rPr>
              <a:t>HOW IT WORKS</a:t>
            </a:r>
            <a:endParaRPr lang="en-US" sz="900">
              <a:latin typeface="Consolas"/>
              <a:ea typeface="Calibri"/>
              <a:cs typeface="Calibri"/>
            </a:endParaRPr>
          </a:p>
        </p:txBody>
      </p:sp>
      <p:sp>
        <p:nvSpPr>
          <p:cNvPr id="15" name="Text 13"/>
          <p:cNvSpPr/>
          <p:nvPr/>
        </p:nvSpPr>
        <p:spPr>
          <a:xfrm>
            <a:off x="777240" y="4489704"/>
            <a:ext cx="3154680" cy="1188720"/>
          </a:xfrm>
          <a:prstGeom prst="rect">
            <a:avLst/>
          </a:prstGeom>
          <a:noFill/>
          <a:ln/>
        </p:spPr>
        <p:txBody>
          <a:bodyPr wrap="square" lIns="0" tIns="0" rIns="0" bIns="0" rtlCol="0" anchor="ctr"/>
          <a:lstStyle/>
          <a:p>
            <a:pPr marL="0" indent="0">
              <a:spcAft>
                <a:spcPts val="400"/>
              </a:spcAft>
              <a:buNone/>
            </a:pPr>
            <a:r>
              <a:rPr lang="en-US" sz="1000" b="1">
                <a:solidFill>
                  <a:srgbClr val="0F172A"/>
                </a:solidFill>
                <a:latin typeface="Calibri"/>
                <a:ea typeface="Calibri"/>
                <a:cs typeface="Calibri"/>
              </a:rPr>
              <a:t>Block 1 </a:t>
            </a:r>
            <a:r>
              <a:rPr lang="en-US" sz="1000">
                <a:solidFill>
                  <a:srgbClr val="64748B"/>
                </a:solidFill>
                <a:latin typeface="Calibri"/>
                <a:ea typeface="Calibri"/>
                <a:cs typeface="Calibri"/>
              </a:rPr>
              <a:t>starts with a random IV (initialization vector) since there is no previous block.</a:t>
            </a:r>
            <a:endParaRPr lang="en-US" sz="1000">
              <a:latin typeface="Calibri"/>
              <a:ea typeface="Calibri"/>
              <a:cs typeface="Calibri"/>
            </a:endParaRPr>
          </a:p>
          <a:p>
            <a:pPr marL="0" indent="0">
              <a:spcAft>
                <a:spcPts val="400"/>
              </a:spcAft>
              <a:buNone/>
            </a:pPr>
            <a:r>
              <a:rPr lang="en-US" sz="1000" b="1">
                <a:solidFill>
                  <a:srgbClr val="0F172A"/>
                </a:solidFill>
                <a:latin typeface="Calibri" pitchFamily="34" charset="0"/>
                <a:ea typeface="Calibri" pitchFamily="34" charset="-122"/>
                <a:cs typeface="Calibri" pitchFamily="34" charset="-120"/>
              </a:rPr>
              <a:t>Block N </a:t>
            </a:r>
            <a:r>
              <a:rPr lang="en-US" sz="1000">
                <a:solidFill>
                  <a:srgbClr val="64748B"/>
                </a:solidFill>
                <a:latin typeface="Calibri" pitchFamily="34" charset="0"/>
                <a:ea typeface="Calibri" pitchFamily="34" charset="-122"/>
                <a:cs typeface="Calibri" pitchFamily="34" charset="-120"/>
              </a:rPr>
              <a:t>must wait for block N−1 to finish before it can begin.</a:t>
            </a:r>
            <a:endParaRPr lang="en-US" sz="1000"/>
          </a:p>
          <a:p>
            <a:pPr marL="0" indent="0">
              <a:spcAft>
                <a:spcPts val="400"/>
              </a:spcAft>
              <a:buNone/>
            </a:pPr>
            <a:r>
              <a:rPr lang="en-US" sz="1000" b="1">
                <a:solidFill>
                  <a:srgbClr val="0F172A"/>
                </a:solidFill>
                <a:latin typeface="Calibri"/>
                <a:ea typeface="Calibri"/>
                <a:cs typeface="Calibri"/>
              </a:rPr>
              <a:t>Result </a:t>
            </a:r>
            <a:r>
              <a:rPr lang="en-US" sz="1000">
                <a:solidFill>
                  <a:srgbClr val="64748B"/>
                </a:solidFill>
                <a:latin typeface="Calibri"/>
                <a:ea typeface="Calibri"/>
                <a:cs typeface="Calibri"/>
              </a:rPr>
              <a:t>identical plaintext blocks always encrypt to different outputs, patterns are hidden.</a:t>
            </a:r>
            <a:endParaRPr lang="en-US" sz="1000">
              <a:latin typeface="Calibri"/>
              <a:ea typeface="Calibri"/>
              <a:cs typeface="Calibri"/>
            </a:endParaRPr>
          </a:p>
        </p:txBody>
      </p:sp>
      <p:sp>
        <p:nvSpPr>
          <p:cNvPr id="16" name="Text 14"/>
          <p:cNvSpPr/>
          <p:nvPr/>
        </p:nvSpPr>
        <p:spPr>
          <a:xfrm>
            <a:off x="777240" y="5715000"/>
            <a:ext cx="3154680" cy="201168"/>
          </a:xfrm>
          <a:prstGeom prst="rect">
            <a:avLst/>
          </a:prstGeom>
          <a:noFill/>
          <a:ln/>
        </p:spPr>
        <p:txBody>
          <a:bodyPr wrap="square" lIns="0" tIns="0" rIns="0" bIns="0" rtlCol="0" anchor="ctr"/>
          <a:lstStyle/>
          <a:p>
            <a:r>
              <a:rPr lang="en-US" sz="900" kern="0" spc="200">
                <a:solidFill>
                  <a:srgbClr val="F59E0B"/>
                </a:solidFill>
                <a:ea typeface="+mn-lt"/>
                <a:cs typeface="+mn-lt"/>
              </a:rPr>
              <a:t>Sent over wire: </a:t>
            </a:r>
            <a:endParaRPr lang="en-US"/>
          </a:p>
        </p:txBody>
      </p:sp>
      <p:sp>
        <p:nvSpPr>
          <p:cNvPr id="17" name="Text 15"/>
          <p:cNvSpPr/>
          <p:nvPr/>
        </p:nvSpPr>
        <p:spPr>
          <a:xfrm>
            <a:off x="777240" y="5916168"/>
            <a:ext cx="3154680" cy="457200"/>
          </a:xfrm>
          <a:prstGeom prst="rect">
            <a:avLst/>
          </a:prstGeom>
          <a:noFill/>
          <a:ln/>
        </p:spPr>
        <p:txBody>
          <a:bodyPr wrap="square" lIns="0" tIns="0" rIns="0" bIns="0" rtlCol="0" anchor="ctr"/>
          <a:lstStyle/>
          <a:p>
            <a:r>
              <a:rPr lang="en-US" sz="1000">
                <a:solidFill>
                  <a:srgbClr val="0F172A"/>
                </a:solidFill>
                <a:ea typeface="+mn-lt"/>
                <a:cs typeface="+mn-lt"/>
              </a:rPr>
              <a:t>IV + C1 + C2 + C3 </a:t>
            </a:r>
            <a:endParaRPr lang="en-US"/>
          </a:p>
        </p:txBody>
      </p:sp>
      <p:sp>
        <p:nvSpPr>
          <p:cNvPr id="18" name="Shape 16"/>
          <p:cNvSpPr/>
          <p:nvPr/>
        </p:nvSpPr>
        <p:spPr>
          <a:xfrm>
            <a:off x="4361688" y="2514600"/>
            <a:ext cx="3611880" cy="3931920"/>
          </a:xfrm>
          <a:prstGeom prst="rect">
            <a:avLst/>
          </a:prstGeom>
          <a:solidFill>
            <a:srgbClr val="FFFFFF"/>
          </a:solidFill>
          <a:ln w="12700">
            <a:solidFill>
              <a:srgbClr val="E2E8F0"/>
            </a:solidFill>
            <a:prstDash val="solid"/>
          </a:ln>
          <a:effectLst>
            <a:outerShdw blurRad="101600" dist="25400" dir="5400000" algn="bl" rotWithShape="0">
              <a:srgbClr val="000000">
                <a:alpha val="6000"/>
              </a:srgbClr>
            </a:outerShdw>
          </a:effectLst>
        </p:spPr>
        <p:txBody>
          <a:bodyPr/>
          <a:lstStyle/>
          <a:p>
            <a:endParaRPr lang="en-US"/>
          </a:p>
        </p:txBody>
      </p:sp>
      <p:sp>
        <p:nvSpPr>
          <p:cNvPr id="19" name="Shape 17"/>
          <p:cNvSpPr/>
          <p:nvPr/>
        </p:nvSpPr>
        <p:spPr>
          <a:xfrm>
            <a:off x="4361688" y="2514600"/>
            <a:ext cx="3611880" cy="109728"/>
          </a:xfrm>
          <a:prstGeom prst="rect">
            <a:avLst/>
          </a:prstGeom>
          <a:solidFill>
            <a:schemeClr val="tx1"/>
          </a:solidFill>
          <a:ln w="12700">
            <a:solidFill>
              <a:srgbClr val="0D9488"/>
            </a:solidFill>
            <a:prstDash val="solid"/>
          </a:ln>
        </p:spPr>
        <p:txBody>
          <a:bodyPr/>
          <a:lstStyle/>
          <a:p>
            <a:endParaRPr lang="en-US"/>
          </a:p>
        </p:txBody>
      </p:sp>
      <p:sp>
        <p:nvSpPr>
          <p:cNvPr id="20" name="Text 18"/>
          <p:cNvSpPr/>
          <p:nvPr/>
        </p:nvSpPr>
        <p:spPr>
          <a:xfrm>
            <a:off x="4590288" y="2679192"/>
            <a:ext cx="3154680" cy="438912"/>
          </a:xfrm>
          <a:prstGeom prst="rect">
            <a:avLst/>
          </a:prstGeom>
          <a:noFill/>
          <a:ln/>
        </p:spPr>
        <p:txBody>
          <a:bodyPr wrap="square" lIns="0" tIns="0" rIns="0" bIns="0" rtlCol="0" anchor="ctr"/>
          <a:lstStyle/>
          <a:p>
            <a:pPr marL="0" indent="0">
              <a:buNone/>
            </a:pPr>
            <a:r>
              <a:rPr lang="en-US" sz="2600" b="1">
                <a:solidFill>
                  <a:srgbClr val="0F172A"/>
                </a:solidFill>
                <a:latin typeface="Calibri" pitchFamily="34" charset="0"/>
                <a:ea typeface="Calibri" pitchFamily="34" charset="-122"/>
                <a:cs typeface="Calibri" pitchFamily="34" charset="-120"/>
              </a:rPr>
              <a:t>CTR</a:t>
            </a:r>
            <a:endParaRPr lang="en-US" sz="2600"/>
          </a:p>
        </p:txBody>
      </p:sp>
      <p:sp>
        <p:nvSpPr>
          <p:cNvPr id="21" name="Text 19"/>
          <p:cNvSpPr/>
          <p:nvPr/>
        </p:nvSpPr>
        <p:spPr>
          <a:xfrm>
            <a:off x="4590288" y="3108960"/>
            <a:ext cx="3154680" cy="256032"/>
          </a:xfrm>
          <a:prstGeom prst="rect">
            <a:avLst/>
          </a:prstGeom>
          <a:noFill/>
          <a:ln/>
        </p:spPr>
        <p:txBody>
          <a:bodyPr wrap="square" lIns="0" tIns="0" rIns="0" bIns="0" rtlCol="0" anchor="ctr"/>
          <a:lstStyle/>
          <a:p>
            <a:pPr marL="0" indent="0">
              <a:buNone/>
            </a:pPr>
            <a:r>
              <a:rPr lang="en-US" sz="1100" b="1">
                <a:solidFill>
                  <a:srgbClr val="0F172A"/>
                </a:solidFill>
                <a:latin typeface="Consolas" pitchFamily="34" charset="0"/>
              </a:rPr>
              <a:t>Counter Mode</a:t>
            </a:r>
          </a:p>
        </p:txBody>
      </p:sp>
      <p:sp>
        <p:nvSpPr>
          <p:cNvPr id="22" name="Shape 20"/>
          <p:cNvSpPr/>
          <p:nvPr/>
        </p:nvSpPr>
        <p:spPr>
          <a:xfrm>
            <a:off x="4590288" y="3429000"/>
            <a:ext cx="3154680" cy="0"/>
          </a:xfrm>
          <a:prstGeom prst="line">
            <a:avLst/>
          </a:prstGeom>
          <a:noFill/>
          <a:ln w="12700">
            <a:solidFill>
              <a:srgbClr val="E2E8F0"/>
            </a:solidFill>
            <a:prstDash val="solid"/>
          </a:ln>
        </p:spPr>
        <p:txBody>
          <a:bodyPr/>
          <a:lstStyle/>
          <a:p>
            <a:endParaRPr lang="en-US"/>
          </a:p>
        </p:txBody>
      </p:sp>
      <p:sp>
        <p:nvSpPr>
          <p:cNvPr id="23" name="Text 21"/>
          <p:cNvSpPr/>
          <p:nvPr/>
        </p:nvSpPr>
        <p:spPr>
          <a:xfrm>
            <a:off x="4590288" y="3502152"/>
            <a:ext cx="3154680" cy="201168"/>
          </a:xfrm>
          <a:prstGeom prst="rect">
            <a:avLst/>
          </a:prstGeom>
          <a:noFill/>
          <a:ln/>
        </p:spPr>
        <p:txBody>
          <a:bodyPr wrap="square" lIns="0" tIns="0" rIns="0" bIns="0" rtlCol="0" anchor="ctr"/>
          <a:lstStyle/>
          <a:p>
            <a:pPr marL="0" indent="0">
              <a:buNone/>
            </a:pPr>
            <a:r>
              <a:rPr lang="en-US" sz="900" b="1" kern="0" spc="200">
                <a:latin typeface="Consolas"/>
                <a:ea typeface="Consolas" pitchFamily="34" charset="-122"/>
                <a:cs typeface="Consolas" pitchFamily="34" charset="-120"/>
              </a:rPr>
              <a:t>THE RULE</a:t>
            </a:r>
            <a:endParaRPr lang="en-US" sz="900">
              <a:latin typeface="Consolas"/>
              <a:ea typeface="Calibri"/>
              <a:cs typeface="Calibri"/>
            </a:endParaRPr>
          </a:p>
        </p:txBody>
      </p:sp>
      <p:sp>
        <p:nvSpPr>
          <p:cNvPr id="24" name="Text 22"/>
          <p:cNvSpPr/>
          <p:nvPr/>
        </p:nvSpPr>
        <p:spPr>
          <a:xfrm>
            <a:off x="4590288" y="3703320"/>
            <a:ext cx="3154680" cy="502920"/>
          </a:xfrm>
          <a:prstGeom prst="rect">
            <a:avLst/>
          </a:prstGeom>
          <a:noFill/>
          <a:ln/>
        </p:spPr>
        <p:txBody>
          <a:bodyPr wrap="square" lIns="0" tIns="0" rIns="0" bIns="0" rtlCol="0" anchor="ctr"/>
          <a:lstStyle/>
          <a:p>
            <a:pPr marL="0" indent="0">
              <a:buNone/>
            </a:pPr>
            <a:r>
              <a:rPr lang="en-US" sz="1100">
                <a:solidFill>
                  <a:srgbClr val="0F172A"/>
                </a:solidFill>
                <a:latin typeface="Calibri"/>
                <a:ea typeface="Calibri"/>
                <a:cs typeface="Calibri"/>
              </a:rPr>
              <a:t>Encrypts an incrementing counter (1, 2, ...) and XORs the result with the plaintext.</a:t>
            </a:r>
            <a:endParaRPr lang="en-US" sz="1100">
              <a:latin typeface="Calibri"/>
              <a:ea typeface="Calibri"/>
              <a:cs typeface="Calibri"/>
            </a:endParaRPr>
          </a:p>
        </p:txBody>
      </p:sp>
      <p:sp>
        <p:nvSpPr>
          <p:cNvPr id="25" name="Text 23"/>
          <p:cNvSpPr/>
          <p:nvPr/>
        </p:nvSpPr>
        <p:spPr>
          <a:xfrm>
            <a:off x="4590288" y="4270248"/>
            <a:ext cx="3154680" cy="201168"/>
          </a:xfrm>
          <a:prstGeom prst="rect">
            <a:avLst/>
          </a:prstGeom>
          <a:noFill/>
          <a:ln/>
        </p:spPr>
        <p:txBody>
          <a:bodyPr wrap="square" lIns="0" tIns="0" rIns="0" bIns="0" rtlCol="0" anchor="ctr"/>
          <a:lstStyle/>
          <a:p>
            <a:pPr marL="0" indent="0">
              <a:buNone/>
            </a:pPr>
            <a:r>
              <a:rPr lang="en-US" sz="900" b="1" kern="0" spc="200">
                <a:latin typeface="Consolas"/>
                <a:ea typeface="Consolas" pitchFamily="34" charset="-122"/>
                <a:cs typeface="Consolas" pitchFamily="34" charset="-120"/>
              </a:rPr>
              <a:t>HOW IT WORKS</a:t>
            </a:r>
            <a:endParaRPr lang="en-US" sz="900">
              <a:latin typeface="Consolas"/>
              <a:ea typeface="Calibri"/>
              <a:cs typeface="Calibri"/>
            </a:endParaRPr>
          </a:p>
        </p:txBody>
      </p:sp>
      <p:sp>
        <p:nvSpPr>
          <p:cNvPr id="26" name="Text 24"/>
          <p:cNvSpPr/>
          <p:nvPr/>
        </p:nvSpPr>
        <p:spPr>
          <a:xfrm>
            <a:off x="4590288" y="4489704"/>
            <a:ext cx="3154680" cy="1188720"/>
          </a:xfrm>
          <a:prstGeom prst="rect">
            <a:avLst/>
          </a:prstGeom>
          <a:noFill/>
          <a:ln/>
        </p:spPr>
        <p:txBody>
          <a:bodyPr wrap="square" lIns="0" tIns="0" rIns="0" bIns="0" rtlCol="0" anchor="ctr"/>
          <a:lstStyle/>
          <a:p>
            <a:pPr>
              <a:spcAft>
                <a:spcPts val="400"/>
              </a:spcAft>
            </a:pPr>
            <a:r>
              <a:rPr lang="en-US" sz="1000" b="1">
                <a:solidFill>
                  <a:srgbClr val="0F172A"/>
                </a:solidFill>
                <a:latin typeface="Calibri"/>
                <a:ea typeface="Calibri"/>
                <a:cs typeface="Calibri"/>
              </a:rPr>
              <a:t>Start</a:t>
            </a:r>
            <a:r>
              <a:rPr lang="en-US" sz="1000">
                <a:solidFill>
                  <a:srgbClr val="64748B"/>
                </a:solidFill>
                <a:latin typeface="Calibri"/>
                <a:ea typeface="Calibri"/>
                <a:cs typeface="Calibri"/>
              </a:rPr>
              <a:t> with a nonce, which is 12 bytes and then || the counter you are on, which gives counter blocks</a:t>
            </a:r>
          </a:p>
          <a:p>
            <a:pPr>
              <a:spcAft>
                <a:spcPts val="400"/>
              </a:spcAft>
            </a:pPr>
            <a:r>
              <a:rPr lang="en-US" sz="1000" b="1">
                <a:solidFill>
                  <a:srgbClr val="0F172A"/>
                </a:solidFill>
                <a:latin typeface="Calibri"/>
                <a:ea typeface="Calibri"/>
                <a:cs typeface="Calibri"/>
              </a:rPr>
              <a:t>Run </a:t>
            </a:r>
            <a:r>
              <a:rPr lang="en-US" sz="1000">
                <a:solidFill>
                  <a:srgbClr val="64748B"/>
                </a:solidFill>
                <a:latin typeface="Calibri"/>
                <a:ea typeface="Calibri"/>
                <a:cs typeface="Calibri"/>
              </a:rPr>
              <a:t>AES on counter blocks to create key stream, all key streams can be created at once</a:t>
            </a:r>
          </a:p>
          <a:p>
            <a:pPr>
              <a:spcAft>
                <a:spcPts val="400"/>
              </a:spcAft>
            </a:pPr>
            <a:r>
              <a:rPr lang="en-US" sz="1000">
                <a:ea typeface="+mn-lt"/>
                <a:cs typeface="+mn-lt"/>
              </a:rPr>
              <a:t>XOR </a:t>
            </a:r>
            <a:r>
              <a:rPr lang="en-US" sz="1000">
                <a:solidFill>
                  <a:srgbClr val="64748B"/>
                </a:solidFill>
                <a:ea typeface="+mn-lt"/>
                <a:cs typeface="+mn-lt"/>
              </a:rPr>
              <a:t>each keystream with the corresponding plaintext block</a:t>
            </a:r>
            <a:endParaRPr lang="en-US"/>
          </a:p>
        </p:txBody>
      </p:sp>
      <p:sp>
        <p:nvSpPr>
          <p:cNvPr id="27" name="Text 25"/>
          <p:cNvSpPr/>
          <p:nvPr/>
        </p:nvSpPr>
        <p:spPr>
          <a:xfrm>
            <a:off x="4590288" y="5715000"/>
            <a:ext cx="3154680" cy="201168"/>
          </a:xfrm>
          <a:prstGeom prst="rect">
            <a:avLst/>
          </a:prstGeom>
          <a:noFill/>
          <a:ln/>
        </p:spPr>
        <p:txBody>
          <a:bodyPr wrap="square" lIns="0" tIns="0" rIns="0" bIns="0" rtlCol="0" anchor="ctr"/>
          <a:lstStyle/>
          <a:p>
            <a:r>
              <a:rPr lang="en-US" sz="900" kern="0" spc="200">
                <a:solidFill>
                  <a:srgbClr val="0D9488"/>
                </a:solidFill>
                <a:ea typeface="+mn-lt"/>
                <a:cs typeface="+mn-lt"/>
              </a:rPr>
              <a:t>Sent over wire: </a:t>
            </a:r>
            <a:endParaRPr lang="en-US"/>
          </a:p>
        </p:txBody>
      </p:sp>
      <p:sp>
        <p:nvSpPr>
          <p:cNvPr id="28" name="Text 26"/>
          <p:cNvSpPr/>
          <p:nvPr/>
        </p:nvSpPr>
        <p:spPr>
          <a:xfrm>
            <a:off x="4590288" y="5916168"/>
            <a:ext cx="3154680" cy="457200"/>
          </a:xfrm>
          <a:prstGeom prst="rect">
            <a:avLst/>
          </a:prstGeom>
          <a:noFill/>
          <a:ln/>
        </p:spPr>
        <p:txBody>
          <a:bodyPr wrap="square" lIns="0" tIns="0" rIns="0" bIns="0" rtlCol="0" anchor="ctr"/>
          <a:lstStyle/>
          <a:p>
            <a:r>
              <a:rPr lang="en-US" sz="1000">
                <a:solidFill>
                  <a:srgbClr val="0F172A"/>
                </a:solidFill>
                <a:ea typeface="+mn-lt"/>
                <a:cs typeface="+mn-lt"/>
              </a:rPr>
              <a:t>nonce + C1 + C2 + C3</a:t>
            </a:r>
            <a:endParaRPr lang="en-US"/>
          </a:p>
        </p:txBody>
      </p:sp>
      <p:sp>
        <p:nvSpPr>
          <p:cNvPr id="29" name="Shape 27"/>
          <p:cNvSpPr/>
          <p:nvPr/>
        </p:nvSpPr>
        <p:spPr>
          <a:xfrm>
            <a:off x="8174736" y="2514600"/>
            <a:ext cx="3611880" cy="3931920"/>
          </a:xfrm>
          <a:prstGeom prst="rect">
            <a:avLst/>
          </a:prstGeom>
          <a:solidFill>
            <a:srgbClr val="FFFFFF"/>
          </a:solidFill>
          <a:ln w="12700">
            <a:solidFill>
              <a:srgbClr val="E2E8F0"/>
            </a:solidFill>
            <a:prstDash val="solid"/>
          </a:ln>
          <a:effectLst>
            <a:outerShdw blurRad="101600" dist="25400" dir="5400000" algn="bl" rotWithShape="0">
              <a:srgbClr val="000000">
                <a:alpha val="6000"/>
              </a:srgbClr>
            </a:outerShdw>
          </a:effectLst>
        </p:spPr>
        <p:txBody>
          <a:bodyPr/>
          <a:lstStyle/>
          <a:p>
            <a:endParaRPr lang="en-US"/>
          </a:p>
        </p:txBody>
      </p:sp>
      <p:sp>
        <p:nvSpPr>
          <p:cNvPr id="30" name="Shape 28"/>
          <p:cNvSpPr/>
          <p:nvPr/>
        </p:nvSpPr>
        <p:spPr>
          <a:xfrm>
            <a:off x="8174736" y="2514600"/>
            <a:ext cx="3611880" cy="109728"/>
          </a:xfrm>
          <a:prstGeom prst="rect">
            <a:avLst/>
          </a:prstGeom>
          <a:solidFill>
            <a:srgbClr val="0F172A"/>
          </a:solidFill>
          <a:ln w="12700">
            <a:solidFill>
              <a:srgbClr val="0F172A"/>
            </a:solidFill>
            <a:prstDash val="solid"/>
          </a:ln>
        </p:spPr>
        <p:txBody>
          <a:bodyPr/>
          <a:lstStyle/>
          <a:p>
            <a:endParaRPr lang="en-US"/>
          </a:p>
        </p:txBody>
      </p:sp>
      <p:sp>
        <p:nvSpPr>
          <p:cNvPr id="31" name="Text 29"/>
          <p:cNvSpPr/>
          <p:nvPr/>
        </p:nvSpPr>
        <p:spPr>
          <a:xfrm>
            <a:off x="8403336" y="2679192"/>
            <a:ext cx="3154680" cy="438912"/>
          </a:xfrm>
          <a:prstGeom prst="rect">
            <a:avLst/>
          </a:prstGeom>
          <a:noFill/>
          <a:ln/>
        </p:spPr>
        <p:txBody>
          <a:bodyPr wrap="square" lIns="0" tIns="0" rIns="0" bIns="0" rtlCol="0" anchor="ctr"/>
          <a:lstStyle/>
          <a:p>
            <a:pPr marL="0" indent="0">
              <a:buNone/>
            </a:pPr>
            <a:r>
              <a:rPr lang="en-US" sz="2600" b="1">
                <a:solidFill>
                  <a:srgbClr val="0F172A"/>
                </a:solidFill>
                <a:latin typeface="Calibri" pitchFamily="34" charset="0"/>
                <a:ea typeface="Calibri" pitchFamily="34" charset="-122"/>
                <a:cs typeface="Calibri" pitchFamily="34" charset="-120"/>
              </a:rPr>
              <a:t>GCM</a:t>
            </a:r>
            <a:endParaRPr lang="en-US" sz="2600"/>
          </a:p>
        </p:txBody>
      </p:sp>
      <p:sp>
        <p:nvSpPr>
          <p:cNvPr id="32" name="Text 30"/>
          <p:cNvSpPr/>
          <p:nvPr/>
        </p:nvSpPr>
        <p:spPr>
          <a:xfrm>
            <a:off x="8403336" y="3108960"/>
            <a:ext cx="3154680" cy="256032"/>
          </a:xfrm>
          <a:prstGeom prst="rect">
            <a:avLst/>
          </a:prstGeom>
          <a:noFill/>
          <a:ln/>
        </p:spPr>
        <p:txBody>
          <a:bodyPr wrap="square" lIns="0" tIns="0" rIns="0" bIns="0" rtlCol="0" anchor="ctr"/>
          <a:lstStyle/>
          <a:p>
            <a:pPr marL="0" indent="0">
              <a:buNone/>
            </a:pPr>
            <a:r>
              <a:rPr lang="en-US" sz="1100" b="1">
                <a:solidFill>
                  <a:srgbClr val="0F172A"/>
                </a:solidFill>
                <a:latin typeface="Consolas" pitchFamily="34" charset="0"/>
                <a:ea typeface="Consolas" pitchFamily="34" charset="-122"/>
                <a:cs typeface="Consolas" pitchFamily="34" charset="-120"/>
              </a:rPr>
              <a:t>Galois / Counter Mode</a:t>
            </a:r>
            <a:endParaRPr lang="en-US" sz="1100"/>
          </a:p>
        </p:txBody>
      </p:sp>
      <p:sp>
        <p:nvSpPr>
          <p:cNvPr id="33" name="Shape 31"/>
          <p:cNvSpPr/>
          <p:nvPr/>
        </p:nvSpPr>
        <p:spPr>
          <a:xfrm>
            <a:off x="8403336" y="3429000"/>
            <a:ext cx="3154680" cy="0"/>
          </a:xfrm>
          <a:prstGeom prst="line">
            <a:avLst/>
          </a:prstGeom>
          <a:noFill/>
          <a:ln w="12700">
            <a:solidFill>
              <a:srgbClr val="E2E8F0"/>
            </a:solidFill>
            <a:prstDash val="solid"/>
          </a:ln>
        </p:spPr>
        <p:txBody>
          <a:bodyPr/>
          <a:lstStyle/>
          <a:p>
            <a:endParaRPr lang="en-US"/>
          </a:p>
        </p:txBody>
      </p:sp>
      <p:sp>
        <p:nvSpPr>
          <p:cNvPr id="34" name="Text 32"/>
          <p:cNvSpPr/>
          <p:nvPr/>
        </p:nvSpPr>
        <p:spPr>
          <a:xfrm>
            <a:off x="8403336" y="3502152"/>
            <a:ext cx="3154680" cy="201168"/>
          </a:xfrm>
          <a:prstGeom prst="rect">
            <a:avLst/>
          </a:prstGeom>
          <a:noFill/>
          <a:ln/>
        </p:spPr>
        <p:txBody>
          <a:bodyPr wrap="square" lIns="0" tIns="0" rIns="0" bIns="0" rtlCol="0" anchor="ctr"/>
          <a:lstStyle/>
          <a:p>
            <a:pPr marL="0" indent="0">
              <a:buNone/>
            </a:pPr>
            <a:r>
              <a:rPr lang="en-US" sz="900" b="1" kern="0" spc="200">
                <a:solidFill>
                  <a:srgbClr val="0F172A"/>
                </a:solidFill>
                <a:latin typeface="Consolas" pitchFamily="34" charset="0"/>
                <a:ea typeface="Consolas" pitchFamily="34" charset="-122"/>
                <a:cs typeface="Consolas" pitchFamily="34" charset="-120"/>
              </a:rPr>
              <a:t>THE RULE</a:t>
            </a:r>
            <a:endParaRPr lang="en-US" sz="900"/>
          </a:p>
        </p:txBody>
      </p:sp>
      <p:sp>
        <p:nvSpPr>
          <p:cNvPr id="35" name="Text 33"/>
          <p:cNvSpPr/>
          <p:nvPr/>
        </p:nvSpPr>
        <p:spPr>
          <a:xfrm>
            <a:off x="8403336" y="3703320"/>
            <a:ext cx="3154680" cy="502920"/>
          </a:xfrm>
          <a:prstGeom prst="rect">
            <a:avLst/>
          </a:prstGeom>
          <a:noFill/>
          <a:ln/>
        </p:spPr>
        <p:txBody>
          <a:bodyPr wrap="square" lIns="0" tIns="0" rIns="0" bIns="0" rtlCol="0" anchor="ctr"/>
          <a:lstStyle/>
          <a:p>
            <a:pPr marL="0" indent="0">
              <a:buNone/>
            </a:pPr>
            <a:r>
              <a:rPr lang="en-US" sz="1100">
                <a:solidFill>
                  <a:srgbClr val="0F172A"/>
                </a:solidFill>
                <a:latin typeface="Calibri" pitchFamily="34" charset="0"/>
                <a:ea typeface="Calibri" pitchFamily="34" charset="-122"/>
                <a:cs typeface="Calibri" pitchFamily="34" charset="-120"/>
              </a:rPr>
              <a:t>Runs CTR encryption, then computes a GHASH authentication tag over the ciphertext.</a:t>
            </a:r>
            <a:endParaRPr lang="en-US" sz="1100"/>
          </a:p>
        </p:txBody>
      </p:sp>
      <p:sp>
        <p:nvSpPr>
          <p:cNvPr id="36" name="Text 34"/>
          <p:cNvSpPr/>
          <p:nvPr/>
        </p:nvSpPr>
        <p:spPr>
          <a:xfrm>
            <a:off x="8403336" y="4270248"/>
            <a:ext cx="3154680" cy="201168"/>
          </a:xfrm>
          <a:prstGeom prst="rect">
            <a:avLst/>
          </a:prstGeom>
          <a:noFill/>
          <a:ln/>
        </p:spPr>
        <p:txBody>
          <a:bodyPr wrap="square" lIns="0" tIns="0" rIns="0" bIns="0" rtlCol="0" anchor="ctr"/>
          <a:lstStyle/>
          <a:p>
            <a:pPr marL="0" indent="0">
              <a:buNone/>
            </a:pPr>
            <a:r>
              <a:rPr lang="en-US" sz="900" b="1" kern="0" spc="200">
                <a:solidFill>
                  <a:srgbClr val="0F172A"/>
                </a:solidFill>
                <a:latin typeface="Consolas" pitchFamily="34" charset="0"/>
                <a:ea typeface="Consolas" pitchFamily="34" charset="-122"/>
                <a:cs typeface="Consolas" pitchFamily="34" charset="-120"/>
              </a:rPr>
              <a:t>HOW IT WORKS</a:t>
            </a:r>
            <a:endParaRPr lang="en-US" sz="900"/>
          </a:p>
        </p:txBody>
      </p:sp>
      <p:sp>
        <p:nvSpPr>
          <p:cNvPr id="37" name="Text 35"/>
          <p:cNvSpPr/>
          <p:nvPr/>
        </p:nvSpPr>
        <p:spPr>
          <a:xfrm>
            <a:off x="8403336" y="4489704"/>
            <a:ext cx="3154680" cy="1188720"/>
          </a:xfrm>
          <a:prstGeom prst="rect">
            <a:avLst/>
          </a:prstGeom>
          <a:noFill/>
          <a:ln/>
        </p:spPr>
        <p:txBody>
          <a:bodyPr wrap="square" lIns="0" tIns="0" rIns="0" bIns="0" rtlCol="0" anchor="ctr"/>
          <a:lstStyle/>
          <a:p>
            <a:pPr>
              <a:spcAft>
                <a:spcPts val="400"/>
              </a:spcAft>
            </a:pPr>
            <a:r>
              <a:rPr lang="en-US" sz="1000" b="1">
                <a:solidFill>
                  <a:srgbClr val="0F172A"/>
                </a:solidFill>
                <a:latin typeface="Calibri"/>
                <a:ea typeface="Calibri"/>
                <a:cs typeface="Calibri"/>
              </a:rPr>
              <a:t>Encryption </a:t>
            </a:r>
            <a:r>
              <a:rPr lang="en-US" sz="1000">
                <a:solidFill>
                  <a:srgbClr val="64748B"/>
                </a:solidFill>
                <a:latin typeface="Calibri"/>
                <a:ea typeface="Calibri"/>
                <a:cs typeface="Calibri"/>
              </a:rPr>
              <a:t>is identical to CTR. same parallel structure, same speed potential.</a:t>
            </a:r>
            <a:endParaRPr lang="en-US" sz="1000">
              <a:latin typeface="Calibri"/>
              <a:ea typeface="Calibri"/>
              <a:cs typeface="Calibri"/>
            </a:endParaRPr>
          </a:p>
          <a:p>
            <a:pPr>
              <a:spcAft>
                <a:spcPts val="400"/>
              </a:spcAft>
            </a:pPr>
            <a:r>
              <a:rPr lang="en-US" sz="1000" b="1">
                <a:solidFill>
                  <a:srgbClr val="0F172A"/>
                </a:solidFill>
                <a:latin typeface="Calibri"/>
                <a:ea typeface="Calibri"/>
                <a:cs typeface="Calibri"/>
              </a:rPr>
              <a:t>Tag </a:t>
            </a:r>
            <a:r>
              <a:rPr lang="en-US" sz="1000">
                <a:solidFill>
                  <a:srgbClr val="64748B"/>
                </a:solidFill>
                <a:latin typeface="Calibri"/>
                <a:ea typeface="Calibri"/>
                <a:cs typeface="Calibri"/>
              </a:rPr>
              <a:t>is a 16-byte seal that detects tampering </a:t>
            </a:r>
            <a:r>
              <a:rPr lang="en-US" sz="1000">
                <a:solidFill>
                  <a:srgbClr val="64748B"/>
                </a:solidFill>
                <a:ea typeface="+mn-lt"/>
                <a:cs typeface="+mn-lt"/>
              </a:rPr>
              <a:t>(AES applied to a block of all zeros.)</a:t>
            </a:r>
            <a:r>
              <a:rPr lang="en-US" sz="1000">
                <a:solidFill>
                  <a:srgbClr val="64748B"/>
                </a:solidFill>
                <a:latin typeface="Calibri"/>
                <a:ea typeface="Calibri"/>
                <a:cs typeface="Calibri"/>
              </a:rPr>
              <a:t>.</a:t>
            </a:r>
            <a:endParaRPr lang="en-US" sz="1000">
              <a:latin typeface="Calibri"/>
              <a:ea typeface="Calibri"/>
              <a:cs typeface="Calibri"/>
            </a:endParaRPr>
          </a:p>
          <a:p>
            <a:pPr>
              <a:spcAft>
                <a:spcPts val="400"/>
              </a:spcAft>
            </a:pPr>
            <a:r>
              <a:rPr lang="en-US" sz="1000">
                <a:ea typeface="+mn-lt"/>
                <a:cs typeface="+mn-lt"/>
              </a:rPr>
              <a:t>Run </a:t>
            </a:r>
            <a:r>
              <a:rPr lang="en-US" sz="1000">
                <a:solidFill>
                  <a:srgbClr val="64748B"/>
                </a:solidFill>
                <a:ea typeface="+mn-lt"/>
                <a:cs typeface="+mn-lt"/>
              </a:rPr>
              <a:t>GHASH over the ciphertext blocks </a:t>
            </a:r>
            <a:endParaRPr lang="en-US">
              <a:solidFill>
                <a:srgbClr val="000000"/>
              </a:solidFill>
              <a:ea typeface="+mn-lt"/>
              <a:cs typeface="+mn-lt"/>
            </a:endParaRPr>
          </a:p>
          <a:p>
            <a:pPr>
              <a:spcAft>
                <a:spcPts val="400"/>
              </a:spcAft>
            </a:pPr>
            <a:r>
              <a:rPr lang="en-US" sz="1000">
                <a:ea typeface="+mn-lt"/>
                <a:cs typeface="+mn-lt"/>
              </a:rPr>
              <a:t>Encrypt </a:t>
            </a:r>
            <a:r>
              <a:rPr lang="en-US" sz="1000">
                <a:solidFill>
                  <a:srgbClr val="64748B"/>
                </a:solidFill>
                <a:ea typeface="+mn-lt"/>
                <a:cs typeface="+mn-lt"/>
              </a:rPr>
              <a:t>counter block 0 and XOR it with the fingerprint to produce the final TAG.</a:t>
            </a:r>
            <a:endParaRPr lang="en-US">
              <a:ea typeface="Calibri"/>
              <a:cs typeface="Calibri"/>
            </a:endParaRPr>
          </a:p>
        </p:txBody>
      </p:sp>
      <p:sp>
        <p:nvSpPr>
          <p:cNvPr id="38" name="Text 36"/>
          <p:cNvSpPr/>
          <p:nvPr/>
        </p:nvSpPr>
        <p:spPr>
          <a:xfrm>
            <a:off x="8403336" y="5715000"/>
            <a:ext cx="3154680" cy="201168"/>
          </a:xfrm>
          <a:prstGeom prst="rect">
            <a:avLst/>
          </a:prstGeom>
          <a:noFill/>
          <a:ln/>
        </p:spPr>
        <p:txBody>
          <a:bodyPr wrap="square" lIns="0" tIns="0" rIns="0" bIns="0" rtlCol="0" anchor="ctr"/>
          <a:lstStyle/>
          <a:p>
            <a:r>
              <a:rPr lang="en-US" sz="900" kern="0" spc="200">
                <a:solidFill>
                  <a:srgbClr val="0F172A"/>
                </a:solidFill>
                <a:ea typeface="+mn-lt"/>
                <a:cs typeface="+mn-lt"/>
              </a:rPr>
              <a:t>Sent over wire: </a:t>
            </a:r>
            <a:endParaRPr lang="en-US"/>
          </a:p>
        </p:txBody>
      </p:sp>
      <p:sp>
        <p:nvSpPr>
          <p:cNvPr id="39" name="Text 37"/>
          <p:cNvSpPr/>
          <p:nvPr/>
        </p:nvSpPr>
        <p:spPr>
          <a:xfrm>
            <a:off x="8403336" y="5916168"/>
            <a:ext cx="3154680" cy="457200"/>
          </a:xfrm>
          <a:prstGeom prst="rect">
            <a:avLst/>
          </a:prstGeom>
          <a:noFill/>
          <a:ln/>
        </p:spPr>
        <p:txBody>
          <a:bodyPr wrap="square" lIns="0" tIns="0" rIns="0" bIns="0" rtlCol="0" anchor="ctr"/>
          <a:lstStyle/>
          <a:p>
            <a:r>
              <a:rPr lang="en-US" sz="1000">
                <a:solidFill>
                  <a:srgbClr val="0F172A"/>
                </a:solidFill>
                <a:ea typeface="+mn-lt"/>
                <a:cs typeface="+mn-lt"/>
              </a:rPr>
              <a:t>nonce + C1 + C2 + C3 + TAG</a:t>
            </a:r>
            <a:endParaRPr lang="en-US"/>
          </a:p>
        </p:txBody>
      </p:sp>
    </p:spTree>
    <p:extLst>
      <p:ext uri="{BB962C8B-B14F-4D97-AF65-F5344CB8AC3E}">
        <p14:creationId xmlns:p14="http://schemas.microsoft.com/office/powerpoint/2010/main" val="1188963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Hardware Setup</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sp>
      <p:sp>
        <p:nvSpPr>
          <p:cNvPr id="6" name="Shape 4"/>
          <p:cNvSpPr/>
          <p:nvPr/>
        </p:nvSpPr>
        <p:spPr>
          <a:xfrm>
            <a:off x="548640" y="1645920"/>
            <a:ext cx="5577840" cy="466344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sp>
      <p:sp>
        <p:nvSpPr>
          <p:cNvPr id="7" name="Shape 5"/>
          <p:cNvSpPr/>
          <p:nvPr/>
        </p:nvSpPr>
        <p:spPr>
          <a:xfrm>
            <a:off x="548640" y="1645920"/>
            <a:ext cx="5577840" cy="457200"/>
          </a:xfrm>
          <a:prstGeom prst="rect">
            <a:avLst/>
          </a:prstGeom>
          <a:solidFill>
            <a:srgbClr val="0F172A"/>
          </a:solidFill>
          <a:ln w="12700">
            <a:solidFill>
              <a:srgbClr val="0F172A"/>
            </a:solidFill>
            <a:prstDash val="solid"/>
          </a:ln>
        </p:spPr>
      </p:sp>
      <p:sp>
        <p:nvSpPr>
          <p:cNvPr id="8" name="Text 6"/>
          <p:cNvSpPr/>
          <p:nvPr/>
        </p:nvSpPr>
        <p:spPr>
          <a:xfrm>
            <a:off x="685800" y="1719072"/>
            <a:ext cx="5486400" cy="320040"/>
          </a:xfrm>
          <a:prstGeom prst="rect">
            <a:avLst/>
          </a:prstGeom>
          <a:noFill/>
          <a:ln/>
        </p:spPr>
        <p:txBody>
          <a:bodyPr wrap="square" lIns="0" tIns="0" rIns="0" bIns="0" rtlCol="0" anchor="ctr"/>
          <a:lstStyle/>
          <a:p>
            <a:pPr marL="0" indent="0">
              <a:buNone/>
            </a:pPr>
            <a:r>
              <a:rPr lang="en-US" sz="1100" b="1" kern="0" spc="200">
                <a:solidFill>
                  <a:srgbClr val="14B8A6"/>
                </a:solidFill>
                <a:latin typeface="Consolas" pitchFamily="34" charset="0"/>
                <a:ea typeface="Consolas" pitchFamily="34" charset="-122"/>
                <a:cs typeface="Consolas" pitchFamily="34" charset="-120"/>
              </a:rPr>
              <a:t>DEVICE UNDER TEST</a:t>
            </a:r>
            <a:endParaRPr lang="en-US" sz="1100"/>
          </a:p>
        </p:txBody>
      </p:sp>
      <p:sp>
        <p:nvSpPr>
          <p:cNvPr id="9" name="Text 7"/>
          <p:cNvSpPr/>
          <p:nvPr/>
        </p:nvSpPr>
        <p:spPr>
          <a:xfrm>
            <a:off x="777240" y="2240280"/>
            <a:ext cx="5303520" cy="502920"/>
          </a:xfrm>
          <a:prstGeom prst="rect">
            <a:avLst/>
          </a:prstGeom>
          <a:noFill/>
          <a:ln/>
        </p:spPr>
        <p:txBody>
          <a:bodyPr wrap="square" lIns="0" tIns="0" rIns="0" bIns="0" rtlCol="0" anchor="ctr"/>
          <a:lstStyle/>
          <a:p>
            <a:pPr marL="0" indent="0">
              <a:buNone/>
            </a:pPr>
            <a:r>
              <a:rPr lang="en-US" sz="2200" b="1">
                <a:solidFill>
                  <a:srgbClr val="0F172A"/>
                </a:solidFill>
                <a:latin typeface="Calibri" pitchFamily="34" charset="0"/>
                <a:ea typeface="Calibri" pitchFamily="34" charset="-122"/>
                <a:cs typeface="Calibri" pitchFamily="34" charset="-120"/>
              </a:rPr>
              <a:t>Raspberry Pi 4 Model B</a:t>
            </a:r>
            <a:endParaRPr lang="en-US" sz="220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2834640"/>
          <a:ext cx="5212080" cy="2779776"/>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SoC</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Broadcom BCM2711</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CPU</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Quad-core ARM Cortex-A72 (ARMv8-A, 64-bit)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Clock</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1.5 GHz (base)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Crypto ext.</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Not present (OPENSSL_armcap = 0x81)</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L1 cache</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32 KB I + 32 KB D per core</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L2 cache</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1 MB shared</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RAM</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LPDDR4</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100" b="1">
                          <a:solidFill>
                            <a:srgbClr val="64748B"/>
                          </a:solidFill>
                          <a:latin typeface="Consolas" pitchFamily="34" charset="0"/>
                          <a:ea typeface="Consolas" pitchFamily="34" charset="-122"/>
                          <a:cs typeface="Consolas" pitchFamily="34" charset="-120"/>
                        </a:rPr>
                        <a:t>OS</a:t>
                      </a:r>
                      <a:endParaRPr lang="en-US" sz="110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F172A"/>
                          </a:solidFill>
                          <a:latin typeface="Calibri" pitchFamily="34" charset="0"/>
                          <a:ea typeface="Calibri" pitchFamily="34" charset="-122"/>
                          <a:cs typeface="Calibri" pitchFamily="34" charset="-120"/>
                        </a:rPr>
                        <a:t>Raspberry Pi OS (Debian-based, 64-bit)</a:t>
                      </a:r>
                      <a:endParaRPr lang="en-US" sz="110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1" name="Shape 8"/>
          <p:cNvSpPr/>
          <p:nvPr/>
        </p:nvSpPr>
        <p:spPr>
          <a:xfrm>
            <a:off x="6355080" y="1645920"/>
            <a:ext cx="5257800" cy="22402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sp>
      <p:sp>
        <p:nvSpPr>
          <p:cNvPr id="12" name="Shape 9"/>
          <p:cNvSpPr/>
          <p:nvPr/>
        </p:nvSpPr>
        <p:spPr>
          <a:xfrm>
            <a:off x="6355080" y="1645920"/>
            <a:ext cx="91440" cy="2240280"/>
          </a:xfrm>
          <a:prstGeom prst="rect">
            <a:avLst/>
          </a:prstGeom>
          <a:solidFill>
            <a:srgbClr val="F59E0B"/>
          </a:solidFill>
          <a:ln w="12700">
            <a:solidFill>
              <a:srgbClr val="F59E0B"/>
            </a:solidFill>
            <a:prstDash val="solid"/>
          </a:ln>
        </p:spPr>
      </p:sp>
      <p:sp>
        <p:nvSpPr>
          <p:cNvPr id="13" name="Text 10"/>
          <p:cNvSpPr/>
          <p:nvPr/>
        </p:nvSpPr>
        <p:spPr>
          <a:xfrm>
            <a:off x="6583680" y="1783080"/>
            <a:ext cx="4572000" cy="274320"/>
          </a:xfrm>
          <a:prstGeom prst="rect">
            <a:avLst/>
          </a:prstGeom>
          <a:noFill/>
          <a:ln/>
        </p:spPr>
        <p:txBody>
          <a:bodyPr wrap="square" lIns="0" tIns="0" rIns="0" bIns="0" rtlCol="0" anchor="ctr"/>
          <a:lstStyle/>
          <a:p>
            <a:pPr marL="0" indent="0">
              <a:buNone/>
            </a:pPr>
            <a:r>
              <a:rPr lang="en-US" sz="1000" b="1" kern="0" spc="300">
                <a:solidFill>
                  <a:srgbClr val="F59E0B"/>
                </a:solidFill>
                <a:latin typeface="Consolas" pitchFamily="34" charset="0"/>
                <a:ea typeface="Consolas" pitchFamily="34" charset="-122"/>
                <a:cs typeface="Consolas" pitchFamily="34" charset="-120"/>
              </a:rPr>
              <a:t>POWER</a:t>
            </a:r>
            <a:endParaRPr lang="en-US" sz="1000"/>
          </a:p>
        </p:txBody>
      </p:sp>
      <p:sp>
        <p:nvSpPr>
          <p:cNvPr id="14" name="Text 11"/>
          <p:cNvSpPr/>
          <p:nvPr/>
        </p:nvSpPr>
        <p:spPr>
          <a:xfrm>
            <a:off x="6583680" y="2057400"/>
            <a:ext cx="4572000" cy="411480"/>
          </a:xfrm>
          <a:prstGeom prst="rect">
            <a:avLst/>
          </a:prstGeom>
          <a:noFill/>
          <a:ln/>
        </p:spPr>
        <p:txBody>
          <a:bodyPr wrap="square" lIns="0" tIns="0" rIns="0" bIns="0" rtlCol="0" anchor="ctr"/>
          <a:lstStyle/>
          <a:p>
            <a:pPr marL="0" indent="0">
              <a:buNone/>
            </a:pPr>
            <a:r>
              <a:rPr lang="en-US" sz="1800" b="1">
                <a:solidFill>
                  <a:srgbClr val="0F172A"/>
                </a:solidFill>
                <a:latin typeface="Calibri" pitchFamily="34" charset="0"/>
                <a:ea typeface="Calibri" pitchFamily="34" charset="-122"/>
                <a:cs typeface="Calibri" pitchFamily="34" charset="-120"/>
              </a:rPr>
              <a:t>DC Bench Supply</a:t>
            </a:r>
            <a:endParaRPr lang="en-US" sz="1800"/>
          </a:p>
        </p:txBody>
      </p:sp>
      <p:sp>
        <p:nvSpPr>
          <p:cNvPr id="15" name="Text 12"/>
          <p:cNvSpPr/>
          <p:nvPr/>
        </p:nvSpPr>
        <p:spPr>
          <a:xfrm>
            <a:off x="6583680" y="2514600"/>
            <a:ext cx="4937760" cy="1280160"/>
          </a:xfrm>
          <a:prstGeom prst="rect">
            <a:avLst/>
          </a:prstGeom>
          <a:noFill/>
          <a:ln/>
        </p:spPr>
        <p:txBody>
          <a:bodyPr wrap="square" lIns="0" tIns="0" rIns="0" bIns="0" rtlCol="0" anchor="ctr"/>
          <a:lstStyle/>
          <a:p>
            <a:pPr marL="0" indent="0">
              <a:buNone/>
            </a:pPr>
            <a:r>
              <a:rPr lang="en-US" sz="1200">
                <a:solidFill>
                  <a:srgbClr val="0F172A"/>
                </a:solidFill>
                <a:latin typeface="Calibri"/>
                <a:ea typeface="Calibri"/>
                <a:cs typeface="Calibri"/>
              </a:rPr>
              <a:t>Constant 5.0 V feed with live current and voltage monitoring, lets us correlate workload to power draw and confirm the board is not browning out under load.</a:t>
            </a:r>
            <a:endParaRPr lang="en-US" sz="1200">
              <a:latin typeface="Calibri"/>
              <a:ea typeface="Calibri"/>
              <a:cs typeface="Calibri"/>
            </a:endParaRPr>
          </a:p>
        </p:txBody>
      </p:sp>
      <p:sp>
        <p:nvSpPr>
          <p:cNvPr id="16" name="Shape 13"/>
          <p:cNvSpPr/>
          <p:nvPr/>
        </p:nvSpPr>
        <p:spPr>
          <a:xfrm>
            <a:off x="6355080" y="4069080"/>
            <a:ext cx="5257800" cy="22402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sp>
      <p:sp>
        <p:nvSpPr>
          <p:cNvPr id="17" name="Shape 14"/>
          <p:cNvSpPr/>
          <p:nvPr/>
        </p:nvSpPr>
        <p:spPr>
          <a:xfrm>
            <a:off x="6355080" y="4069080"/>
            <a:ext cx="91440" cy="2240280"/>
          </a:xfrm>
          <a:prstGeom prst="rect">
            <a:avLst/>
          </a:prstGeom>
          <a:solidFill>
            <a:srgbClr val="14B8A6"/>
          </a:solidFill>
          <a:ln w="12700">
            <a:solidFill>
              <a:srgbClr val="14B8A6"/>
            </a:solidFill>
            <a:prstDash val="solid"/>
          </a:ln>
        </p:spPr>
      </p:sp>
      <p:sp>
        <p:nvSpPr>
          <p:cNvPr id="18" name="Text 15"/>
          <p:cNvSpPr/>
          <p:nvPr/>
        </p:nvSpPr>
        <p:spPr>
          <a:xfrm>
            <a:off x="6583680" y="4206240"/>
            <a:ext cx="4572000" cy="274320"/>
          </a:xfrm>
          <a:prstGeom prst="rect">
            <a:avLst/>
          </a:prstGeom>
          <a:noFill/>
          <a:ln/>
        </p:spPr>
        <p:txBody>
          <a:bodyPr wrap="square" lIns="0" tIns="0" rIns="0" bIns="0" rtlCol="0" anchor="ctr"/>
          <a:lstStyle/>
          <a:p>
            <a:pPr marL="0" indent="0">
              <a:buNone/>
            </a:pPr>
            <a:r>
              <a:rPr lang="en-US" sz="1000" b="1" kern="0" spc="300">
                <a:solidFill>
                  <a:srgbClr val="0D9488"/>
                </a:solidFill>
                <a:latin typeface="Consolas" pitchFamily="34" charset="0"/>
                <a:ea typeface="Consolas" pitchFamily="34" charset="-122"/>
                <a:cs typeface="Consolas" pitchFamily="34" charset="-120"/>
              </a:rPr>
              <a:t>COOLING</a:t>
            </a:r>
            <a:endParaRPr lang="en-US" sz="1000"/>
          </a:p>
        </p:txBody>
      </p:sp>
      <p:sp>
        <p:nvSpPr>
          <p:cNvPr id="19" name="Text 16"/>
          <p:cNvSpPr/>
          <p:nvPr/>
        </p:nvSpPr>
        <p:spPr>
          <a:xfrm>
            <a:off x="6583680" y="4480560"/>
            <a:ext cx="4572000" cy="411480"/>
          </a:xfrm>
          <a:prstGeom prst="rect">
            <a:avLst/>
          </a:prstGeom>
          <a:noFill/>
          <a:ln/>
        </p:spPr>
        <p:txBody>
          <a:bodyPr wrap="square" lIns="0" tIns="0" rIns="0" bIns="0" rtlCol="0" anchor="ctr"/>
          <a:lstStyle/>
          <a:p>
            <a:pPr marL="0" indent="0">
              <a:buNone/>
            </a:pPr>
            <a:r>
              <a:rPr lang="en-US" sz="1800" b="1">
                <a:solidFill>
                  <a:srgbClr val="0F172A"/>
                </a:solidFill>
                <a:latin typeface="Calibri" pitchFamily="34" charset="0"/>
                <a:ea typeface="Calibri" pitchFamily="34" charset="-122"/>
                <a:cs typeface="Calibri" pitchFamily="34" charset="-120"/>
              </a:rPr>
              <a:t>Active CPU Fan</a:t>
            </a:r>
            <a:endParaRPr lang="en-US" sz="1800"/>
          </a:p>
        </p:txBody>
      </p:sp>
      <p:sp>
        <p:nvSpPr>
          <p:cNvPr id="20" name="Text 17"/>
          <p:cNvSpPr/>
          <p:nvPr/>
        </p:nvSpPr>
        <p:spPr>
          <a:xfrm>
            <a:off x="6583680" y="4937760"/>
            <a:ext cx="4937760" cy="1280160"/>
          </a:xfrm>
          <a:prstGeom prst="rect">
            <a:avLst/>
          </a:prstGeom>
          <a:noFill/>
          <a:ln/>
        </p:spPr>
        <p:txBody>
          <a:bodyPr wrap="square" lIns="0" tIns="0" rIns="0" bIns="0" rtlCol="0" anchor="ctr"/>
          <a:lstStyle/>
          <a:p>
            <a:pPr marL="0" indent="0">
              <a:buNone/>
            </a:pPr>
            <a:r>
              <a:rPr lang="en-US" sz="1200">
                <a:solidFill>
                  <a:srgbClr val="0F172A"/>
                </a:solidFill>
                <a:latin typeface="Calibri" pitchFamily="34" charset="0"/>
                <a:ea typeface="Calibri" pitchFamily="34" charset="-122"/>
                <a:cs typeface="Calibri" pitchFamily="34" charset="-120"/>
              </a:rPr>
              <a:t>Prevents thermal throttling during sustained runs.  Measured range across all nine benchmarks: 43.3 °C → 61.8 °C.  Pi 4 throttles at ~80 °C, so results are not contaminated.</a:t>
            </a:r>
            <a:endParaRPr lang="en-US" sz="1200"/>
          </a:p>
        </p:txBody>
      </p:sp>
      <p:sp>
        <p:nvSpPr>
          <p:cNvPr id="22" name="Text 19"/>
          <p:cNvSpPr/>
          <p:nvPr/>
        </p:nvSpPr>
        <p:spPr>
          <a:xfrm>
            <a:off x="11430000" y="6492240"/>
            <a:ext cx="457200" cy="274320"/>
          </a:xfrm>
          <a:prstGeom prst="rect">
            <a:avLst/>
          </a:prstGeom>
          <a:noFill/>
          <a:ln/>
        </p:spPr>
        <p:txBody>
          <a:bodyPr wrap="square" lIns="0" tIns="0" rIns="0" bIns="0" rtlCol="0" anchor="ctr"/>
          <a:lstStyle/>
          <a:p>
            <a:pPr marL="0" indent="0" algn="r">
              <a:buNone/>
            </a:pPr>
            <a:endParaRPr lang="en-US" sz="1000">
              <a:solidFill>
                <a:srgbClr val="64748B"/>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txBody>
          <a:bodyPr/>
          <a:lstStyle/>
          <a:p>
            <a:endParaRPr lang="en-US"/>
          </a:p>
        </p:txBody>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Software Stack &amp; Versions</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txBody>
          <a:bodyPr/>
          <a:lstStyle/>
          <a:p>
            <a:endParaRPr lang="en-US"/>
          </a:p>
        </p:txBody>
      </p:sp>
      <p:sp>
        <p:nvSpPr>
          <p:cNvPr id="6" name="Text 4"/>
          <p:cNvSpPr/>
          <p:nvPr/>
        </p:nvSpPr>
        <p:spPr>
          <a:xfrm>
            <a:off x="548640" y="1600200"/>
            <a:ext cx="11064240" cy="640080"/>
          </a:xfrm>
          <a:prstGeom prst="rect">
            <a:avLst/>
          </a:prstGeom>
          <a:noFill/>
          <a:ln/>
        </p:spPr>
        <p:txBody>
          <a:bodyPr wrap="square" lIns="0" tIns="0" rIns="0" bIns="0" rtlCol="0" anchor="ctr"/>
          <a:lstStyle/>
          <a:p>
            <a:r>
              <a:rPr lang="en-US" sz="1300">
                <a:solidFill>
                  <a:srgbClr val="64748B"/>
                </a:solidFill>
                <a:latin typeface="Calibri"/>
                <a:ea typeface="Calibri"/>
                <a:cs typeface="Calibri"/>
              </a:rPr>
              <a:t>Every benchmark run reports the OpenSSL build details and compiler flags. The stack below was held constant across all nine runs, so no package changes, no reboots, no alternate toolchains, no mismatched versions. Therefore, any differences in the data come from the actual benchmark itself. </a:t>
            </a:r>
            <a:endParaRPr lang="en-US" sz="1300">
              <a:latin typeface="Calibri"/>
              <a:ea typeface="Calibri"/>
              <a:cs typeface="Calibri"/>
            </a:endParaRPr>
          </a:p>
        </p:txBody>
      </p:sp>
      <p:graphicFrame>
        <p:nvGraphicFramePr>
          <p:cNvPr id="7" name="Table 0"/>
          <p:cNvGraphicFramePr>
            <a:graphicFrameLocks noGrp="1"/>
          </p:cNvGraphicFramePr>
          <p:nvPr>
            <p:extLst>
              <p:ext uri="{D42A27DB-BD31-4B8C-83A1-F6EECF244321}">
                <p14:modId xmlns:p14="http://schemas.microsoft.com/office/powerpoint/2010/main" val="1005138690"/>
              </p:ext>
            </p:extLst>
          </p:nvPr>
        </p:nvGraphicFramePr>
        <p:xfrm>
          <a:off x="548640" y="2423160"/>
          <a:ext cx="11064240" cy="3511296"/>
        </p:xfrm>
        <a:graphic>
          <a:graphicData uri="http://schemas.openxmlformats.org/drawingml/2006/table">
            <a:tbl>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38912">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COMPONENT</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VERSION</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ROLE</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38912">
                <a:tc>
                  <a:txBody>
                    <a:bodyPr/>
                    <a:lstStyle/>
                    <a:p>
                      <a:pPr marL="0" indent="0">
                        <a:buNone/>
                      </a:pPr>
                      <a:r>
                        <a:rPr lang="en-US" sz="1100" b="1">
                          <a:solidFill>
                            <a:srgbClr val="0F172A"/>
                          </a:solidFill>
                          <a:latin typeface="Calibri" pitchFamily="34" charset="0"/>
                          <a:ea typeface="Calibri" pitchFamily="34" charset="-122"/>
                          <a:cs typeface="Calibri" pitchFamily="34" charset="-120"/>
                        </a:rPr>
                        <a:t>Raspberry Pi OS</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D9488"/>
                          </a:solidFill>
                          <a:latin typeface="Consolas" pitchFamily="34" charset="0"/>
                          <a:ea typeface="Consolas" pitchFamily="34" charset="-122"/>
                          <a:cs typeface="Consolas" pitchFamily="34" charset="-120"/>
                        </a:rPr>
                        <a:t>64-bit, Debian 12 (Bookworm)</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64748B"/>
                          </a:solidFill>
                          <a:latin typeface="Calibri" pitchFamily="34" charset="0"/>
                          <a:ea typeface="Calibri" pitchFamily="34" charset="-122"/>
                          <a:cs typeface="Calibri" pitchFamily="34" charset="-120"/>
                        </a:rPr>
                        <a:t>Host operating system</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b="1">
                          <a:solidFill>
                            <a:srgbClr val="0F172A"/>
                          </a:solidFill>
                          <a:latin typeface="Calibri" pitchFamily="34" charset="0"/>
                          <a:ea typeface="Calibri" pitchFamily="34" charset="-122"/>
                          <a:cs typeface="Calibri" pitchFamily="34" charset="-120"/>
                        </a:rPr>
                        <a:t>Linux kernel</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0D9488"/>
                          </a:solidFill>
                          <a:latin typeface="Consolas"/>
                          <a:ea typeface="Consolas" pitchFamily="34" charset="-122"/>
                          <a:cs typeface="Consolas" pitchFamily="34" charset="-120"/>
                        </a:rPr>
                        <a:t>aarch64</a:t>
                      </a:r>
                      <a:endParaRPr lang="en-US" sz="1100">
                        <a:latin typeface="Consolas"/>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64748B"/>
                          </a:solidFill>
                          <a:latin typeface="Calibri" pitchFamily="34" charset="0"/>
                          <a:ea typeface="Calibri" pitchFamily="34" charset="-122"/>
                          <a:cs typeface="Calibri" pitchFamily="34" charset="-120"/>
                        </a:rPr>
                        <a:t>perf_event subsystem / cycle counters</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38912">
                <a:tc>
                  <a:txBody>
                    <a:bodyPr/>
                    <a:lstStyle/>
                    <a:p>
                      <a:pPr marL="0" indent="0">
                        <a:buNone/>
                      </a:pPr>
                      <a:r>
                        <a:rPr lang="en-US" sz="1100" b="1">
                          <a:solidFill>
                            <a:srgbClr val="0F172A"/>
                          </a:solidFill>
                          <a:latin typeface="Calibri" pitchFamily="34" charset="0"/>
                          <a:ea typeface="Calibri" pitchFamily="34" charset="-122"/>
                          <a:cs typeface="Calibri" pitchFamily="34" charset="-120"/>
                        </a:rPr>
                        <a:t>OpenSSL</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D9488"/>
                          </a:solidFill>
                          <a:latin typeface="Consolas"/>
                          <a:ea typeface="Consolas" pitchFamily="34" charset="-122"/>
                          <a:cs typeface="Consolas" pitchFamily="34" charset="-120"/>
                        </a:rPr>
                        <a:t>3.0.19  </a:t>
                      </a:r>
                      <a:endParaRPr lang="en-US" sz="1100">
                        <a:latin typeface="Consolas"/>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64748B"/>
                          </a:solidFill>
                          <a:latin typeface="Calibri"/>
                          <a:ea typeface="Calibri"/>
                          <a:cs typeface="Calibri"/>
                        </a:rPr>
                        <a:t>Secure Sockets Layer, with dedicated algorithm testing tools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b="1">
                          <a:solidFill>
                            <a:srgbClr val="0F172A"/>
                          </a:solidFill>
                          <a:latin typeface="Calibri"/>
                          <a:ea typeface="Calibri"/>
                          <a:cs typeface="Calibri"/>
                        </a:rPr>
                        <a:t>perf</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0D9488"/>
                          </a:solidFill>
                          <a:latin typeface="Consolas"/>
                          <a:ea typeface="Consolas" pitchFamily="34" charset="-122"/>
                          <a:cs typeface="Consolas" pitchFamily="34" charset="-120"/>
                        </a:rPr>
                        <a:t>6.12.75  </a:t>
                      </a:r>
                      <a:endParaRPr lang="en-US" sz="1100">
                        <a:latin typeface="Consolas"/>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64748B"/>
                          </a:solidFill>
                          <a:latin typeface="Calibri"/>
                          <a:ea typeface="Calibri"/>
                          <a:cs typeface="Calibri"/>
                        </a:rPr>
                        <a:t>Linux profiler to get cycles and instructions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38912">
                <a:tc>
                  <a:txBody>
                    <a:bodyPr/>
                    <a:lstStyle/>
                    <a:p>
                      <a:pPr marL="0" indent="0">
                        <a:buNone/>
                      </a:pPr>
                      <a:r>
                        <a:rPr lang="en-US" sz="1100" b="1">
                          <a:solidFill>
                            <a:srgbClr val="0F172A"/>
                          </a:solidFill>
                          <a:latin typeface="Calibri"/>
                          <a:ea typeface="Calibri"/>
                          <a:cs typeface="Calibri"/>
                        </a:rPr>
                        <a:t>perf-event-paranoid</a:t>
                      </a:r>
                      <a:endParaRPr lang="en-US" sz="1100">
                        <a:latin typeface="Calibri"/>
                        <a:ea typeface="Calibri"/>
                        <a:cs typeface="Calibri"/>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D9488"/>
                          </a:solidFill>
                          <a:latin typeface="Consolas"/>
                          <a:ea typeface="Consolas" charset="0"/>
                          <a:cs typeface="Consolas" charset="0"/>
                        </a:rPr>
                        <a:t>-1 value instead of 1 or 2</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64748B"/>
                          </a:solidFill>
                          <a:latin typeface="Calibri"/>
                          <a:ea typeface="Calibri"/>
                          <a:cs typeface="Calibri"/>
                        </a:rPr>
                        <a:t>Enables full access to capture kernel-level data</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b="1">
                          <a:solidFill>
                            <a:srgbClr val="0F172A"/>
                          </a:solidFill>
                          <a:latin typeface="Calibri" pitchFamily="34" charset="0"/>
                          <a:ea typeface="Calibri" pitchFamily="34" charset="-122"/>
                          <a:cs typeface="Calibri" pitchFamily="34" charset="-120"/>
                        </a:rPr>
                        <a:t>vcgencmd</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0D9488"/>
                          </a:solidFill>
                          <a:latin typeface="Consolas" pitchFamily="34" charset="0"/>
                          <a:ea typeface="Consolas" pitchFamily="34" charset="-122"/>
                          <a:cs typeface="Consolas" pitchFamily="34" charset="-120"/>
                        </a:rPr>
                        <a:t>Raspberry Pi firmware utility</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64748B"/>
                          </a:solidFill>
                          <a:latin typeface="Calibri" pitchFamily="34" charset="0"/>
                          <a:ea typeface="Calibri" pitchFamily="34" charset="-122"/>
                          <a:cs typeface="Calibri" pitchFamily="34" charset="-120"/>
                        </a:rPr>
                        <a:t>CPU temperature probe between runs</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438912">
                <a:tc>
                  <a:txBody>
                    <a:bodyPr/>
                    <a:lstStyle/>
                    <a:p>
                      <a:pPr marL="0" indent="0">
                        <a:buNone/>
                      </a:pPr>
                      <a:r>
                        <a:rPr lang="en-US" sz="1100" b="1">
                          <a:solidFill>
                            <a:srgbClr val="0F172A"/>
                          </a:solidFill>
                          <a:latin typeface="Calibri"/>
                          <a:ea typeface="Calibri"/>
                          <a:cs typeface="Calibri"/>
                        </a:rPr>
                        <a:t>Python</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D9488"/>
                          </a:solidFill>
                          <a:latin typeface="Consolas"/>
                          <a:ea typeface="Consolas" charset="0"/>
                          <a:cs typeface="Consolas" charset="0"/>
                        </a:rPr>
                        <a:t>3.11.2</a:t>
                      </a:r>
                      <a:endParaRPr lang="en-US" sz="1100">
                        <a:latin typeface="Consolas"/>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64748B"/>
                          </a:solidFill>
                          <a:latin typeface="Calibri"/>
                          <a:ea typeface="Calibri"/>
                          <a:cs typeface="Calibri"/>
                        </a:rPr>
                        <a:t>Exact version used for our code</a:t>
                      </a:r>
                      <a:endParaRPr lang="en-US" sz="11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36E8C295-7604-8864-250D-16DF84A9DA6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46A4BD-ACBB-ECC8-35F5-F5D12BACAAAF}"/>
              </a:ext>
            </a:extLst>
          </p:cNvPr>
          <p:cNvSpPr/>
          <p:nvPr/>
        </p:nvSpPr>
        <p:spPr>
          <a:xfrm>
            <a:off x="0" y="0"/>
            <a:ext cx="12161520" cy="109728"/>
          </a:xfrm>
          <a:prstGeom prst="rect">
            <a:avLst/>
          </a:prstGeom>
          <a:solidFill>
            <a:srgbClr val="14B8A6"/>
          </a:solidFill>
          <a:ln w="12700">
            <a:solidFill>
              <a:srgbClr val="14B8A6"/>
            </a:solidFill>
            <a:prstDash val="solid"/>
          </a:ln>
        </p:spPr>
        <p:txBody>
          <a:bodyPr/>
          <a:lstStyle/>
          <a:p>
            <a:endParaRPr lang="en-US"/>
          </a:p>
        </p:txBody>
      </p:sp>
      <p:sp>
        <p:nvSpPr>
          <p:cNvPr id="4" name="Text 2">
            <a:extLst>
              <a:ext uri="{FF2B5EF4-FFF2-40B4-BE49-F238E27FC236}">
                <a16:creationId xmlns:a16="http://schemas.microsoft.com/office/drawing/2014/main" id="{6A632C6F-2CEC-E113-A6D6-4BAC034780A1}"/>
              </a:ext>
            </a:extLst>
          </p:cNvPr>
          <p:cNvSpPr/>
          <p:nvPr/>
        </p:nvSpPr>
        <p:spPr>
          <a:xfrm>
            <a:off x="548640" y="594360"/>
            <a:ext cx="10972800" cy="731520"/>
          </a:xfrm>
          <a:prstGeom prst="rect">
            <a:avLst/>
          </a:prstGeom>
          <a:noFill/>
          <a:ln/>
        </p:spPr>
        <p:txBody>
          <a:bodyPr wrap="square" lIns="0" tIns="0" rIns="0" bIns="0" rtlCol="0" anchor="ctr"/>
          <a:lstStyle/>
          <a:p>
            <a:r>
              <a:rPr lang="en-US" sz="3200" b="1">
                <a:solidFill>
                  <a:srgbClr val="0F172A"/>
                </a:solidFill>
                <a:latin typeface="Calibri"/>
                <a:ea typeface="Calibri"/>
                <a:cs typeface="Calibri"/>
              </a:rPr>
              <a:t>Additional Measures + Features</a:t>
            </a:r>
            <a:endParaRPr lang="en-US"/>
          </a:p>
        </p:txBody>
      </p:sp>
      <p:sp>
        <p:nvSpPr>
          <p:cNvPr id="5" name="Shape 3">
            <a:extLst>
              <a:ext uri="{FF2B5EF4-FFF2-40B4-BE49-F238E27FC236}">
                <a16:creationId xmlns:a16="http://schemas.microsoft.com/office/drawing/2014/main" id="{02157D37-78CB-FA4D-6C4F-4EB523C74A11}"/>
              </a:ext>
            </a:extLst>
          </p:cNvPr>
          <p:cNvSpPr/>
          <p:nvPr/>
        </p:nvSpPr>
        <p:spPr>
          <a:xfrm>
            <a:off x="548640" y="1371600"/>
            <a:ext cx="1097280" cy="0"/>
          </a:xfrm>
          <a:prstGeom prst="line">
            <a:avLst/>
          </a:prstGeom>
          <a:noFill/>
          <a:ln w="31750">
            <a:solidFill>
              <a:srgbClr val="14B8A6"/>
            </a:solidFill>
            <a:prstDash val="solid"/>
          </a:ln>
        </p:spPr>
        <p:txBody>
          <a:bodyPr/>
          <a:lstStyle/>
          <a:p>
            <a:endParaRPr lang="en-US"/>
          </a:p>
        </p:txBody>
      </p:sp>
      <p:graphicFrame>
        <p:nvGraphicFramePr>
          <p:cNvPr id="7" name="Table 0">
            <a:extLst>
              <a:ext uri="{FF2B5EF4-FFF2-40B4-BE49-F238E27FC236}">
                <a16:creationId xmlns:a16="http://schemas.microsoft.com/office/drawing/2014/main" id="{93648640-CB4B-E1AB-0CDA-16B03F3C1A95}"/>
              </a:ext>
            </a:extLst>
          </p:cNvPr>
          <p:cNvGraphicFramePr>
            <a:graphicFrameLocks noGrp="1"/>
          </p:cNvGraphicFramePr>
          <p:nvPr>
            <p:extLst>
              <p:ext uri="{D42A27DB-BD31-4B8C-83A1-F6EECF244321}">
                <p14:modId xmlns:p14="http://schemas.microsoft.com/office/powerpoint/2010/main" val="2387400149"/>
              </p:ext>
            </p:extLst>
          </p:nvPr>
        </p:nvGraphicFramePr>
        <p:xfrm>
          <a:off x="548640" y="1661160"/>
          <a:ext cx="11064240" cy="1532888"/>
        </p:xfrm>
        <a:graphic>
          <a:graphicData uri="http://schemas.openxmlformats.org/drawingml/2006/table">
            <a:tbl>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83222">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COMPONENT</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VERSION</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ROLE</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83222">
                <a:tc>
                  <a:txBody>
                    <a:bodyPr/>
                    <a:lstStyle/>
                    <a:p>
                      <a:pPr marL="0" lvl="0" indent="0">
                        <a:buNone/>
                      </a:pPr>
                      <a:r>
                        <a:rPr lang="en-US" sz="1100" b="1">
                          <a:solidFill>
                            <a:srgbClr val="0F172A"/>
                          </a:solidFill>
                          <a:latin typeface="Calibri"/>
                          <a:ea typeface="Calibri"/>
                          <a:cs typeface="Calibri"/>
                        </a:rPr>
                        <a:t>INA219 Current/Voltage Meter</a:t>
                      </a:r>
                      <a:endParaRPr lang="en-US"/>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0D9488"/>
                          </a:solidFill>
                          <a:latin typeface="Consolas"/>
                          <a:ea typeface="Consolas" charset="0"/>
                          <a:cs typeface="Consolas" charset="0"/>
                        </a:rPr>
                        <a:t>INA219 Off-Board Chip</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a:solidFill>
                            <a:srgbClr val="64748B"/>
                          </a:solidFill>
                          <a:latin typeface="Calibri"/>
                          <a:ea typeface="Calibri"/>
                          <a:cs typeface="Calibri"/>
                        </a:rPr>
                        <a:t>Curious to see power readings in between tests (NOT DURING)</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3222">
                <a:tc>
                  <a:txBody>
                    <a:bodyPr/>
                    <a:lstStyle/>
                    <a:p>
                      <a:pPr marL="0" lvl="0" indent="0">
                        <a:buNone/>
                      </a:pPr>
                      <a:r>
                        <a:rPr lang="en-US" sz="1100" b="1">
                          <a:solidFill>
                            <a:srgbClr val="0F172A"/>
                          </a:solidFill>
                          <a:latin typeface="Calibri"/>
                          <a:ea typeface="Calibri"/>
                          <a:cs typeface="Calibri"/>
                        </a:rPr>
                        <a:t>Power Supply</a:t>
                      </a:r>
                      <a:endParaRPr lang="en-US"/>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lvl="0" indent="0">
                        <a:buNone/>
                      </a:pPr>
                      <a:r>
                        <a:rPr lang="en-US" sz="1100">
                          <a:solidFill>
                            <a:srgbClr val="0D9488"/>
                          </a:solidFill>
                          <a:latin typeface="Consolas"/>
                        </a:rPr>
                        <a:t>Stable +5V</a:t>
                      </a:r>
                      <a:endParaRPr lang="en-US"/>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64748B"/>
                          </a:solidFill>
                          <a:latin typeface="Calibri"/>
                          <a:ea typeface="Calibri"/>
                          <a:cs typeface="Calibri"/>
                        </a:rPr>
                        <a:t>D.C Power Supply Used to Ensure Constant Voltage</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3222">
                <a:tc>
                  <a:txBody>
                    <a:bodyPr/>
                    <a:lstStyle/>
                    <a:p>
                      <a:pPr marL="0" lvl="0" indent="0">
                        <a:buNone/>
                      </a:pPr>
                      <a:r>
                        <a:rPr lang="en-US" sz="1100" b="1">
                          <a:solidFill>
                            <a:srgbClr val="0F172A"/>
                          </a:solidFill>
                          <a:latin typeface="Calibri"/>
                          <a:ea typeface="Calibri"/>
                          <a:cs typeface="Calibri"/>
                        </a:rPr>
                        <a:t>Raspberry Pi Fan</a:t>
                      </a:r>
                      <a:endParaRPr lang="en-US"/>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lvl="0" indent="0">
                        <a:buNone/>
                      </a:pPr>
                      <a:r>
                        <a:rPr lang="en-US" sz="1100">
                          <a:solidFill>
                            <a:srgbClr val="0D9488"/>
                          </a:solidFill>
                          <a:latin typeface="Consolas"/>
                        </a:rPr>
                        <a:t>+5V &lt;200mA</a:t>
                      </a:r>
                      <a:endParaRPr lang="en-US"/>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lvl="0" indent="0">
                        <a:buNone/>
                      </a:pPr>
                      <a:r>
                        <a:rPr lang="en-US" sz="1100">
                          <a:solidFill>
                            <a:srgbClr val="64748B"/>
                          </a:solidFill>
                          <a:latin typeface="Calibri"/>
                          <a:ea typeface="Calibri"/>
                          <a:cs typeface="Calibri"/>
                        </a:rPr>
                        <a:t>Repeated tests </a:t>
                      </a:r>
                      <a:r>
                        <a:rPr lang="en-US" sz="1100" err="1">
                          <a:solidFill>
                            <a:srgbClr val="64748B"/>
                          </a:solidFill>
                          <a:latin typeface="Calibri"/>
                          <a:ea typeface="Calibri"/>
                          <a:cs typeface="Calibri"/>
                        </a:rPr>
                        <a:t>with&amp;without</a:t>
                      </a:r>
                      <a:r>
                        <a:rPr lang="en-US" sz="1100">
                          <a:solidFill>
                            <a:srgbClr val="64748B"/>
                          </a:solidFill>
                          <a:latin typeface="Calibri"/>
                          <a:ea typeface="Calibri"/>
                          <a:cs typeface="Calibri"/>
                        </a:rPr>
                        <a:t> proved the fan was helpful for temps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02151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txBody>
          <a:bodyPr/>
          <a:lstStyle/>
          <a:p>
            <a:endParaRPr lang="en-US"/>
          </a:p>
        </p:txBody>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Raw Benchmark Output</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txBody>
          <a:bodyPr/>
          <a:lstStyle/>
          <a:p>
            <a:endParaRPr lang="en-US"/>
          </a:p>
        </p:txBody>
      </p:sp>
      <p:sp>
        <p:nvSpPr>
          <p:cNvPr id="6" name="Text 4"/>
          <p:cNvSpPr/>
          <p:nvPr/>
        </p:nvSpPr>
        <p:spPr>
          <a:xfrm>
            <a:off x="548640" y="1600200"/>
            <a:ext cx="11064240" cy="457200"/>
          </a:xfrm>
          <a:prstGeom prst="rect">
            <a:avLst/>
          </a:prstGeom>
          <a:noFill/>
          <a:ln/>
        </p:spPr>
        <p:txBody>
          <a:bodyPr wrap="square" lIns="0" tIns="0" rIns="0" bIns="0" rtlCol="0" anchor="ctr"/>
          <a:lstStyle/>
          <a:p>
            <a:r>
              <a:rPr lang="en-US" sz="1200">
                <a:solidFill>
                  <a:srgbClr val="64748B"/>
                </a:solidFill>
                <a:latin typeface="Calibri"/>
                <a:ea typeface="Calibri"/>
                <a:cs typeface="Calibri"/>
              </a:rPr>
              <a:t>Representative session — one run per (key size × mode).  Each invocation is wrapped in perf stat to capture cycles and instructions alongside OpenSSL's throughput table. </a:t>
            </a:r>
            <a:br>
              <a:rPr lang="en-US" sz="1200">
                <a:solidFill>
                  <a:srgbClr val="64748B"/>
                </a:solidFill>
                <a:latin typeface="Calibri"/>
                <a:ea typeface="Calibri"/>
                <a:cs typeface="Calibri"/>
              </a:rPr>
            </a:br>
            <a:r>
              <a:rPr lang="en-US" sz="1200" err="1">
                <a:solidFill>
                  <a:srgbClr val="64748B"/>
                </a:solidFill>
                <a:latin typeface="Calibri"/>
                <a:ea typeface="Calibri"/>
                <a:cs typeface="Calibri"/>
              </a:rPr>
              <a:t>i.e</a:t>
            </a:r>
            <a:r>
              <a:rPr lang="en-US" sz="1200">
                <a:solidFill>
                  <a:srgbClr val="64748B"/>
                </a:solidFill>
                <a:latin typeface="Calibri"/>
                <a:ea typeface="Calibri"/>
                <a:cs typeface="Calibri"/>
              </a:rPr>
              <a:t> AES-128-CBC.  The pictures below </a:t>
            </a:r>
            <a:r>
              <a:rPr lang="en-US" sz="1200" err="1">
                <a:solidFill>
                  <a:srgbClr val="64748B"/>
                </a:solidFill>
                <a:latin typeface="Calibri"/>
                <a:ea typeface="Calibri"/>
                <a:cs typeface="Calibri"/>
              </a:rPr>
              <a:t>sh</a:t>
            </a:r>
            <a:r>
              <a:rPr lang="en-US" sz="1200">
                <a:solidFill>
                  <a:srgbClr val="64748B"/>
                </a:solidFill>
                <a:latin typeface="Calibri"/>
                <a:ea typeface="Calibri"/>
                <a:cs typeface="Calibri"/>
              </a:rPr>
              <a:t>ow two different runs using same command, the picture on </a:t>
            </a:r>
            <a:r>
              <a:rPr lang="en-US" sz="1200" err="1">
                <a:solidFill>
                  <a:srgbClr val="64748B"/>
                </a:solidFill>
                <a:latin typeface="Calibri"/>
                <a:ea typeface="Calibri"/>
                <a:cs typeface="Calibri"/>
              </a:rPr>
              <a:t>th</a:t>
            </a:r>
            <a:r>
              <a:rPr lang="en-US" sz="1200">
                <a:solidFill>
                  <a:srgbClr val="64748B"/>
                </a:solidFill>
                <a:latin typeface="Calibri"/>
                <a:ea typeface="Calibri"/>
                <a:cs typeface="Calibri"/>
              </a:rPr>
              <a:t>e right provides more data as it is output from our script</a:t>
            </a:r>
            <a:endParaRPr lang="en-US" sz="1200"/>
          </a:p>
        </p:txBody>
      </p:sp>
      <p:pic>
        <p:nvPicPr>
          <p:cNvPr id="34" name="Picture 33" descr="A screenshot of a computer program&#10;&#10;AI-generated content may be incorrect.">
            <a:extLst>
              <a:ext uri="{FF2B5EF4-FFF2-40B4-BE49-F238E27FC236}">
                <a16:creationId xmlns:a16="http://schemas.microsoft.com/office/drawing/2014/main" id="{7F0C51A5-D96E-CA03-923C-04209239B5F3}"/>
              </a:ext>
            </a:extLst>
          </p:cNvPr>
          <p:cNvPicPr>
            <a:picLocks noChangeAspect="1"/>
          </p:cNvPicPr>
          <p:nvPr/>
        </p:nvPicPr>
        <p:blipFill>
          <a:blip r:embed="rId3"/>
          <a:stretch>
            <a:fillRect/>
          </a:stretch>
        </p:blipFill>
        <p:spPr>
          <a:xfrm>
            <a:off x="434975" y="2297113"/>
            <a:ext cx="6400800" cy="419417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6014767A-15A6-E249-93B1-32C4F9ACA0B7}"/>
              </a:ext>
            </a:extLst>
          </p:cNvPr>
          <p:cNvPicPr>
            <a:picLocks noChangeAspect="1"/>
          </p:cNvPicPr>
          <p:nvPr/>
        </p:nvPicPr>
        <p:blipFill>
          <a:blip r:embed="rId4"/>
          <a:stretch>
            <a:fillRect/>
          </a:stretch>
        </p:blipFill>
        <p:spPr>
          <a:xfrm>
            <a:off x="5592763" y="2300288"/>
            <a:ext cx="6092825" cy="4187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2C8A8149-5038-C4CA-236A-0A0596D46B6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C657C3-9A82-5A36-F2FC-6E2D1CF8ACA5}"/>
              </a:ext>
            </a:extLst>
          </p:cNvPr>
          <p:cNvSpPr/>
          <p:nvPr/>
        </p:nvSpPr>
        <p:spPr>
          <a:xfrm>
            <a:off x="0" y="0"/>
            <a:ext cx="12161520" cy="109728"/>
          </a:xfrm>
          <a:prstGeom prst="rect">
            <a:avLst/>
          </a:prstGeom>
          <a:solidFill>
            <a:srgbClr val="14B8A6"/>
          </a:solidFill>
          <a:ln w="12700">
            <a:solidFill>
              <a:srgbClr val="14B8A6"/>
            </a:solidFill>
            <a:prstDash val="solid"/>
          </a:ln>
        </p:spPr>
        <p:txBody>
          <a:bodyPr/>
          <a:lstStyle/>
          <a:p>
            <a:endParaRPr lang="en-US"/>
          </a:p>
        </p:txBody>
      </p:sp>
      <p:sp>
        <p:nvSpPr>
          <p:cNvPr id="4" name="Text 2">
            <a:extLst>
              <a:ext uri="{FF2B5EF4-FFF2-40B4-BE49-F238E27FC236}">
                <a16:creationId xmlns:a16="http://schemas.microsoft.com/office/drawing/2014/main" id="{E82BA1ED-50CF-0970-B1E0-EFBE8103B00A}"/>
              </a:ext>
            </a:extLst>
          </p:cNvPr>
          <p:cNvSpPr/>
          <p:nvPr/>
        </p:nvSpPr>
        <p:spPr>
          <a:xfrm>
            <a:off x="548640" y="594360"/>
            <a:ext cx="10972800" cy="731520"/>
          </a:xfrm>
          <a:prstGeom prst="rect">
            <a:avLst/>
          </a:prstGeom>
          <a:noFill/>
          <a:ln/>
        </p:spPr>
        <p:txBody>
          <a:bodyPr wrap="square" lIns="0" tIns="0" rIns="0" bIns="0" rtlCol="0" anchor="ctr"/>
          <a:lstStyle/>
          <a:p>
            <a:r>
              <a:rPr lang="en-US" sz="3200" b="1">
                <a:solidFill>
                  <a:srgbClr val="0F172A"/>
                </a:solidFill>
                <a:latin typeface="Calibri"/>
                <a:ea typeface="Calibri"/>
                <a:cs typeface="Calibri"/>
              </a:rPr>
              <a:t>Demonstration </a:t>
            </a:r>
            <a:endParaRPr lang="en-US" sz="3200" b="1">
              <a:solidFill>
                <a:srgbClr val="0F172A"/>
              </a:solidFill>
            </a:endParaRPr>
          </a:p>
        </p:txBody>
      </p:sp>
      <p:pic>
        <p:nvPicPr>
          <p:cNvPr id="3" name="Online Media 2" title="AES Benchmark on Raspberry Pi 4">
            <a:hlinkClick r:id="" action="ppaction://noaction"/>
            <a:extLst>
              <a:ext uri="{FF2B5EF4-FFF2-40B4-BE49-F238E27FC236}">
                <a16:creationId xmlns:a16="http://schemas.microsoft.com/office/drawing/2014/main" id="{2D796DF6-4206-2649-6801-0AC0B5AB9FAB}"/>
              </a:ext>
            </a:extLst>
          </p:cNvPr>
          <p:cNvPicPr>
            <a:picLocks noRot="1" noChangeAspect="1"/>
          </p:cNvPicPr>
          <p:nvPr>
            <a:videoFile r:link="rId1"/>
          </p:nvPr>
        </p:nvPicPr>
        <p:blipFill>
          <a:blip r:embed="rId4"/>
          <a:stretch>
            <a:fillRect/>
          </a:stretch>
        </p:blipFill>
        <p:spPr>
          <a:xfrm>
            <a:off x="2242910" y="1476827"/>
            <a:ext cx="7584396" cy="4281715"/>
          </a:xfrm>
          <a:prstGeom prst="rect">
            <a:avLst/>
          </a:prstGeom>
        </p:spPr>
      </p:pic>
      <p:sp>
        <p:nvSpPr>
          <p:cNvPr id="8" name="Text 4">
            <a:extLst>
              <a:ext uri="{FF2B5EF4-FFF2-40B4-BE49-F238E27FC236}">
                <a16:creationId xmlns:a16="http://schemas.microsoft.com/office/drawing/2014/main" id="{9536C5CF-1608-4F14-DE03-6A7C07032FE6}"/>
              </a:ext>
            </a:extLst>
          </p:cNvPr>
          <p:cNvSpPr/>
          <p:nvPr/>
        </p:nvSpPr>
        <p:spPr>
          <a:xfrm>
            <a:off x="780869" y="5961743"/>
            <a:ext cx="11064240" cy="640080"/>
          </a:xfrm>
          <a:prstGeom prst="rect">
            <a:avLst/>
          </a:prstGeom>
          <a:noFill/>
          <a:ln/>
        </p:spPr>
        <p:txBody>
          <a:bodyPr wrap="square" lIns="0" tIns="0" rIns="0" bIns="0" rtlCol="0" anchor="ctr"/>
          <a:lstStyle/>
          <a:p>
            <a:r>
              <a:rPr lang="en-US" sz="1300">
                <a:solidFill>
                  <a:srgbClr val="64748B"/>
                </a:solidFill>
                <a:latin typeface="Calibri"/>
                <a:ea typeface="Calibri"/>
                <a:cs typeface="Calibri"/>
              </a:rPr>
              <a:t>Link: </a:t>
            </a:r>
            <a:r>
              <a:rPr lang="en-US" sz="1300">
                <a:solidFill>
                  <a:srgbClr val="64748B"/>
                </a:solidFill>
                <a:latin typeface="Calibri"/>
                <a:ea typeface="Calibri"/>
                <a:cs typeface="Calibri"/>
                <a:hlinkClick r:id="rId5"/>
              </a:rPr>
              <a:t>www.youtube.com/watch?v=4sEZqdryVMg&amp;feature=youtu.be</a:t>
            </a:r>
            <a:r>
              <a:rPr lang="en-US" sz="1300">
                <a:solidFill>
                  <a:srgbClr val="64748B"/>
                </a:solidFill>
                <a:latin typeface="Calibri"/>
                <a:ea typeface="Calibri"/>
                <a:cs typeface="Calibri"/>
              </a:rPr>
              <a:t> </a:t>
            </a:r>
            <a:endParaRPr lang="en-US"/>
          </a:p>
        </p:txBody>
      </p:sp>
    </p:spTree>
    <p:extLst>
      <p:ext uri="{BB962C8B-B14F-4D97-AF65-F5344CB8AC3E}">
        <p14:creationId xmlns:p14="http://schemas.microsoft.com/office/powerpoint/2010/main" val="3925957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Throughput Data (MB/s)</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sp>
      <p:sp>
        <p:nvSpPr>
          <p:cNvPr id="6" name="Text 4"/>
          <p:cNvSpPr/>
          <p:nvPr/>
        </p:nvSpPr>
        <p:spPr>
          <a:xfrm>
            <a:off x="548640" y="1600200"/>
            <a:ext cx="11064240" cy="502920"/>
          </a:xfrm>
          <a:prstGeom prst="rect">
            <a:avLst/>
          </a:prstGeom>
          <a:noFill/>
          <a:ln/>
        </p:spPr>
        <p:txBody>
          <a:bodyPr wrap="square" lIns="0" tIns="0" rIns="0" bIns="0" rtlCol="0" anchor="ctr"/>
          <a:lstStyle/>
          <a:p>
            <a:r>
              <a:rPr lang="en-US" sz="1200">
                <a:solidFill>
                  <a:srgbClr val="64748B"/>
                </a:solidFill>
                <a:latin typeface="Calibri"/>
                <a:ea typeface="Calibri"/>
                <a:cs typeface="Calibri"/>
              </a:rPr>
              <a:t>All nine AES configurations across OpenSSL's six standard block sizes. Values converted from OpenSSL's kB/s output. Largest block column (16 KB) is the steady-state throughput — smaller blocks pay per-call overhead.</a:t>
            </a:r>
            <a:endParaRPr lang="en-US" sz="1200">
              <a:latin typeface="Calibri"/>
              <a:ea typeface="Calibri"/>
              <a:cs typeface="Calibri"/>
            </a:endParaRPr>
          </a:p>
        </p:txBody>
      </p:sp>
      <p:pic>
        <p:nvPicPr>
          <p:cNvPr id="13" name="Picture 12" descr="A screenshot of a graph&#10;&#10;AI-generated content may be incorrect.">
            <a:extLst>
              <a:ext uri="{FF2B5EF4-FFF2-40B4-BE49-F238E27FC236}">
                <a16:creationId xmlns:a16="http://schemas.microsoft.com/office/drawing/2014/main" id="{261E5FD7-64DC-402E-339B-6FB8D7FF6959}"/>
              </a:ext>
            </a:extLst>
          </p:cNvPr>
          <p:cNvPicPr>
            <a:picLocks noChangeAspect="1"/>
          </p:cNvPicPr>
          <p:nvPr/>
        </p:nvPicPr>
        <p:blipFill>
          <a:blip r:embed="rId3"/>
          <a:stretch>
            <a:fillRect/>
          </a:stretch>
        </p:blipFill>
        <p:spPr>
          <a:xfrm>
            <a:off x="435429" y="2102302"/>
            <a:ext cx="11386456" cy="29364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4EB3540D-D0B6-FC8A-D083-8C8D0E0238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4C1F96-BAA2-C02C-3023-17DB565C69EB}"/>
              </a:ext>
            </a:extLst>
          </p:cNvPr>
          <p:cNvSpPr/>
          <p:nvPr/>
        </p:nvSpPr>
        <p:spPr>
          <a:xfrm>
            <a:off x="0" y="0"/>
            <a:ext cx="12161520" cy="109728"/>
          </a:xfrm>
          <a:prstGeom prst="rect">
            <a:avLst/>
          </a:prstGeom>
          <a:solidFill>
            <a:srgbClr val="14B8A6"/>
          </a:solidFill>
          <a:ln w="12700">
            <a:solidFill>
              <a:srgbClr val="14B8A6"/>
            </a:solidFill>
            <a:prstDash val="solid"/>
          </a:ln>
        </p:spPr>
      </p:sp>
      <p:sp>
        <p:nvSpPr>
          <p:cNvPr id="4" name="Text 2">
            <a:extLst>
              <a:ext uri="{FF2B5EF4-FFF2-40B4-BE49-F238E27FC236}">
                <a16:creationId xmlns:a16="http://schemas.microsoft.com/office/drawing/2014/main" id="{429E7A2B-C56C-810E-00F7-512C326E081D}"/>
              </a:ext>
            </a:extLst>
          </p:cNvPr>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Visualized</a:t>
            </a:r>
            <a:endParaRPr lang="en-US" sz="3200"/>
          </a:p>
        </p:txBody>
      </p:sp>
      <p:sp>
        <p:nvSpPr>
          <p:cNvPr id="5" name="Shape 3">
            <a:extLst>
              <a:ext uri="{FF2B5EF4-FFF2-40B4-BE49-F238E27FC236}">
                <a16:creationId xmlns:a16="http://schemas.microsoft.com/office/drawing/2014/main" id="{701BBC3D-2087-876D-550C-C7979E5835C6}"/>
              </a:ext>
            </a:extLst>
          </p:cNvPr>
          <p:cNvSpPr/>
          <p:nvPr/>
        </p:nvSpPr>
        <p:spPr>
          <a:xfrm>
            <a:off x="548640" y="1371600"/>
            <a:ext cx="1097280" cy="0"/>
          </a:xfrm>
          <a:prstGeom prst="line">
            <a:avLst/>
          </a:prstGeom>
          <a:noFill/>
          <a:ln w="31750">
            <a:solidFill>
              <a:srgbClr val="14B8A6"/>
            </a:solidFill>
            <a:prstDash val="solid"/>
          </a:ln>
        </p:spPr>
      </p:sp>
      <p:sp>
        <p:nvSpPr>
          <p:cNvPr id="8" name="Shape 4">
            <a:extLst>
              <a:ext uri="{FF2B5EF4-FFF2-40B4-BE49-F238E27FC236}">
                <a16:creationId xmlns:a16="http://schemas.microsoft.com/office/drawing/2014/main" id="{7D88104E-6533-A9A2-AFBB-0694AD7533F3}"/>
              </a:ext>
            </a:extLst>
          </p:cNvPr>
          <p:cNvSpPr/>
          <p:nvPr/>
        </p:nvSpPr>
        <p:spPr>
          <a:xfrm>
            <a:off x="548640" y="5532120"/>
            <a:ext cx="11064240" cy="914400"/>
          </a:xfrm>
          <a:prstGeom prst="rect">
            <a:avLst/>
          </a:prstGeom>
          <a:solidFill>
            <a:srgbClr val="0F172A"/>
          </a:solidFill>
          <a:ln w="12700">
            <a:solidFill>
              <a:srgbClr val="0F172A"/>
            </a:solidFill>
            <a:prstDash val="solid"/>
          </a:ln>
        </p:spPr>
      </p:sp>
      <p:sp>
        <p:nvSpPr>
          <p:cNvPr id="9" name="Text 5">
            <a:extLst>
              <a:ext uri="{FF2B5EF4-FFF2-40B4-BE49-F238E27FC236}">
                <a16:creationId xmlns:a16="http://schemas.microsoft.com/office/drawing/2014/main" id="{CECFB3AE-CFBD-3254-7807-76F8F9B88C39}"/>
              </a:ext>
            </a:extLst>
          </p:cNvPr>
          <p:cNvSpPr/>
          <p:nvPr/>
        </p:nvSpPr>
        <p:spPr>
          <a:xfrm>
            <a:off x="731520" y="5596128"/>
            <a:ext cx="5486400" cy="274320"/>
          </a:xfrm>
          <a:prstGeom prst="rect">
            <a:avLst/>
          </a:prstGeom>
          <a:noFill/>
          <a:ln/>
        </p:spPr>
        <p:txBody>
          <a:bodyPr wrap="square" lIns="0" tIns="0" rIns="0" bIns="0" rtlCol="0" anchor="ctr"/>
          <a:lstStyle/>
          <a:p>
            <a:pPr marL="0" indent="0">
              <a:buNone/>
            </a:pPr>
            <a:r>
              <a:rPr lang="en-US" sz="1100" b="1" kern="0" spc="200">
                <a:solidFill>
                  <a:srgbClr val="14B8A6"/>
                </a:solidFill>
                <a:latin typeface="Consolas" pitchFamily="34" charset="0"/>
                <a:ea typeface="Consolas" pitchFamily="34" charset="-122"/>
                <a:cs typeface="Consolas" pitchFamily="34" charset="-120"/>
              </a:rPr>
              <a:t>IPC (instructions per cycle, A72 max ≈ 3)</a:t>
            </a:r>
            <a:endParaRPr lang="en-US" sz="1100"/>
          </a:p>
        </p:txBody>
      </p:sp>
      <p:sp>
        <p:nvSpPr>
          <p:cNvPr id="10" name="Text 6">
            <a:extLst>
              <a:ext uri="{FF2B5EF4-FFF2-40B4-BE49-F238E27FC236}">
                <a16:creationId xmlns:a16="http://schemas.microsoft.com/office/drawing/2014/main" id="{E0477C6E-EC8D-E2EC-F73B-0B6C7D7DD27D}"/>
              </a:ext>
            </a:extLst>
          </p:cNvPr>
          <p:cNvSpPr/>
          <p:nvPr/>
        </p:nvSpPr>
        <p:spPr>
          <a:xfrm>
            <a:off x="73152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0.63</a:t>
            </a:r>
            <a:endParaRPr lang="en-US" sz="1800"/>
          </a:p>
        </p:txBody>
      </p:sp>
      <p:sp>
        <p:nvSpPr>
          <p:cNvPr id="11" name="Text 7">
            <a:extLst>
              <a:ext uri="{FF2B5EF4-FFF2-40B4-BE49-F238E27FC236}">
                <a16:creationId xmlns:a16="http://schemas.microsoft.com/office/drawing/2014/main" id="{41E9714F-8FEB-EEC6-05D2-0BDB01C8C5E0}"/>
              </a:ext>
            </a:extLst>
          </p:cNvPr>
          <p:cNvSpPr/>
          <p:nvPr/>
        </p:nvSpPr>
        <p:spPr>
          <a:xfrm>
            <a:off x="73152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CBC-128</a:t>
            </a:r>
            <a:endParaRPr lang="en-US" sz="900"/>
          </a:p>
        </p:txBody>
      </p:sp>
      <p:sp>
        <p:nvSpPr>
          <p:cNvPr id="12" name="Text 8">
            <a:extLst>
              <a:ext uri="{FF2B5EF4-FFF2-40B4-BE49-F238E27FC236}">
                <a16:creationId xmlns:a16="http://schemas.microsoft.com/office/drawing/2014/main" id="{FEB3C84E-E709-B974-2528-36E06B45BBB1}"/>
              </a:ext>
            </a:extLst>
          </p:cNvPr>
          <p:cNvSpPr/>
          <p:nvPr/>
        </p:nvSpPr>
        <p:spPr>
          <a:xfrm>
            <a:off x="201168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0.62</a:t>
            </a:r>
            <a:endParaRPr lang="en-US" sz="1800"/>
          </a:p>
        </p:txBody>
      </p:sp>
      <p:sp>
        <p:nvSpPr>
          <p:cNvPr id="13" name="Text 9">
            <a:extLst>
              <a:ext uri="{FF2B5EF4-FFF2-40B4-BE49-F238E27FC236}">
                <a16:creationId xmlns:a16="http://schemas.microsoft.com/office/drawing/2014/main" id="{B4053ACC-4715-06C5-CFA1-65AA43A0DCCE}"/>
              </a:ext>
            </a:extLst>
          </p:cNvPr>
          <p:cNvSpPr/>
          <p:nvPr/>
        </p:nvSpPr>
        <p:spPr>
          <a:xfrm>
            <a:off x="201168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CBC-192</a:t>
            </a:r>
            <a:endParaRPr lang="en-US" sz="900"/>
          </a:p>
        </p:txBody>
      </p:sp>
      <p:sp>
        <p:nvSpPr>
          <p:cNvPr id="14" name="Text 10">
            <a:extLst>
              <a:ext uri="{FF2B5EF4-FFF2-40B4-BE49-F238E27FC236}">
                <a16:creationId xmlns:a16="http://schemas.microsoft.com/office/drawing/2014/main" id="{8910BF03-543C-4B06-BC83-AC6D3AC08665}"/>
              </a:ext>
            </a:extLst>
          </p:cNvPr>
          <p:cNvSpPr/>
          <p:nvPr/>
        </p:nvSpPr>
        <p:spPr>
          <a:xfrm>
            <a:off x="329184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0.61</a:t>
            </a:r>
            <a:endParaRPr lang="en-US" sz="1800"/>
          </a:p>
        </p:txBody>
      </p:sp>
      <p:sp>
        <p:nvSpPr>
          <p:cNvPr id="15" name="Text 11">
            <a:extLst>
              <a:ext uri="{FF2B5EF4-FFF2-40B4-BE49-F238E27FC236}">
                <a16:creationId xmlns:a16="http://schemas.microsoft.com/office/drawing/2014/main" id="{D710CBE1-AEB8-7B6B-A57B-27A114A9E865}"/>
              </a:ext>
            </a:extLst>
          </p:cNvPr>
          <p:cNvSpPr/>
          <p:nvPr/>
        </p:nvSpPr>
        <p:spPr>
          <a:xfrm>
            <a:off x="329184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CBC-256</a:t>
            </a:r>
            <a:endParaRPr lang="en-US" sz="900"/>
          </a:p>
        </p:txBody>
      </p:sp>
      <p:sp>
        <p:nvSpPr>
          <p:cNvPr id="16" name="Text 12">
            <a:extLst>
              <a:ext uri="{FF2B5EF4-FFF2-40B4-BE49-F238E27FC236}">
                <a16:creationId xmlns:a16="http://schemas.microsoft.com/office/drawing/2014/main" id="{125207E4-2514-01A0-6BC9-114FAA61EADD}"/>
              </a:ext>
            </a:extLst>
          </p:cNvPr>
          <p:cNvSpPr/>
          <p:nvPr/>
        </p:nvSpPr>
        <p:spPr>
          <a:xfrm>
            <a:off x="457200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1.61</a:t>
            </a:r>
            <a:endParaRPr lang="en-US" sz="1800"/>
          </a:p>
        </p:txBody>
      </p:sp>
      <p:sp>
        <p:nvSpPr>
          <p:cNvPr id="17" name="Text 13">
            <a:extLst>
              <a:ext uri="{FF2B5EF4-FFF2-40B4-BE49-F238E27FC236}">
                <a16:creationId xmlns:a16="http://schemas.microsoft.com/office/drawing/2014/main" id="{2D857EE3-EED2-5162-482C-04253EC02134}"/>
              </a:ext>
            </a:extLst>
          </p:cNvPr>
          <p:cNvSpPr/>
          <p:nvPr/>
        </p:nvSpPr>
        <p:spPr>
          <a:xfrm>
            <a:off x="457200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CTR-128</a:t>
            </a:r>
            <a:endParaRPr lang="en-US" sz="900"/>
          </a:p>
        </p:txBody>
      </p:sp>
      <p:sp>
        <p:nvSpPr>
          <p:cNvPr id="18" name="Text 14">
            <a:extLst>
              <a:ext uri="{FF2B5EF4-FFF2-40B4-BE49-F238E27FC236}">
                <a16:creationId xmlns:a16="http://schemas.microsoft.com/office/drawing/2014/main" id="{8BE379EB-2B25-4787-33B4-103B42EE957A}"/>
              </a:ext>
            </a:extLst>
          </p:cNvPr>
          <p:cNvSpPr/>
          <p:nvPr/>
        </p:nvSpPr>
        <p:spPr>
          <a:xfrm>
            <a:off x="585216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1.60</a:t>
            </a:r>
            <a:endParaRPr lang="en-US" sz="1800"/>
          </a:p>
        </p:txBody>
      </p:sp>
      <p:sp>
        <p:nvSpPr>
          <p:cNvPr id="19" name="Text 15">
            <a:extLst>
              <a:ext uri="{FF2B5EF4-FFF2-40B4-BE49-F238E27FC236}">
                <a16:creationId xmlns:a16="http://schemas.microsoft.com/office/drawing/2014/main" id="{29216A27-B7B7-8006-9E4E-6167BAFEAEF5}"/>
              </a:ext>
            </a:extLst>
          </p:cNvPr>
          <p:cNvSpPr/>
          <p:nvPr/>
        </p:nvSpPr>
        <p:spPr>
          <a:xfrm>
            <a:off x="585216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CTR-192</a:t>
            </a:r>
            <a:endParaRPr lang="en-US" sz="900"/>
          </a:p>
        </p:txBody>
      </p:sp>
      <p:sp>
        <p:nvSpPr>
          <p:cNvPr id="20" name="Text 16">
            <a:extLst>
              <a:ext uri="{FF2B5EF4-FFF2-40B4-BE49-F238E27FC236}">
                <a16:creationId xmlns:a16="http://schemas.microsoft.com/office/drawing/2014/main" id="{011F9844-3CCC-0A47-624A-963A8D454F89}"/>
              </a:ext>
            </a:extLst>
          </p:cNvPr>
          <p:cNvSpPr/>
          <p:nvPr/>
        </p:nvSpPr>
        <p:spPr>
          <a:xfrm>
            <a:off x="713232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1.76</a:t>
            </a:r>
            <a:endParaRPr lang="en-US" sz="1800"/>
          </a:p>
        </p:txBody>
      </p:sp>
      <p:sp>
        <p:nvSpPr>
          <p:cNvPr id="21" name="Text 17">
            <a:extLst>
              <a:ext uri="{FF2B5EF4-FFF2-40B4-BE49-F238E27FC236}">
                <a16:creationId xmlns:a16="http://schemas.microsoft.com/office/drawing/2014/main" id="{872B68B0-40CF-272E-E688-4B59CBFC57C5}"/>
              </a:ext>
            </a:extLst>
          </p:cNvPr>
          <p:cNvSpPr/>
          <p:nvPr/>
        </p:nvSpPr>
        <p:spPr>
          <a:xfrm>
            <a:off x="713232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GCM-128</a:t>
            </a:r>
            <a:endParaRPr lang="en-US" sz="900"/>
          </a:p>
        </p:txBody>
      </p:sp>
      <p:sp>
        <p:nvSpPr>
          <p:cNvPr id="22" name="Text 18">
            <a:extLst>
              <a:ext uri="{FF2B5EF4-FFF2-40B4-BE49-F238E27FC236}">
                <a16:creationId xmlns:a16="http://schemas.microsoft.com/office/drawing/2014/main" id="{603BA4C4-5762-7980-19DC-F244892CBD86}"/>
              </a:ext>
            </a:extLst>
          </p:cNvPr>
          <p:cNvSpPr/>
          <p:nvPr/>
        </p:nvSpPr>
        <p:spPr>
          <a:xfrm>
            <a:off x="841248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1.75</a:t>
            </a:r>
            <a:endParaRPr lang="en-US" sz="1800"/>
          </a:p>
        </p:txBody>
      </p:sp>
      <p:sp>
        <p:nvSpPr>
          <p:cNvPr id="23" name="Text 19">
            <a:extLst>
              <a:ext uri="{FF2B5EF4-FFF2-40B4-BE49-F238E27FC236}">
                <a16:creationId xmlns:a16="http://schemas.microsoft.com/office/drawing/2014/main" id="{5F52CB5A-7053-0F59-258C-D0CBCB00D383}"/>
              </a:ext>
            </a:extLst>
          </p:cNvPr>
          <p:cNvSpPr/>
          <p:nvPr/>
        </p:nvSpPr>
        <p:spPr>
          <a:xfrm>
            <a:off x="841248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GCM-192</a:t>
            </a:r>
            <a:endParaRPr lang="en-US" sz="900"/>
          </a:p>
        </p:txBody>
      </p:sp>
      <p:sp>
        <p:nvSpPr>
          <p:cNvPr id="24" name="Text 20">
            <a:extLst>
              <a:ext uri="{FF2B5EF4-FFF2-40B4-BE49-F238E27FC236}">
                <a16:creationId xmlns:a16="http://schemas.microsoft.com/office/drawing/2014/main" id="{083EB338-B6B9-CED5-EE30-5EDCF7D01FCE}"/>
              </a:ext>
            </a:extLst>
          </p:cNvPr>
          <p:cNvSpPr/>
          <p:nvPr/>
        </p:nvSpPr>
        <p:spPr>
          <a:xfrm>
            <a:off x="969264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1.72</a:t>
            </a:r>
            <a:endParaRPr lang="en-US" sz="1800"/>
          </a:p>
        </p:txBody>
      </p:sp>
      <p:sp>
        <p:nvSpPr>
          <p:cNvPr id="25" name="Text 21">
            <a:extLst>
              <a:ext uri="{FF2B5EF4-FFF2-40B4-BE49-F238E27FC236}">
                <a16:creationId xmlns:a16="http://schemas.microsoft.com/office/drawing/2014/main" id="{A6DE89D0-10C9-630A-BDC4-CBA07856627D}"/>
              </a:ext>
            </a:extLst>
          </p:cNvPr>
          <p:cNvSpPr/>
          <p:nvPr/>
        </p:nvSpPr>
        <p:spPr>
          <a:xfrm>
            <a:off x="969264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GCM-256</a:t>
            </a:r>
            <a:endParaRPr lang="en-US" sz="900"/>
          </a:p>
        </p:txBody>
      </p:sp>
      <p:sp>
        <p:nvSpPr>
          <p:cNvPr id="27" name="Text 23">
            <a:extLst>
              <a:ext uri="{FF2B5EF4-FFF2-40B4-BE49-F238E27FC236}">
                <a16:creationId xmlns:a16="http://schemas.microsoft.com/office/drawing/2014/main" id="{3B3705B3-C539-90E7-48CD-C9335EECF2BB}"/>
              </a:ext>
            </a:extLst>
          </p:cNvPr>
          <p:cNvSpPr/>
          <p:nvPr/>
        </p:nvSpPr>
        <p:spPr>
          <a:xfrm>
            <a:off x="11430000" y="6492240"/>
            <a:ext cx="457200" cy="274320"/>
          </a:xfrm>
          <a:prstGeom prst="rect">
            <a:avLst/>
          </a:prstGeom>
          <a:noFill/>
          <a:ln/>
        </p:spPr>
        <p:txBody>
          <a:bodyPr wrap="square" lIns="0" tIns="0" rIns="0" bIns="0" rtlCol="0" anchor="ctr"/>
          <a:lstStyle/>
          <a:p>
            <a:pPr marL="0" indent="0" algn="r">
              <a:buNone/>
            </a:pPr>
            <a:endParaRPr lang="en-US" sz="1000">
              <a:solidFill>
                <a:srgbClr val="64748B"/>
              </a:solidFill>
              <a:ea typeface="Calibri"/>
              <a:cs typeface="Calibri"/>
            </a:endParaRPr>
          </a:p>
        </p:txBody>
      </p:sp>
      <p:pic>
        <p:nvPicPr>
          <p:cNvPr id="28" name="Picture 27">
            <a:extLst>
              <a:ext uri="{FF2B5EF4-FFF2-40B4-BE49-F238E27FC236}">
                <a16:creationId xmlns:a16="http://schemas.microsoft.com/office/drawing/2014/main" id="{43FC0227-7215-847E-2A7E-FD2F64AFD0B6}"/>
              </a:ext>
            </a:extLst>
          </p:cNvPr>
          <p:cNvPicPr>
            <a:picLocks noChangeAspect="1"/>
          </p:cNvPicPr>
          <p:nvPr/>
        </p:nvPicPr>
        <p:blipFill>
          <a:blip r:embed="rId3"/>
          <a:stretch>
            <a:fillRect/>
          </a:stretch>
        </p:blipFill>
        <p:spPr>
          <a:xfrm>
            <a:off x="12614" y="1412873"/>
            <a:ext cx="5993047" cy="3142682"/>
          </a:xfrm>
          <a:prstGeom prst="rect">
            <a:avLst/>
          </a:prstGeom>
        </p:spPr>
      </p:pic>
      <p:pic>
        <p:nvPicPr>
          <p:cNvPr id="29" name="Picture 28" descr="A graph with different colored bars&#10;&#10;AI-generated content may be incorrect.">
            <a:extLst>
              <a:ext uri="{FF2B5EF4-FFF2-40B4-BE49-F238E27FC236}">
                <a16:creationId xmlns:a16="http://schemas.microsoft.com/office/drawing/2014/main" id="{9BAC69B5-3D20-0E03-ADAF-7C5E0BA158C4}"/>
              </a:ext>
            </a:extLst>
          </p:cNvPr>
          <p:cNvPicPr>
            <a:picLocks noChangeAspect="1"/>
          </p:cNvPicPr>
          <p:nvPr/>
        </p:nvPicPr>
        <p:blipFill>
          <a:blip r:embed="rId4"/>
          <a:stretch>
            <a:fillRect/>
          </a:stretch>
        </p:blipFill>
        <p:spPr>
          <a:xfrm>
            <a:off x="6181003" y="1381532"/>
            <a:ext cx="6004111" cy="3139555"/>
          </a:xfrm>
          <a:prstGeom prst="rect">
            <a:avLst/>
          </a:prstGeom>
        </p:spPr>
      </p:pic>
    </p:spTree>
    <p:extLst>
      <p:ext uri="{BB962C8B-B14F-4D97-AF65-F5344CB8AC3E}">
        <p14:creationId xmlns:p14="http://schemas.microsoft.com/office/powerpoint/2010/main" val="547727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72587D6-F4FC-B59F-7E0B-FCC384FB28A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4C1262-4F79-EEDC-6D2A-256DDD66619C}"/>
              </a:ext>
            </a:extLst>
          </p:cNvPr>
          <p:cNvSpPr/>
          <p:nvPr/>
        </p:nvSpPr>
        <p:spPr>
          <a:xfrm>
            <a:off x="0" y="0"/>
            <a:ext cx="12161520" cy="109728"/>
          </a:xfrm>
          <a:prstGeom prst="rect">
            <a:avLst/>
          </a:prstGeom>
          <a:solidFill>
            <a:srgbClr val="14B8A6"/>
          </a:solidFill>
          <a:ln w="12700">
            <a:solidFill>
              <a:srgbClr val="14B8A6"/>
            </a:solidFill>
            <a:prstDash val="solid"/>
          </a:ln>
        </p:spPr>
      </p:sp>
      <p:sp>
        <p:nvSpPr>
          <p:cNvPr id="4" name="Text 2">
            <a:extLst>
              <a:ext uri="{FF2B5EF4-FFF2-40B4-BE49-F238E27FC236}">
                <a16:creationId xmlns:a16="http://schemas.microsoft.com/office/drawing/2014/main" id="{C94F9B12-E985-190D-F764-65CBB4AD6D9D}"/>
              </a:ext>
            </a:extLst>
          </p:cNvPr>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Visualized</a:t>
            </a:r>
            <a:endParaRPr lang="en-US" sz="3200"/>
          </a:p>
        </p:txBody>
      </p:sp>
      <p:sp>
        <p:nvSpPr>
          <p:cNvPr id="5" name="Shape 3">
            <a:extLst>
              <a:ext uri="{FF2B5EF4-FFF2-40B4-BE49-F238E27FC236}">
                <a16:creationId xmlns:a16="http://schemas.microsoft.com/office/drawing/2014/main" id="{9EB2803E-4F70-7290-4504-E700088F8063}"/>
              </a:ext>
            </a:extLst>
          </p:cNvPr>
          <p:cNvSpPr/>
          <p:nvPr/>
        </p:nvSpPr>
        <p:spPr>
          <a:xfrm>
            <a:off x="548640" y="1371600"/>
            <a:ext cx="1097280" cy="0"/>
          </a:xfrm>
          <a:prstGeom prst="line">
            <a:avLst/>
          </a:prstGeom>
          <a:noFill/>
          <a:ln w="31750">
            <a:solidFill>
              <a:srgbClr val="14B8A6"/>
            </a:solidFill>
            <a:prstDash val="solid"/>
          </a:ln>
        </p:spPr>
      </p:sp>
      <p:sp>
        <p:nvSpPr>
          <p:cNvPr id="8" name="Shape 4">
            <a:extLst>
              <a:ext uri="{FF2B5EF4-FFF2-40B4-BE49-F238E27FC236}">
                <a16:creationId xmlns:a16="http://schemas.microsoft.com/office/drawing/2014/main" id="{8A056C59-02DC-CE71-401C-06D934EBC614}"/>
              </a:ext>
            </a:extLst>
          </p:cNvPr>
          <p:cNvSpPr/>
          <p:nvPr/>
        </p:nvSpPr>
        <p:spPr>
          <a:xfrm>
            <a:off x="548640" y="5532120"/>
            <a:ext cx="11064240" cy="914400"/>
          </a:xfrm>
          <a:prstGeom prst="rect">
            <a:avLst/>
          </a:prstGeom>
          <a:solidFill>
            <a:srgbClr val="0F172A"/>
          </a:solidFill>
          <a:ln w="12700">
            <a:solidFill>
              <a:srgbClr val="0F172A"/>
            </a:solidFill>
            <a:prstDash val="solid"/>
          </a:ln>
        </p:spPr>
      </p:sp>
      <p:sp>
        <p:nvSpPr>
          <p:cNvPr id="9" name="Text 5">
            <a:extLst>
              <a:ext uri="{FF2B5EF4-FFF2-40B4-BE49-F238E27FC236}">
                <a16:creationId xmlns:a16="http://schemas.microsoft.com/office/drawing/2014/main" id="{2A2EFD31-4B8C-37A4-B410-680E2E3F4CFA}"/>
              </a:ext>
            </a:extLst>
          </p:cNvPr>
          <p:cNvSpPr/>
          <p:nvPr/>
        </p:nvSpPr>
        <p:spPr>
          <a:xfrm>
            <a:off x="731520" y="5596128"/>
            <a:ext cx="5486400" cy="274320"/>
          </a:xfrm>
          <a:prstGeom prst="rect">
            <a:avLst/>
          </a:prstGeom>
          <a:noFill/>
          <a:ln/>
        </p:spPr>
        <p:txBody>
          <a:bodyPr wrap="square" lIns="0" tIns="0" rIns="0" bIns="0" rtlCol="0" anchor="ctr"/>
          <a:lstStyle/>
          <a:p>
            <a:pPr marL="0" indent="0">
              <a:buNone/>
            </a:pPr>
            <a:r>
              <a:rPr lang="en-US" sz="1100" b="1" kern="0" spc="200">
                <a:solidFill>
                  <a:srgbClr val="14B8A6"/>
                </a:solidFill>
                <a:latin typeface="Consolas" pitchFamily="34" charset="0"/>
                <a:ea typeface="Consolas" pitchFamily="34" charset="-122"/>
                <a:cs typeface="Consolas" pitchFamily="34" charset="-120"/>
              </a:rPr>
              <a:t>IPC (instructions per cycle, A72 max ≈ 3)</a:t>
            </a:r>
            <a:endParaRPr lang="en-US" sz="1100"/>
          </a:p>
        </p:txBody>
      </p:sp>
      <p:sp>
        <p:nvSpPr>
          <p:cNvPr id="10" name="Text 6">
            <a:extLst>
              <a:ext uri="{FF2B5EF4-FFF2-40B4-BE49-F238E27FC236}">
                <a16:creationId xmlns:a16="http://schemas.microsoft.com/office/drawing/2014/main" id="{AB900A67-6DF2-F5B6-1863-6D0FC11CE8D5}"/>
              </a:ext>
            </a:extLst>
          </p:cNvPr>
          <p:cNvSpPr/>
          <p:nvPr/>
        </p:nvSpPr>
        <p:spPr>
          <a:xfrm>
            <a:off x="73152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0.63</a:t>
            </a:r>
            <a:endParaRPr lang="en-US" sz="1800"/>
          </a:p>
        </p:txBody>
      </p:sp>
      <p:sp>
        <p:nvSpPr>
          <p:cNvPr id="11" name="Text 7">
            <a:extLst>
              <a:ext uri="{FF2B5EF4-FFF2-40B4-BE49-F238E27FC236}">
                <a16:creationId xmlns:a16="http://schemas.microsoft.com/office/drawing/2014/main" id="{B73EE4D9-4330-E658-91E0-8736505BEA77}"/>
              </a:ext>
            </a:extLst>
          </p:cNvPr>
          <p:cNvSpPr/>
          <p:nvPr/>
        </p:nvSpPr>
        <p:spPr>
          <a:xfrm>
            <a:off x="73152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CBC-128</a:t>
            </a:r>
            <a:endParaRPr lang="en-US" sz="900"/>
          </a:p>
        </p:txBody>
      </p:sp>
      <p:sp>
        <p:nvSpPr>
          <p:cNvPr id="12" name="Text 8">
            <a:extLst>
              <a:ext uri="{FF2B5EF4-FFF2-40B4-BE49-F238E27FC236}">
                <a16:creationId xmlns:a16="http://schemas.microsoft.com/office/drawing/2014/main" id="{135690D1-EFD3-9732-B970-51C2642F5BEC}"/>
              </a:ext>
            </a:extLst>
          </p:cNvPr>
          <p:cNvSpPr/>
          <p:nvPr/>
        </p:nvSpPr>
        <p:spPr>
          <a:xfrm>
            <a:off x="201168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0.62</a:t>
            </a:r>
            <a:endParaRPr lang="en-US" sz="1800"/>
          </a:p>
        </p:txBody>
      </p:sp>
      <p:sp>
        <p:nvSpPr>
          <p:cNvPr id="13" name="Text 9">
            <a:extLst>
              <a:ext uri="{FF2B5EF4-FFF2-40B4-BE49-F238E27FC236}">
                <a16:creationId xmlns:a16="http://schemas.microsoft.com/office/drawing/2014/main" id="{958EC00A-7AE8-FEF0-C1C6-E1C08A39018D}"/>
              </a:ext>
            </a:extLst>
          </p:cNvPr>
          <p:cNvSpPr/>
          <p:nvPr/>
        </p:nvSpPr>
        <p:spPr>
          <a:xfrm>
            <a:off x="201168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CBC-192</a:t>
            </a:r>
            <a:endParaRPr lang="en-US" sz="900"/>
          </a:p>
        </p:txBody>
      </p:sp>
      <p:sp>
        <p:nvSpPr>
          <p:cNvPr id="14" name="Text 10">
            <a:extLst>
              <a:ext uri="{FF2B5EF4-FFF2-40B4-BE49-F238E27FC236}">
                <a16:creationId xmlns:a16="http://schemas.microsoft.com/office/drawing/2014/main" id="{207FF81F-BE58-9793-D15B-BD93AEF9482F}"/>
              </a:ext>
            </a:extLst>
          </p:cNvPr>
          <p:cNvSpPr/>
          <p:nvPr/>
        </p:nvSpPr>
        <p:spPr>
          <a:xfrm>
            <a:off x="329184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0.61</a:t>
            </a:r>
            <a:endParaRPr lang="en-US" sz="1800"/>
          </a:p>
        </p:txBody>
      </p:sp>
      <p:sp>
        <p:nvSpPr>
          <p:cNvPr id="15" name="Text 11">
            <a:extLst>
              <a:ext uri="{FF2B5EF4-FFF2-40B4-BE49-F238E27FC236}">
                <a16:creationId xmlns:a16="http://schemas.microsoft.com/office/drawing/2014/main" id="{554447BD-3DAA-7791-0BBB-DD1A4013927E}"/>
              </a:ext>
            </a:extLst>
          </p:cNvPr>
          <p:cNvSpPr/>
          <p:nvPr/>
        </p:nvSpPr>
        <p:spPr>
          <a:xfrm>
            <a:off x="329184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CBC-256</a:t>
            </a:r>
            <a:endParaRPr lang="en-US" sz="900"/>
          </a:p>
        </p:txBody>
      </p:sp>
      <p:sp>
        <p:nvSpPr>
          <p:cNvPr id="16" name="Text 12">
            <a:extLst>
              <a:ext uri="{FF2B5EF4-FFF2-40B4-BE49-F238E27FC236}">
                <a16:creationId xmlns:a16="http://schemas.microsoft.com/office/drawing/2014/main" id="{7217C1E9-C9DB-999E-C80E-24EAD53A0ACE}"/>
              </a:ext>
            </a:extLst>
          </p:cNvPr>
          <p:cNvSpPr/>
          <p:nvPr/>
        </p:nvSpPr>
        <p:spPr>
          <a:xfrm>
            <a:off x="457200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1.61</a:t>
            </a:r>
            <a:endParaRPr lang="en-US" sz="1800"/>
          </a:p>
        </p:txBody>
      </p:sp>
      <p:sp>
        <p:nvSpPr>
          <p:cNvPr id="17" name="Text 13">
            <a:extLst>
              <a:ext uri="{FF2B5EF4-FFF2-40B4-BE49-F238E27FC236}">
                <a16:creationId xmlns:a16="http://schemas.microsoft.com/office/drawing/2014/main" id="{52016F36-EF5A-C707-0EF4-3F102DD885B3}"/>
              </a:ext>
            </a:extLst>
          </p:cNvPr>
          <p:cNvSpPr/>
          <p:nvPr/>
        </p:nvSpPr>
        <p:spPr>
          <a:xfrm>
            <a:off x="457200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CTR-128</a:t>
            </a:r>
            <a:endParaRPr lang="en-US" sz="900"/>
          </a:p>
        </p:txBody>
      </p:sp>
      <p:sp>
        <p:nvSpPr>
          <p:cNvPr id="18" name="Text 14">
            <a:extLst>
              <a:ext uri="{FF2B5EF4-FFF2-40B4-BE49-F238E27FC236}">
                <a16:creationId xmlns:a16="http://schemas.microsoft.com/office/drawing/2014/main" id="{6C4C913A-0C93-4FC3-FB61-C02AEC04BB05}"/>
              </a:ext>
            </a:extLst>
          </p:cNvPr>
          <p:cNvSpPr/>
          <p:nvPr/>
        </p:nvSpPr>
        <p:spPr>
          <a:xfrm>
            <a:off x="585216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1.60</a:t>
            </a:r>
            <a:endParaRPr lang="en-US" sz="1800"/>
          </a:p>
        </p:txBody>
      </p:sp>
      <p:sp>
        <p:nvSpPr>
          <p:cNvPr id="19" name="Text 15">
            <a:extLst>
              <a:ext uri="{FF2B5EF4-FFF2-40B4-BE49-F238E27FC236}">
                <a16:creationId xmlns:a16="http://schemas.microsoft.com/office/drawing/2014/main" id="{03C60D75-2374-6816-58C5-91A9F8FD464F}"/>
              </a:ext>
            </a:extLst>
          </p:cNvPr>
          <p:cNvSpPr/>
          <p:nvPr/>
        </p:nvSpPr>
        <p:spPr>
          <a:xfrm>
            <a:off x="585216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CTR-192</a:t>
            </a:r>
            <a:endParaRPr lang="en-US" sz="900"/>
          </a:p>
        </p:txBody>
      </p:sp>
      <p:sp>
        <p:nvSpPr>
          <p:cNvPr id="20" name="Text 16">
            <a:extLst>
              <a:ext uri="{FF2B5EF4-FFF2-40B4-BE49-F238E27FC236}">
                <a16:creationId xmlns:a16="http://schemas.microsoft.com/office/drawing/2014/main" id="{41C08B9A-F42A-88E3-5D21-25DBD7CCA7D2}"/>
              </a:ext>
            </a:extLst>
          </p:cNvPr>
          <p:cNvSpPr/>
          <p:nvPr/>
        </p:nvSpPr>
        <p:spPr>
          <a:xfrm>
            <a:off x="713232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1.76</a:t>
            </a:r>
            <a:endParaRPr lang="en-US" sz="1800"/>
          </a:p>
        </p:txBody>
      </p:sp>
      <p:sp>
        <p:nvSpPr>
          <p:cNvPr id="21" name="Text 17">
            <a:extLst>
              <a:ext uri="{FF2B5EF4-FFF2-40B4-BE49-F238E27FC236}">
                <a16:creationId xmlns:a16="http://schemas.microsoft.com/office/drawing/2014/main" id="{BD78F699-DC7E-F431-937C-F37053CB3091}"/>
              </a:ext>
            </a:extLst>
          </p:cNvPr>
          <p:cNvSpPr/>
          <p:nvPr/>
        </p:nvSpPr>
        <p:spPr>
          <a:xfrm>
            <a:off x="713232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GCM-128</a:t>
            </a:r>
            <a:endParaRPr lang="en-US" sz="900"/>
          </a:p>
        </p:txBody>
      </p:sp>
      <p:sp>
        <p:nvSpPr>
          <p:cNvPr id="22" name="Text 18">
            <a:extLst>
              <a:ext uri="{FF2B5EF4-FFF2-40B4-BE49-F238E27FC236}">
                <a16:creationId xmlns:a16="http://schemas.microsoft.com/office/drawing/2014/main" id="{84B47A61-FB4F-8098-368B-F6F1DDB6CBE5}"/>
              </a:ext>
            </a:extLst>
          </p:cNvPr>
          <p:cNvSpPr/>
          <p:nvPr/>
        </p:nvSpPr>
        <p:spPr>
          <a:xfrm>
            <a:off x="841248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1.75</a:t>
            </a:r>
            <a:endParaRPr lang="en-US" sz="1800"/>
          </a:p>
        </p:txBody>
      </p:sp>
      <p:sp>
        <p:nvSpPr>
          <p:cNvPr id="23" name="Text 19">
            <a:extLst>
              <a:ext uri="{FF2B5EF4-FFF2-40B4-BE49-F238E27FC236}">
                <a16:creationId xmlns:a16="http://schemas.microsoft.com/office/drawing/2014/main" id="{A209E3D4-FA76-99EE-6269-540501AC18C7}"/>
              </a:ext>
            </a:extLst>
          </p:cNvPr>
          <p:cNvSpPr/>
          <p:nvPr/>
        </p:nvSpPr>
        <p:spPr>
          <a:xfrm>
            <a:off x="841248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GCM-192</a:t>
            </a:r>
            <a:endParaRPr lang="en-US" sz="900"/>
          </a:p>
        </p:txBody>
      </p:sp>
      <p:sp>
        <p:nvSpPr>
          <p:cNvPr id="24" name="Text 20">
            <a:extLst>
              <a:ext uri="{FF2B5EF4-FFF2-40B4-BE49-F238E27FC236}">
                <a16:creationId xmlns:a16="http://schemas.microsoft.com/office/drawing/2014/main" id="{52C0C11F-4539-BCAA-017F-CC3C93A69514}"/>
              </a:ext>
            </a:extLst>
          </p:cNvPr>
          <p:cNvSpPr/>
          <p:nvPr/>
        </p:nvSpPr>
        <p:spPr>
          <a:xfrm>
            <a:off x="9692640" y="5852160"/>
            <a:ext cx="1280160" cy="347472"/>
          </a:xfrm>
          <a:prstGeom prst="rect">
            <a:avLst/>
          </a:prstGeom>
          <a:noFill/>
          <a:ln/>
        </p:spPr>
        <p:txBody>
          <a:bodyPr wrap="square" lIns="0" tIns="0" rIns="0" bIns="0" rtlCol="0" anchor="ctr"/>
          <a:lstStyle/>
          <a:p>
            <a:pPr marL="0" indent="0" algn="l">
              <a:buNone/>
            </a:pPr>
            <a:r>
              <a:rPr lang="en-US" sz="1800" b="1">
                <a:solidFill>
                  <a:srgbClr val="FFFFFF"/>
                </a:solidFill>
                <a:latin typeface="Calibri" pitchFamily="34" charset="0"/>
                <a:ea typeface="Calibri" pitchFamily="34" charset="-122"/>
                <a:cs typeface="Calibri" pitchFamily="34" charset="-120"/>
              </a:rPr>
              <a:t>1.72</a:t>
            </a:r>
            <a:endParaRPr lang="en-US" sz="1800"/>
          </a:p>
        </p:txBody>
      </p:sp>
      <p:sp>
        <p:nvSpPr>
          <p:cNvPr id="25" name="Text 21">
            <a:extLst>
              <a:ext uri="{FF2B5EF4-FFF2-40B4-BE49-F238E27FC236}">
                <a16:creationId xmlns:a16="http://schemas.microsoft.com/office/drawing/2014/main" id="{C162DA3F-7C5A-4D26-4730-F4D459067E87}"/>
              </a:ext>
            </a:extLst>
          </p:cNvPr>
          <p:cNvSpPr/>
          <p:nvPr/>
        </p:nvSpPr>
        <p:spPr>
          <a:xfrm>
            <a:off x="9692640" y="6172200"/>
            <a:ext cx="1280160" cy="228600"/>
          </a:xfrm>
          <a:prstGeom prst="rect">
            <a:avLst/>
          </a:prstGeom>
          <a:noFill/>
          <a:ln/>
        </p:spPr>
        <p:txBody>
          <a:bodyPr wrap="square" lIns="0" tIns="0" rIns="0" bIns="0" rtlCol="0" anchor="ctr"/>
          <a:lstStyle/>
          <a:p>
            <a:pPr marL="0" indent="0" algn="l">
              <a:buNone/>
            </a:pPr>
            <a:r>
              <a:rPr lang="en-US" sz="900">
                <a:solidFill>
                  <a:srgbClr val="94A3B8"/>
                </a:solidFill>
                <a:latin typeface="Consolas" pitchFamily="34" charset="0"/>
                <a:ea typeface="Consolas" pitchFamily="34" charset="-122"/>
                <a:cs typeface="Consolas" pitchFamily="34" charset="-120"/>
              </a:rPr>
              <a:t>GCM-256</a:t>
            </a:r>
            <a:endParaRPr lang="en-US" sz="900"/>
          </a:p>
        </p:txBody>
      </p:sp>
      <p:sp>
        <p:nvSpPr>
          <p:cNvPr id="27" name="Text 23">
            <a:extLst>
              <a:ext uri="{FF2B5EF4-FFF2-40B4-BE49-F238E27FC236}">
                <a16:creationId xmlns:a16="http://schemas.microsoft.com/office/drawing/2014/main" id="{5F736B1F-2276-CDAE-0381-DBA3BB4CCBFD}"/>
              </a:ext>
            </a:extLst>
          </p:cNvPr>
          <p:cNvSpPr/>
          <p:nvPr/>
        </p:nvSpPr>
        <p:spPr>
          <a:xfrm>
            <a:off x="11430000" y="6492240"/>
            <a:ext cx="457200" cy="274320"/>
          </a:xfrm>
          <a:prstGeom prst="rect">
            <a:avLst/>
          </a:prstGeom>
          <a:noFill/>
          <a:ln/>
        </p:spPr>
        <p:txBody>
          <a:bodyPr wrap="square" lIns="0" tIns="0" rIns="0" bIns="0" rtlCol="0" anchor="ctr"/>
          <a:lstStyle/>
          <a:p>
            <a:pPr marL="0" indent="0" algn="r">
              <a:buNone/>
            </a:pPr>
            <a:endParaRPr lang="en-US" sz="1000">
              <a:solidFill>
                <a:srgbClr val="64748B"/>
              </a:solidFill>
              <a:ea typeface="Calibri"/>
              <a:cs typeface="Calibri"/>
            </a:endParaRPr>
          </a:p>
        </p:txBody>
      </p:sp>
      <p:pic>
        <p:nvPicPr>
          <p:cNvPr id="3" name="Picture 2">
            <a:extLst>
              <a:ext uri="{FF2B5EF4-FFF2-40B4-BE49-F238E27FC236}">
                <a16:creationId xmlns:a16="http://schemas.microsoft.com/office/drawing/2014/main" id="{98D3925E-0B3E-033A-005E-927B7AC1F118}"/>
              </a:ext>
            </a:extLst>
          </p:cNvPr>
          <p:cNvPicPr>
            <a:picLocks noChangeAspect="1"/>
          </p:cNvPicPr>
          <p:nvPr/>
        </p:nvPicPr>
        <p:blipFill>
          <a:blip r:embed="rId3"/>
          <a:stretch>
            <a:fillRect/>
          </a:stretch>
        </p:blipFill>
        <p:spPr>
          <a:xfrm>
            <a:off x="125656" y="1555926"/>
            <a:ext cx="5735830" cy="3126503"/>
          </a:xfrm>
          <a:prstGeom prst="rect">
            <a:avLst/>
          </a:prstGeom>
        </p:spPr>
      </p:pic>
      <p:pic>
        <p:nvPicPr>
          <p:cNvPr id="26" name="Picture 25" descr="A graph of different colored bars&#10;&#10;AI-generated content may be incorrect.">
            <a:extLst>
              <a:ext uri="{FF2B5EF4-FFF2-40B4-BE49-F238E27FC236}">
                <a16:creationId xmlns:a16="http://schemas.microsoft.com/office/drawing/2014/main" id="{88DE051B-DD14-7EE3-CF38-3C076AAF3E64}"/>
              </a:ext>
            </a:extLst>
          </p:cNvPr>
          <p:cNvPicPr>
            <a:picLocks noChangeAspect="1"/>
          </p:cNvPicPr>
          <p:nvPr/>
        </p:nvPicPr>
        <p:blipFill>
          <a:blip r:embed="rId4"/>
          <a:stretch>
            <a:fillRect/>
          </a:stretch>
        </p:blipFill>
        <p:spPr>
          <a:xfrm>
            <a:off x="6056172" y="1552157"/>
            <a:ext cx="6066798" cy="3268017"/>
          </a:xfrm>
          <a:prstGeom prst="rect">
            <a:avLst/>
          </a:prstGeom>
        </p:spPr>
      </p:pic>
    </p:spTree>
    <p:extLst>
      <p:ext uri="{BB962C8B-B14F-4D97-AF65-F5344CB8AC3E}">
        <p14:creationId xmlns:p14="http://schemas.microsoft.com/office/powerpoint/2010/main" val="2201098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pitchFamily="34" charset="0"/>
                <a:ea typeface="Calibri" pitchFamily="34" charset="-122"/>
                <a:cs typeface="Calibri" pitchFamily="34" charset="-120"/>
              </a:rPr>
              <a:t>Analysis  I.  Key Size Scales With Rounds</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sp>
      <p:sp>
        <p:nvSpPr>
          <p:cNvPr id="6" name="Text 4"/>
          <p:cNvSpPr/>
          <p:nvPr/>
        </p:nvSpPr>
        <p:spPr>
          <a:xfrm>
            <a:off x="548640" y="1600200"/>
            <a:ext cx="11064240" cy="502920"/>
          </a:xfrm>
          <a:prstGeom prst="rect">
            <a:avLst/>
          </a:prstGeom>
          <a:noFill/>
          <a:ln/>
        </p:spPr>
        <p:txBody>
          <a:bodyPr wrap="square" lIns="0" tIns="0" rIns="0" bIns="0" rtlCol="0" anchor="ctr"/>
          <a:lstStyle/>
          <a:p>
            <a:pPr marL="0" indent="0">
              <a:buNone/>
            </a:pPr>
            <a:r>
              <a:rPr lang="en-US" sz="1300" b="1">
                <a:solidFill>
                  <a:srgbClr val="0F172A"/>
                </a:solidFill>
                <a:latin typeface="Calibri"/>
                <a:ea typeface="Calibri"/>
                <a:cs typeface="Calibri"/>
              </a:rPr>
              <a:t>AES-128 → AES-256 costs roughly 28 % throughput.</a:t>
            </a:r>
            <a:endParaRPr lang="en-US" sz="1300">
              <a:solidFill>
                <a:srgbClr val="0F172A"/>
              </a:solidFill>
              <a:latin typeface="Calibri"/>
              <a:ea typeface="Calibri"/>
              <a:cs typeface="Calibri"/>
            </a:endParaRPr>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64240" cy="18288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457200">
                <a:tc>
                  <a:txBody>
                    <a:bodyPr/>
                    <a:lstStyle/>
                    <a:p>
                      <a:pPr marL="0" indent="0" algn="l">
                        <a:buNone/>
                      </a:pPr>
                      <a:r>
                        <a:rPr lang="en-US" sz="1100" b="1">
                          <a:solidFill>
                            <a:srgbClr val="FFFFFF"/>
                          </a:solidFill>
                          <a:latin typeface="Consolas" pitchFamily="34" charset="0"/>
                          <a:ea typeface="Consolas" pitchFamily="34" charset="-122"/>
                          <a:cs typeface="Consolas" pitchFamily="34" charset="-120"/>
                        </a:rPr>
                        <a:t>KEY SIZE</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a:solidFill>
                            <a:srgbClr val="FFFFFF"/>
                          </a:solidFill>
                          <a:latin typeface="Consolas" pitchFamily="34" charset="0"/>
                          <a:ea typeface="Consolas" pitchFamily="34" charset="-122"/>
                          <a:cs typeface="Consolas" pitchFamily="34" charset="-120"/>
                        </a:rPr>
                        <a:t>ROUNDS</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a:solidFill>
                            <a:srgbClr val="FFFFFF"/>
                          </a:solidFill>
                          <a:latin typeface="Consolas" pitchFamily="34" charset="0"/>
                          <a:ea typeface="Consolas" pitchFamily="34" charset="-122"/>
                          <a:cs typeface="Consolas" pitchFamily="34" charset="-120"/>
                        </a:rPr>
                        <a:t>PREDICTED RATIO</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a:solidFill>
                            <a:srgbClr val="FFFFFF"/>
                          </a:solidFill>
                          <a:latin typeface="Consolas" pitchFamily="34" charset="0"/>
                          <a:ea typeface="Consolas" pitchFamily="34" charset="-122"/>
                          <a:cs typeface="Consolas" pitchFamily="34" charset="-120"/>
                        </a:rPr>
                        <a:t>OBSERVED (CBC)</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a:solidFill>
                            <a:srgbClr val="FFFFFF"/>
                          </a:solidFill>
                          <a:latin typeface="Consolas" pitchFamily="34" charset="0"/>
                          <a:ea typeface="Consolas" pitchFamily="34" charset="-122"/>
                          <a:cs typeface="Consolas" pitchFamily="34" charset="-120"/>
                        </a:rPr>
                        <a:t>OBSERVED (CTR)</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a:solidFill>
                            <a:srgbClr val="FFFFFF"/>
                          </a:solidFill>
                          <a:latin typeface="Consolas" pitchFamily="34" charset="0"/>
                          <a:ea typeface="Consolas" pitchFamily="34" charset="-122"/>
                          <a:cs typeface="Consolas" pitchFamily="34" charset="-120"/>
                        </a:rPr>
                        <a:t>OBSERVED (GCM)</a:t>
                      </a:r>
                      <a:endParaRPr lang="en-US" sz="11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57200">
                <a:tc>
                  <a:txBody>
                    <a:bodyPr/>
                    <a:lstStyle/>
                    <a:p>
                      <a:pPr marL="0" indent="0">
                        <a:buNone/>
                      </a:pPr>
                      <a:r>
                        <a:rPr lang="en-US" sz="1200" b="1">
                          <a:solidFill>
                            <a:srgbClr val="0F172A"/>
                          </a:solidFill>
                        </a:rPr>
                        <a:t>AES-128</a:t>
                      </a:r>
                      <a:endParaRPr lang="en-US" sz="120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D9488"/>
                          </a:solidFill>
                          <a:latin typeface="Consolas" pitchFamily="34" charset="0"/>
                          <a:ea typeface="Consolas" pitchFamily="34" charset="-122"/>
                          <a:cs typeface="Consolas" pitchFamily="34" charset="-120"/>
                        </a:rPr>
                        <a:t>10</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latin typeface="Consolas" pitchFamily="34" charset="0"/>
                          <a:ea typeface="Consolas" pitchFamily="34" charset="-122"/>
                          <a:cs typeface="Consolas" pitchFamily="34" charset="-120"/>
                        </a:rPr>
                        <a:t>1.00  (baseline)</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latin typeface="Consolas" pitchFamily="34" charset="0"/>
                          <a:ea typeface="Consolas" pitchFamily="34" charset="-122"/>
                          <a:cs typeface="Consolas" pitchFamily="34" charset="-120"/>
                        </a:rPr>
                        <a:t>1.00</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latin typeface="Consolas" pitchFamily="34" charset="0"/>
                          <a:ea typeface="Consolas" pitchFamily="34" charset="-122"/>
                          <a:cs typeface="Consolas" pitchFamily="34" charset="-120"/>
                        </a:rPr>
                        <a:t>1.00</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latin typeface="Consolas" pitchFamily="34" charset="0"/>
                          <a:ea typeface="Consolas" pitchFamily="34" charset="-122"/>
                          <a:cs typeface="Consolas" pitchFamily="34" charset="-120"/>
                        </a:rPr>
                        <a:t>1.00</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a:solidFill>
                            <a:srgbClr val="0F172A"/>
                          </a:solidFill>
                        </a:rPr>
                        <a:t>AES-192</a:t>
                      </a:r>
                      <a:endParaRPr lang="en-US" sz="120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D9488"/>
                          </a:solidFill>
                          <a:latin typeface="Consolas" pitchFamily="34" charset="0"/>
                          <a:ea typeface="Consolas" pitchFamily="34" charset="-122"/>
                          <a:cs typeface="Consolas" pitchFamily="34" charset="-120"/>
                        </a:rPr>
                        <a:t>12</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a:solidFill>
                            <a:srgbClr val="0F172A"/>
                          </a:solidFill>
                          <a:latin typeface="Consolas" pitchFamily="34" charset="0"/>
                          <a:ea typeface="Consolas" pitchFamily="34" charset="-122"/>
                          <a:cs typeface="Consolas" pitchFamily="34" charset="-120"/>
                        </a:rPr>
                        <a:t>0.833  (10 / 12)</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a:solidFill>
                            <a:srgbClr val="0D9488"/>
                          </a:solidFill>
                          <a:latin typeface="Consolas" pitchFamily="34" charset="0"/>
                          <a:ea typeface="Consolas" pitchFamily="34" charset="-122"/>
                          <a:cs typeface="Consolas" pitchFamily="34" charset="-120"/>
                        </a:rPr>
                        <a:t>0.840</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a:solidFill>
                            <a:srgbClr val="0D9488"/>
                          </a:solidFill>
                          <a:latin typeface="Consolas" pitchFamily="34" charset="0"/>
                          <a:ea typeface="Consolas" pitchFamily="34" charset="-122"/>
                          <a:cs typeface="Consolas" pitchFamily="34" charset="-120"/>
                        </a:rPr>
                        <a:t>0.845</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a:solidFill>
                            <a:srgbClr val="0F172A"/>
                          </a:solidFill>
                          <a:latin typeface="Consolas" pitchFamily="34" charset="0"/>
                          <a:ea typeface="Consolas" pitchFamily="34" charset="-122"/>
                          <a:cs typeface="Consolas" pitchFamily="34" charset="-120"/>
                        </a:rPr>
                        <a:t>0.913</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57200">
                <a:tc>
                  <a:txBody>
                    <a:bodyPr/>
                    <a:lstStyle/>
                    <a:p>
                      <a:pPr marL="0" indent="0">
                        <a:buNone/>
                      </a:pPr>
                      <a:r>
                        <a:rPr lang="en-US" sz="1200" b="1">
                          <a:solidFill>
                            <a:srgbClr val="0F172A"/>
                          </a:solidFill>
                        </a:rPr>
                        <a:t>AES-256</a:t>
                      </a:r>
                      <a:endParaRPr lang="en-US" sz="120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D9488"/>
                          </a:solidFill>
                          <a:latin typeface="Consolas" pitchFamily="34" charset="0"/>
                          <a:ea typeface="Consolas" pitchFamily="34" charset="-122"/>
                          <a:cs typeface="Consolas" pitchFamily="34" charset="-120"/>
                        </a:rPr>
                        <a:t>14</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a:solidFill>
                            <a:srgbClr val="0F172A"/>
                          </a:solidFill>
                          <a:latin typeface="Consolas" pitchFamily="34" charset="0"/>
                          <a:ea typeface="Consolas" pitchFamily="34" charset="-122"/>
                          <a:cs typeface="Consolas" pitchFamily="34" charset="-120"/>
                        </a:rPr>
                        <a:t>0.714  (10 / 14)</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D9488"/>
                          </a:solidFill>
                          <a:latin typeface="Consolas" pitchFamily="34" charset="0"/>
                          <a:ea typeface="Consolas" pitchFamily="34" charset="-122"/>
                          <a:cs typeface="Consolas" pitchFamily="34" charset="-120"/>
                        </a:rPr>
                        <a:t>0.716</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D9488"/>
                          </a:solidFill>
                          <a:latin typeface="Consolas" pitchFamily="34" charset="0"/>
                          <a:ea typeface="Consolas" pitchFamily="34" charset="-122"/>
                          <a:cs typeface="Consolas" pitchFamily="34" charset="-120"/>
                        </a:rPr>
                        <a:t>0.729</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a:solidFill>
                            <a:srgbClr val="0F172A"/>
                          </a:solidFill>
                          <a:latin typeface="Consolas" pitchFamily="34" charset="0"/>
                          <a:ea typeface="Consolas" pitchFamily="34" charset="-122"/>
                          <a:cs typeface="Consolas" pitchFamily="34" charset="-120"/>
                        </a:rPr>
                        <a:t>0.841</a:t>
                      </a:r>
                      <a:endParaRPr lang="en-US" sz="1200">
                        <a:latin typeface="Consolas" charset="0"/>
                        <a:ea typeface="Consolas" charset="0"/>
                        <a:cs typeface="Consola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5"/>
          <p:cNvSpPr/>
          <p:nvPr/>
        </p:nvSpPr>
        <p:spPr>
          <a:xfrm>
            <a:off x="548640" y="4800600"/>
            <a:ext cx="5440680" cy="1600200"/>
          </a:xfrm>
          <a:prstGeom prst="rect">
            <a:avLst/>
          </a:prstGeom>
          <a:solidFill>
            <a:srgbClr val="FFFFFF"/>
          </a:solidFill>
          <a:ln w="12700">
            <a:solidFill>
              <a:srgbClr val="E2E8F0"/>
            </a:solidFill>
            <a:prstDash val="solid"/>
          </a:ln>
          <a:effectLst>
            <a:outerShdw blurRad="76200" dist="25400" dir="5400000" algn="bl" rotWithShape="0">
              <a:srgbClr val="000000">
                <a:alpha val="6000"/>
              </a:srgbClr>
            </a:outerShdw>
          </a:effectLst>
        </p:spPr>
      </p:sp>
      <p:sp>
        <p:nvSpPr>
          <p:cNvPr id="7" name="Shape 6"/>
          <p:cNvSpPr/>
          <p:nvPr/>
        </p:nvSpPr>
        <p:spPr>
          <a:xfrm>
            <a:off x="548640" y="4800600"/>
            <a:ext cx="91440" cy="1600200"/>
          </a:xfrm>
          <a:prstGeom prst="rect">
            <a:avLst/>
          </a:prstGeom>
          <a:solidFill>
            <a:srgbClr val="14B8A6"/>
          </a:solidFill>
          <a:ln w="12700">
            <a:solidFill>
              <a:srgbClr val="14B8A6"/>
            </a:solidFill>
            <a:prstDash val="solid"/>
          </a:ln>
        </p:spPr>
      </p:sp>
      <p:sp>
        <p:nvSpPr>
          <p:cNvPr id="10" name="Text 7"/>
          <p:cNvSpPr/>
          <p:nvPr/>
        </p:nvSpPr>
        <p:spPr>
          <a:xfrm>
            <a:off x="777240" y="4892040"/>
            <a:ext cx="5029200" cy="32004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CBC and CTR match theory</a:t>
            </a:r>
            <a:endParaRPr lang="en-US" sz="1400"/>
          </a:p>
        </p:txBody>
      </p:sp>
      <p:sp>
        <p:nvSpPr>
          <p:cNvPr id="11" name="Text 8"/>
          <p:cNvSpPr/>
          <p:nvPr/>
        </p:nvSpPr>
        <p:spPr>
          <a:xfrm>
            <a:off x="777240" y="5212080"/>
            <a:ext cx="5029200" cy="1097280"/>
          </a:xfrm>
          <a:prstGeom prst="rect">
            <a:avLst/>
          </a:prstGeom>
          <a:noFill/>
          <a:ln/>
        </p:spPr>
        <p:txBody>
          <a:bodyPr wrap="square" lIns="0" tIns="0" rIns="0" bIns="0" rtlCol="0" anchor="ctr"/>
          <a:lstStyle/>
          <a:p>
            <a:pPr marL="0" indent="0">
              <a:buNone/>
            </a:pPr>
            <a:r>
              <a:rPr lang="en-US" sz="1100">
                <a:solidFill>
                  <a:srgbClr val="64748B"/>
                </a:solidFill>
                <a:latin typeface="Calibri"/>
                <a:ea typeface="Calibri"/>
                <a:cs typeface="Calibri"/>
              </a:rPr>
              <a:t>The CBC and CTR ratios land within 2 % of the predicted 10/12 and 10/14 ratios.  The CPU spends its time exactly where the round function says it should, every extra round is a real, measurable cost.</a:t>
            </a:r>
            <a:endParaRPr lang="en-US" sz="1100">
              <a:latin typeface="Calibri"/>
              <a:ea typeface="Calibri"/>
              <a:cs typeface="Calibri"/>
            </a:endParaRPr>
          </a:p>
        </p:txBody>
      </p:sp>
      <p:sp>
        <p:nvSpPr>
          <p:cNvPr id="12" name="Shape 9"/>
          <p:cNvSpPr/>
          <p:nvPr/>
        </p:nvSpPr>
        <p:spPr>
          <a:xfrm>
            <a:off x="6172200" y="4800600"/>
            <a:ext cx="5440680" cy="1600200"/>
          </a:xfrm>
          <a:prstGeom prst="rect">
            <a:avLst/>
          </a:prstGeom>
          <a:solidFill>
            <a:srgbClr val="FFFFFF"/>
          </a:solidFill>
          <a:ln w="12700">
            <a:solidFill>
              <a:srgbClr val="E2E8F0"/>
            </a:solidFill>
            <a:prstDash val="solid"/>
          </a:ln>
          <a:effectLst>
            <a:outerShdw blurRad="76200" dist="25400" dir="5400000" algn="bl" rotWithShape="0">
              <a:srgbClr val="000000">
                <a:alpha val="6000"/>
              </a:srgbClr>
            </a:outerShdw>
          </a:effectLst>
        </p:spPr>
      </p:sp>
      <p:sp>
        <p:nvSpPr>
          <p:cNvPr id="13" name="Shape 10"/>
          <p:cNvSpPr/>
          <p:nvPr/>
        </p:nvSpPr>
        <p:spPr>
          <a:xfrm>
            <a:off x="6172200" y="4800600"/>
            <a:ext cx="91440" cy="1600200"/>
          </a:xfrm>
          <a:prstGeom prst="rect">
            <a:avLst/>
          </a:prstGeom>
          <a:solidFill>
            <a:srgbClr val="F59E0B"/>
          </a:solidFill>
          <a:ln w="12700">
            <a:solidFill>
              <a:srgbClr val="F59E0B"/>
            </a:solidFill>
            <a:prstDash val="solid"/>
          </a:ln>
        </p:spPr>
      </p:sp>
      <p:sp>
        <p:nvSpPr>
          <p:cNvPr id="14" name="Text 11"/>
          <p:cNvSpPr/>
          <p:nvPr/>
        </p:nvSpPr>
        <p:spPr>
          <a:xfrm>
            <a:off x="6400800" y="4892040"/>
            <a:ext cx="5029200" cy="32004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GCM decays more slowly</a:t>
            </a:r>
            <a:endParaRPr lang="en-US" sz="1400"/>
          </a:p>
        </p:txBody>
      </p:sp>
      <p:sp>
        <p:nvSpPr>
          <p:cNvPr id="15" name="Text 12"/>
          <p:cNvSpPr/>
          <p:nvPr/>
        </p:nvSpPr>
        <p:spPr>
          <a:xfrm>
            <a:off x="6400800" y="5212080"/>
            <a:ext cx="5029200" cy="1097280"/>
          </a:xfrm>
          <a:prstGeom prst="rect">
            <a:avLst/>
          </a:prstGeom>
          <a:noFill/>
          <a:ln/>
        </p:spPr>
        <p:txBody>
          <a:bodyPr wrap="square" lIns="0" tIns="0" rIns="0" bIns="0" rtlCol="0" anchor="ctr"/>
          <a:lstStyle/>
          <a:p>
            <a:pPr marL="0" indent="0">
              <a:buNone/>
            </a:pPr>
            <a:r>
              <a:rPr lang="en-US" sz="1100">
                <a:solidFill>
                  <a:srgbClr val="64748B"/>
                </a:solidFill>
                <a:latin typeface="Calibri"/>
                <a:ea typeface="Calibri"/>
                <a:cs typeface="Calibri"/>
              </a:rPr>
              <a:t>GCM's ratios (0.91, 0.84) are higher than 10/12 and 10/14.  GHASH does not get more expensive with bigger keys, so it dilutes the round-count penalty.  The extra rounds are still there, they are just a smaller share of GCM's total work.</a:t>
            </a:r>
            <a:endParaRPr lang="en-US" sz="1100">
              <a:latin typeface="Calibri"/>
              <a:ea typeface="Calibri"/>
              <a:cs typeface="Calibri"/>
            </a:endParaRPr>
          </a:p>
        </p:txBody>
      </p:sp>
      <p:sp>
        <p:nvSpPr>
          <p:cNvPr id="17" name="Text 14"/>
          <p:cNvSpPr/>
          <p:nvPr/>
        </p:nvSpPr>
        <p:spPr>
          <a:xfrm>
            <a:off x="11430000" y="6492240"/>
            <a:ext cx="457200" cy="274320"/>
          </a:xfrm>
          <a:prstGeom prst="rect">
            <a:avLst/>
          </a:prstGeom>
          <a:noFill/>
          <a:ln/>
        </p:spPr>
        <p:txBody>
          <a:bodyPr wrap="square" lIns="0" tIns="0" rIns="0" bIns="0" rtlCol="0" anchor="ctr"/>
          <a:lstStyle/>
          <a:p>
            <a:pPr marL="0" indent="0" algn="r">
              <a:buNone/>
            </a:pPr>
            <a:endParaRPr lang="en-US" sz="1000">
              <a:solidFill>
                <a:srgbClr val="64748B"/>
              </a:solidFill>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14B8A6"/>
          </a:solidFill>
          <a:ln w="12700">
            <a:solidFill>
              <a:srgbClr val="14B8A6"/>
            </a:solidFill>
            <a:prstDash val="solid"/>
          </a:ln>
        </p:spPr>
      </p:sp>
      <p:sp>
        <p:nvSpPr>
          <p:cNvPr id="4" name="Text 2"/>
          <p:cNvSpPr/>
          <p:nvPr/>
        </p:nvSpPr>
        <p:spPr>
          <a:xfrm>
            <a:off x="548640" y="594360"/>
            <a:ext cx="10972800" cy="731520"/>
          </a:xfrm>
          <a:prstGeom prst="rect">
            <a:avLst/>
          </a:prstGeom>
          <a:noFill/>
          <a:ln/>
        </p:spPr>
        <p:txBody>
          <a:bodyPr wrap="square" lIns="0" tIns="0" rIns="0" bIns="0" rtlCol="0" anchor="ctr"/>
          <a:lstStyle/>
          <a:p>
            <a:pPr marL="0" indent="0">
              <a:buNone/>
            </a:pPr>
            <a:r>
              <a:rPr lang="en-US" sz="3200" b="1">
                <a:solidFill>
                  <a:srgbClr val="0F172A"/>
                </a:solidFill>
                <a:latin typeface="Calibri"/>
                <a:ea typeface="Calibri"/>
                <a:cs typeface="Calibri"/>
              </a:rPr>
              <a:t>Analysis  II.  The Modes</a:t>
            </a:r>
            <a:endParaRPr lang="en-US" sz="3200"/>
          </a:p>
        </p:txBody>
      </p:sp>
      <p:sp>
        <p:nvSpPr>
          <p:cNvPr id="5" name="Shape 3"/>
          <p:cNvSpPr/>
          <p:nvPr/>
        </p:nvSpPr>
        <p:spPr>
          <a:xfrm>
            <a:off x="548640" y="1371600"/>
            <a:ext cx="1097280" cy="0"/>
          </a:xfrm>
          <a:prstGeom prst="line">
            <a:avLst/>
          </a:prstGeom>
          <a:noFill/>
          <a:ln w="31750">
            <a:solidFill>
              <a:srgbClr val="14B8A6"/>
            </a:solidFill>
            <a:prstDash val="solid"/>
          </a:ln>
        </p:spPr>
      </p:sp>
      <p:sp>
        <p:nvSpPr>
          <p:cNvPr id="6" name="Text 4"/>
          <p:cNvSpPr/>
          <p:nvPr/>
        </p:nvSpPr>
        <p:spPr>
          <a:xfrm>
            <a:off x="548640" y="1600200"/>
            <a:ext cx="11064240" cy="502920"/>
          </a:xfrm>
          <a:prstGeom prst="rect">
            <a:avLst/>
          </a:prstGeom>
          <a:noFill/>
          <a:ln/>
        </p:spPr>
        <p:txBody>
          <a:bodyPr wrap="square" lIns="0" tIns="0" rIns="0" bIns="0" rtlCol="0" anchor="ctr"/>
          <a:lstStyle/>
          <a:p>
            <a:r>
              <a:rPr lang="en-US" sz="1300" b="1">
                <a:solidFill>
                  <a:srgbClr val="0F172A"/>
                </a:solidFill>
                <a:latin typeface="Calibri"/>
                <a:ea typeface="Calibri"/>
                <a:cs typeface="Calibri"/>
              </a:rPr>
              <a:t>Changing the mode of operation moves throughput by up to 3×, far more than changing the key size.  </a:t>
            </a:r>
            <a:r>
              <a:rPr lang="en-US" sz="1300">
                <a:solidFill>
                  <a:srgbClr val="0F172A"/>
                </a:solidFill>
                <a:latin typeface="Calibri"/>
                <a:ea typeface="Calibri"/>
                <a:cs typeface="Calibri"/>
              </a:rPr>
              <a:t>IPC shows the A72 pipeline is idle more than half the time in CBC and busier in CTR/GCM.</a:t>
            </a:r>
            <a:endParaRPr lang="en-US" sz="1300">
              <a:latin typeface="Calibri"/>
              <a:ea typeface="Calibri"/>
              <a:cs typeface="Calibri"/>
            </a:endParaRPr>
          </a:p>
        </p:txBody>
      </p:sp>
      <p:sp>
        <p:nvSpPr>
          <p:cNvPr id="7" name="Shape 5"/>
          <p:cNvSpPr/>
          <p:nvPr/>
        </p:nvSpPr>
        <p:spPr>
          <a:xfrm>
            <a:off x="548640" y="2286000"/>
            <a:ext cx="3611880" cy="1737360"/>
          </a:xfrm>
          <a:prstGeom prst="rect">
            <a:avLst/>
          </a:prstGeom>
          <a:solidFill>
            <a:srgbClr val="FFFFFF"/>
          </a:solidFill>
          <a:ln w="12700">
            <a:solidFill>
              <a:srgbClr val="E2E8F0"/>
            </a:solidFill>
            <a:prstDash val="solid"/>
          </a:ln>
          <a:effectLst>
            <a:outerShdw blurRad="76200" dist="25400" dir="5400000" algn="bl" rotWithShape="0">
              <a:srgbClr val="000000">
                <a:alpha val="6000"/>
              </a:srgbClr>
            </a:outerShdw>
          </a:effectLst>
        </p:spPr>
      </p:sp>
      <p:sp>
        <p:nvSpPr>
          <p:cNvPr id="8" name="Shape 6"/>
          <p:cNvSpPr/>
          <p:nvPr/>
        </p:nvSpPr>
        <p:spPr>
          <a:xfrm>
            <a:off x="548640" y="2286000"/>
            <a:ext cx="3611880" cy="109728"/>
          </a:xfrm>
          <a:prstGeom prst="rect">
            <a:avLst/>
          </a:prstGeom>
          <a:solidFill>
            <a:srgbClr val="F59E0B"/>
          </a:solidFill>
          <a:ln w="12700">
            <a:solidFill>
              <a:srgbClr val="F59E0B"/>
            </a:solidFill>
            <a:prstDash val="solid"/>
          </a:ln>
        </p:spPr>
      </p:sp>
      <p:sp>
        <p:nvSpPr>
          <p:cNvPr id="9" name="Text 7"/>
          <p:cNvSpPr/>
          <p:nvPr/>
        </p:nvSpPr>
        <p:spPr>
          <a:xfrm>
            <a:off x="777240" y="2514600"/>
            <a:ext cx="3200400" cy="777240"/>
          </a:xfrm>
          <a:prstGeom prst="rect">
            <a:avLst/>
          </a:prstGeom>
          <a:noFill/>
          <a:ln/>
        </p:spPr>
        <p:txBody>
          <a:bodyPr wrap="square" lIns="0" tIns="0" rIns="0" bIns="0" rtlCol="0" anchor="ctr"/>
          <a:lstStyle/>
          <a:p>
            <a:pPr marL="0" indent="0">
              <a:buNone/>
            </a:pPr>
            <a:r>
              <a:rPr lang="en-US" sz="5200" b="1">
                <a:solidFill>
                  <a:srgbClr val="0F172A"/>
                </a:solidFill>
                <a:latin typeface="Calibri" pitchFamily="34" charset="0"/>
                <a:ea typeface="Calibri" pitchFamily="34" charset="-122"/>
                <a:cs typeface="Calibri" pitchFamily="34" charset="-120"/>
              </a:rPr>
              <a:t>50.6</a:t>
            </a:r>
            <a:endParaRPr lang="en-US" sz="5200"/>
          </a:p>
        </p:txBody>
      </p:sp>
      <p:sp>
        <p:nvSpPr>
          <p:cNvPr id="10" name="Text 8"/>
          <p:cNvSpPr/>
          <p:nvPr/>
        </p:nvSpPr>
        <p:spPr>
          <a:xfrm>
            <a:off x="2468880" y="2926080"/>
            <a:ext cx="1554480" cy="365760"/>
          </a:xfrm>
          <a:prstGeom prst="rect">
            <a:avLst/>
          </a:prstGeom>
          <a:noFill/>
          <a:ln/>
        </p:spPr>
        <p:txBody>
          <a:bodyPr wrap="square" lIns="0" tIns="0" rIns="0" bIns="0" rtlCol="0" anchor="ctr"/>
          <a:lstStyle/>
          <a:p>
            <a:pPr marL="0" indent="0">
              <a:buNone/>
            </a:pPr>
            <a:r>
              <a:rPr lang="en-US" sz="1400">
                <a:solidFill>
                  <a:srgbClr val="64748B"/>
                </a:solidFill>
                <a:latin typeface="Consolas" pitchFamily="34" charset="0"/>
                <a:ea typeface="Consolas" pitchFamily="34" charset="-122"/>
                <a:cs typeface="Consolas" pitchFamily="34" charset="-120"/>
              </a:rPr>
              <a:t>MB/s</a:t>
            </a:r>
            <a:endParaRPr lang="en-US" sz="1400"/>
          </a:p>
        </p:txBody>
      </p:sp>
      <p:sp>
        <p:nvSpPr>
          <p:cNvPr id="11" name="Text 9"/>
          <p:cNvSpPr/>
          <p:nvPr/>
        </p:nvSpPr>
        <p:spPr>
          <a:xfrm>
            <a:off x="777240" y="3383280"/>
            <a:ext cx="3200400" cy="274320"/>
          </a:xfrm>
          <a:prstGeom prst="rect">
            <a:avLst/>
          </a:prstGeom>
          <a:noFill/>
          <a:ln/>
        </p:spPr>
        <p:txBody>
          <a:bodyPr wrap="square" lIns="0" tIns="0" rIns="0" bIns="0" rtlCol="0" anchor="ctr"/>
          <a:lstStyle/>
          <a:p>
            <a:pPr marL="0" indent="0">
              <a:buNone/>
            </a:pPr>
            <a:r>
              <a:rPr lang="en-US" sz="1200" b="1" kern="0" spc="100">
                <a:solidFill>
                  <a:srgbClr val="F59E0B"/>
                </a:solidFill>
                <a:latin typeface="Consolas" pitchFamily="34" charset="0"/>
                <a:ea typeface="Consolas" pitchFamily="34" charset="-122"/>
                <a:cs typeface="Consolas" pitchFamily="34" charset="-120"/>
              </a:rPr>
              <a:t>AES-128-CBC</a:t>
            </a:r>
            <a:endParaRPr lang="en-US" sz="1200"/>
          </a:p>
        </p:txBody>
      </p:sp>
      <p:sp>
        <p:nvSpPr>
          <p:cNvPr id="12" name="Text 10"/>
          <p:cNvSpPr/>
          <p:nvPr/>
        </p:nvSpPr>
        <p:spPr>
          <a:xfrm>
            <a:off x="777240" y="3657600"/>
            <a:ext cx="3200400" cy="274320"/>
          </a:xfrm>
          <a:prstGeom prst="rect">
            <a:avLst/>
          </a:prstGeom>
          <a:noFill/>
          <a:ln/>
        </p:spPr>
        <p:txBody>
          <a:bodyPr wrap="square" lIns="0" tIns="0" rIns="0" bIns="0" rtlCol="0" anchor="ctr"/>
          <a:lstStyle/>
          <a:p>
            <a:pPr marL="0" indent="0">
              <a:buNone/>
            </a:pPr>
            <a:r>
              <a:rPr lang="en-US" sz="1100">
                <a:solidFill>
                  <a:srgbClr val="64748B"/>
                </a:solidFill>
                <a:latin typeface="Consolas" pitchFamily="34" charset="0"/>
                <a:ea typeface="Consolas" pitchFamily="34" charset="-122"/>
                <a:cs typeface="Consolas" pitchFamily="34" charset="-120"/>
              </a:rPr>
              <a:t>IPC 0.63</a:t>
            </a:r>
            <a:endParaRPr lang="en-US" sz="1100"/>
          </a:p>
        </p:txBody>
      </p:sp>
      <p:sp>
        <p:nvSpPr>
          <p:cNvPr id="13" name="Shape 11"/>
          <p:cNvSpPr/>
          <p:nvPr/>
        </p:nvSpPr>
        <p:spPr>
          <a:xfrm>
            <a:off x="4361688" y="2286000"/>
            <a:ext cx="3611880" cy="1737360"/>
          </a:xfrm>
          <a:prstGeom prst="rect">
            <a:avLst/>
          </a:prstGeom>
          <a:solidFill>
            <a:srgbClr val="FFFFFF"/>
          </a:solidFill>
          <a:ln w="12700">
            <a:solidFill>
              <a:srgbClr val="E2E8F0"/>
            </a:solidFill>
            <a:prstDash val="solid"/>
          </a:ln>
          <a:effectLst>
            <a:outerShdw blurRad="76200" dist="25400" dir="5400000" algn="bl" rotWithShape="0">
              <a:srgbClr val="000000">
                <a:alpha val="6000"/>
              </a:srgbClr>
            </a:outerShdw>
          </a:effectLst>
        </p:spPr>
      </p:sp>
      <p:sp>
        <p:nvSpPr>
          <p:cNvPr id="14" name="Shape 12"/>
          <p:cNvSpPr/>
          <p:nvPr/>
        </p:nvSpPr>
        <p:spPr>
          <a:xfrm>
            <a:off x="4361688" y="2286000"/>
            <a:ext cx="3611880" cy="109728"/>
          </a:xfrm>
          <a:prstGeom prst="rect">
            <a:avLst/>
          </a:prstGeom>
          <a:solidFill>
            <a:srgbClr val="0D9488"/>
          </a:solidFill>
          <a:ln w="12700">
            <a:solidFill>
              <a:srgbClr val="0D9488"/>
            </a:solidFill>
            <a:prstDash val="solid"/>
          </a:ln>
        </p:spPr>
      </p:sp>
      <p:sp>
        <p:nvSpPr>
          <p:cNvPr id="15" name="Text 13"/>
          <p:cNvSpPr/>
          <p:nvPr/>
        </p:nvSpPr>
        <p:spPr>
          <a:xfrm>
            <a:off x="4590288" y="2514600"/>
            <a:ext cx="3200400" cy="777240"/>
          </a:xfrm>
          <a:prstGeom prst="rect">
            <a:avLst/>
          </a:prstGeom>
          <a:noFill/>
          <a:ln/>
        </p:spPr>
        <p:txBody>
          <a:bodyPr wrap="square" lIns="0" tIns="0" rIns="0" bIns="0" rtlCol="0" anchor="ctr"/>
          <a:lstStyle/>
          <a:p>
            <a:pPr marL="0" indent="0">
              <a:buNone/>
            </a:pPr>
            <a:r>
              <a:rPr lang="en-US" sz="5200" b="1">
                <a:solidFill>
                  <a:srgbClr val="0F172A"/>
                </a:solidFill>
                <a:latin typeface="Calibri" pitchFamily="34" charset="0"/>
                <a:ea typeface="Calibri" pitchFamily="34" charset="-122"/>
                <a:cs typeface="Calibri" pitchFamily="34" charset="-120"/>
              </a:rPr>
              <a:t>140.1</a:t>
            </a:r>
            <a:endParaRPr lang="en-US" sz="5200"/>
          </a:p>
        </p:txBody>
      </p:sp>
      <p:sp>
        <p:nvSpPr>
          <p:cNvPr id="16" name="Text 14"/>
          <p:cNvSpPr/>
          <p:nvPr/>
        </p:nvSpPr>
        <p:spPr>
          <a:xfrm>
            <a:off x="6281928" y="2926080"/>
            <a:ext cx="1554480" cy="365760"/>
          </a:xfrm>
          <a:prstGeom prst="rect">
            <a:avLst/>
          </a:prstGeom>
          <a:noFill/>
          <a:ln/>
        </p:spPr>
        <p:txBody>
          <a:bodyPr wrap="square" lIns="0" tIns="0" rIns="0" bIns="0" rtlCol="0" anchor="ctr"/>
          <a:lstStyle/>
          <a:p>
            <a:pPr marL="0" indent="0">
              <a:buNone/>
            </a:pPr>
            <a:r>
              <a:rPr lang="en-US" sz="1400">
                <a:solidFill>
                  <a:srgbClr val="64748B"/>
                </a:solidFill>
                <a:latin typeface="Consolas" pitchFamily="34" charset="0"/>
                <a:ea typeface="Consolas" pitchFamily="34" charset="-122"/>
                <a:cs typeface="Consolas" pitchFamily="34" charset="-120"/>
              </a:rPr>
              <a:t>MB/s</a:t>
            </a:r>
            <a:endParaRPr lang="en-US" sz="1400"/>
          </a:p>
        </p:txBody>
      </p:sp>
      <p:sp>
        <p:nvSpPr>
          <p:cNvPr id="17" name="Text 15"/>
          <p:cNvSpPr/>
          <p:nvPr/>
        </p:nvSpPr>
        <p:spPr>
          <a:xfrm>
            <a:off x="4590288" y="3383280"/>
            <a:ext cx="3200400" cy="274320"/>
          </a:xfrm>
          <a:prstGeom prst="rect">
            <a:avLst/>
          </a:prstGeom>
          <a:noFill/>
          <a:ln/>
        </p:spPr>
        <p:txBody>
          <a:bodyPr wrap="square" lIns="0" tIns="0" rIns="0" bIns="0" rtlCol="0" anchor="ctr"/>
          <a:lstStyle/>
          <a:p>
            <a:pPr marL="0" indent="0">
              <a:buNone/>
            </a:pPr>
            <a:r>
              <a:rPr lang="en-US" sz="1200" b="1" kern="0" spc="100">
                <a:solidFill>
                  <a:srgbClr val="0D9488"/>
                </a:solidFill>
                <a:latin typeface="Consolas" pitchFamily="34" charset="0"/>
                <a:ea typeface="Consolas" pitchFamily="34" charset="-122"/>
                <a:cs typeface="Consolas" pitchFamily="34" charset="-120"/>
              </a:rPr>
              <a:t>AES-128-CTR</a:t>
            </a:r>
            <a:endParaRPr lang="en-US" sz="1200"/>
          </a:p>
        </p:txBody>
      </p:sp>
      <p:sp>
        <p:nvSpPr>
          <p:cNvPr id="18" name="Text 16"/>
          <p:cNvSpPr/>
          <p:nvPr/>
        </p:nvSpPr>
        <p:spPr>
          <a:xfrm>
            <a:off x="4590288" y="3657600"/>
            <a:ext cx="3200400" cy="274320"/>
          </a:xfrm>
          <a:prstGeom prst="rect">
            <a:avLst/>
          </a:prstGeom>
          <a:noFill/>
          <a:ln/>
        </p:spPr>
        <p:txBody>
          <a:bodyPr wrap="square" lIns="0" tIns="0" rIns="0" bIns="0" rtlCol="0" anchor="ctr"/>
          <a:lstStyle/>
          <a:p>
            <a:pPr marL="0" indent="0">
              <a:buNone/>
            </a:pPr>
            <a:r>
              <a:rPr lang="en-US" sz="1100">
                <a:solidFill>
                  <a:srgbClr val="64748B"/>
                </a:solidFill>
                <a:latin typeface="Consolas" pitchFamily="34" charset="0"/>
                <a:ea typeface="Consolas" pitchFamily="34" charset="-122"/>
                <a:cs typeface="Consolas" pitchFamily="34" charset="-120"/>
              </a:rPr>
              <a:t>IPC 1.61</a:t>
            </a:r>
            <a:endParaRPr lang="en-US" sz="1100"/>
          </a:p>
        </p:txBody>
      </p:sp>
      <p:sp>
        <p:nvSpPr>
          <p:cNvPr id="19" name="Shape 17"/>
          <p:cNvSpPr/>
          <p:nvPr/>
        </p:nvSpPr>
        <p:spPr>
          <a:xfrm>
            <a:off x="8174736" y="2286000"/>
            <a:ext cx="3611880" cy="1737360"/>
          </a:xfrm>
          <a:prstGeom prst="rect">
            <a:avLst/>
          </a:prstGeom>
          <a:solidFill>
            <a:srgbClr val="FFFFFF"/>
          </a:solidFill>
          <a:ln w="12700">
            <a:solidFill>
              <a:srgbClr val="E2E8F0"/>
            </a:solidFill>
            <a:prstDash val="solid"/>
          </a:ln>
          <a:effectLst>
            <a:outerShdw blurRad="76200" dist="25400" dir="5400000" algn="bl" rotWithShape="0">
              <a:srgbClr val="000000">
                <a:alpha val="6000"/>
              </a:srgbClr>
            </a:outerShdw>
          </a:effectLst>
        </p:spPr>
      </p:sp>
      <p:sp>
        <p:nvSpPr>
          <p:cNvPr id="20" name="Shape 18"/>
          <p:cNvSpPr/>
          <p:nvPr/>
        </p:nvSpPr>
        <p:spPr>
          <a:xfrm>
            <a:off x="8174736" y="2286000"/>
            <a:ext cx="3611880" cy="109728"/>
          </a:xfrm>
          <a:prstGeom prst="rect">
            <a:avLst/>
          </a:prstGeom>
          <a:solidFill>
            <a:srgbClr val="0F172A"/>
          </a:solidFill>
          <a:ln w="12700">
            <a:solidFill>
              <a:srgbClr val="0F172A"/>
            </a:solidFill>
            <a:prstDash val="solid"/>
          </a:ln>
        </p:spPr>
      </p:sp>
      <p:sp>
        <p:nvSpPr>
          <p:cNvPr id="21" name="Text 19"/>
          <p:cNvSpPr/>
          <p:nvPr/>
        </p:nvSpPr>
        <p:spPr>
          <a:xfrm>
            <a:off x="8403336" y="2514600"/>
            <a:ext cx="3200400" cy="777240"/>
          </a:xfrm>
          <a:prstGeom prst="rect">
            <a:avLst/>
          </a:prstGeom>
          <a:noFill/>
          <a:ln/>
        </p:spPr>
        <p:txBody>
          <a:bodyPr wrap="square" lIns="0" tIns="0" rIns="0" bIns="0" rtlCol="0" anchor="ctr"/>
          <a:lstStyle/>
          <a:p>
            <a:pPr marL="0" indent="0">
              <a:buNone/>
            </a:pPr>
            <a:r>
              <a:rPr lang="en-US" sz="5200" b="1">
                <a:solidFill>
                  <a:srgbClr val="0F172A"/>
                </a:solidFill>
                <a:latin typeface="Calibri" pitchFamily="34" charset="0"/>
                <a:ea typeface="Calibri" pitchFamily="34" charset="-122"/>
                <a:cs typeface="Calibri" pitchFamily="34" charset="-120"/>
              </a:rPr>
              <a:t>69.9</a:t>
            </a:r>
            <a:endParaRPr lang="en-US" sz="5200"/>
          </a:p>
        </p:txBody>
      </p:sp>
      <p:sp>
        <p:nvSpPr>
          <p:cNvPr id="22" name="Text 20"/>
          <p:cNvSpPr/>
          <p:nvPr/>
        </p:nvSpPr>
        <p:spPr>
          <a:xfrm>
            <a:off x="10094976" y="2926080"/>
            <a:ext cx="1554480" cy="365760"/>
          </a:xfrm>
          <a:prstGeom prst="rect">
            <a:avLst/>
          </a:prstGeom>
          <a:noFill/>
          <a:ln/>
        </p:spPr>
        <p:txBody>
          <a:bodyPr wrap="square" lIns="0" tIns="0" rIns="0" bIns="0" rtlCol="0" anchor="ctr"/>
          <a:lstStyle/>
          <a:p>
            <a:pPr marL="0" indent="0">
              <a:buNone/>
            </a:pPr>
            <a:r>
              <a:rPr lang="en-US" sz="1400">
                <a:solidFill>
                  <a:srgbClr val="64748B"/>
                </a:solidFill>
                <a:latin typeface="Consolas" pitchFamily="34" charset="0"/>
                <a:ea typeface="Consolas" pitchFamily="34" charset="-122"/>
                <a:cs typeface="Consolas" pitchFamily="34" charset="-120"/>
              </a:rPr>
              <a:t>MB/s</a:t>
            </a:r>
            <a:endParaRPr lang="en-US" sz="1400"/>
          </a:p>
        </p:txBody>
      </p:sp>
      <p:sp>
        <p:nvSpPr>
          <p:cNvPr id="23" name="Text 21"/>
          <p:cNvSpPr/>
          <p:nvPr/>
        </p:nvSpPr>
        <p:spPr>
          <a:xfrm>
            <a:off x="8403336" y="3383280"/>
            <a:ext cx="3200400" cy="274320"/>
          </a:xfrm>
          <a:prstGeom prst="rect">
            <a:avLst/>
          </a:prstGeom>
          <a:noFill/>
          <a:ln/>
        </p:spPr>
        <p:txBody>
          <a:bodyPr wrap="square" lIns="0" tIns="0" rIns="0" bIns="0" rtlCol="0" anchor="ctr"/>
          <a:lstStyle/>
          <a:p>
            <a:pPr marL="0" indent="0">
              <a:buNone/>
            </a:pPr>
            <a:r>
              <a:rPr lang="en-US" sz="1200" b="1" kern="0" spc="100">
                <a:solidFill>
                  <a:srgbClr val="0F172A"/>
                </a:solidFill>
                <a:latin typeface="Consolas" pitchFamily="34" charset="0"/>
                <a:ea typeface="Consolas" pitchFamily="34" charset="-122"/>
                <a:cs typeface="Consolas" pitchFamily="34" charset="-120"/>
              </a:rPr>
              <a:t>AES-128-GCM</a:t>
            </a:r>
            <a:endParaRPr lang="en-US" sz="1200"/>
          </a:p>
        </p:txBody>
      </p:sp>
      <p:sp>
        <p:nvSpPr>
          <p:cNvPr id="24" name="Text 22"/>
          <p:cNvSpPr/>
          <p:nvPr/>
        </p:nvSpPr>
        <p:spPr>
          <a:xfrm>
            <a:off x="8403336" y="3657600"/>
            <a:ext cx="3200400" cy="274320"/>
          </a:xfrm>
          <a:prstGeom prst="rect">
            <a:avLst/>
          </a:prstGeom>
          <a:noFill/>
          <a:ln/>
        </p:spPr>
        <p:txBody>
          <a:bodyPr wrap="square" lIns="0" tIns="0" rIns="0" bIns="0" rtlCol="0" anchor="ctr"/>
          <a:lstStyle/>
          <a:p>
            <a:pPr marL="0" indent="0">
              <a:buNone/>
            </a:pPr>
            <a:r>
              <a:rPr lang="en-US" sz="1100">
                <a:solidFill>
                  <a:srgbClr val="64748B"/>
                </a:solidFill>
                <a:latin typeface="Consolas" pitchFamily="34" charset="0"/>
                <a:ea typeface="Consolas" pitchFamily="34" charset="-122"/>
                <a:cs typeface="Consolas" pitchFamily="34" charset="-120"/>
              </a:rPr>
              <a:t>IPC 1.76</a:t>
            </a:r>
            <a:endParaRPr lang="en-US" sz="1100"/>
          </a:p>
        </p:txBody>
      </p:sp>
      <p:sp>
        <p:nvSpPr>
          <p:cNvPr id="25" name="Shape 23"/>
          <p:cNvSpPr/>
          <p:nvPr/>
        </p:nvSpPr>
        <p:spPr>
          <a:xfrm>
            <a:off x="548640" y="4206240"/>
            <a:ext cx="11064240" cy="2194560"/>
          </a:xfrm>
          <a:prstGeom prst="rect">
            <a:avLst/>
          </a:prstGeom>
          <a:solidFill>
            <a:srgbClr val="0F172A"/>
          </a:solidFill>
          <a:ln w="12700">
            <a:solidFill>
              <a:srgbClr val="0F172A"/>
            </a:solidFill>
            <a:prstDash val="solid"/>
          </a:ln>
        </p:spPr>
      </p:sp>
      <p:sp>
        <p:nvSpPr>
          <p:cNvPr id="26" name="Text 24"/>
          <p:cNvSpPr/>
          <p:nvPr/>
        </p:nvSpPr>
        <p:spPr>
          <a:xfrm>
            <a:off x="777240" y="4343400"/>
            <a:ext cx="7315200" cy="274320"/>
          </a:xfrm>
          <a:prstGeom prst="rect">
            <a:avLst/>
          </a:prstGeom>
          <a:noFill/>
          <a:ln/>
        </p:spPr>
        <p:txBody>
          <a:bodyPr wrap="square" lIns="0" tIns="0" rIns="0" bIns="0" rtlCol="0" anchor="ctr"/>
          <a:lstStyle/>
          <a:p>
            <a:pPr marL="0" indent="0">
              <a:buNone/>
            </a:pPr>
            <a:endParaRPr lang="en-US" sz="1100" b="1" kern="0" spc="300">
              <a:solidFill>
                <a:srgbClr val="14B8A6"/>
              </a:solidFill>
              <a:latin typeface="Consolas"/>
            </a:endParaRPr>
          </a:p>
        </p:txBody>
      </p:sp>
      <p:sp>
        <p:nvSpPr>
          <p:cNvPr id="27" name="Text 25"/>
          <p:cNvSpPr/>
          <p:nvPr/>
        </p:nvSpPr>
        <p:spPr>
          <a:xfrm>
            <a:off x="777240" y="4617720"/>
            <a:ext cx="10607040" cy="1737360"/>
          </a:xfrm>
          <a:prstGeom prst="rect">
            <a:avLst/>
          </a:prstGeom>
          <a:noFill/>
          <a:ln/>
        </p:spPr>
        <p:txBody>
          <a:bodyPr wrap="square" lIns="0" tIns="0" rIns="0" bIns="0" rtlCol="0" anchor="ctr"/>
          <a:lstStyle/>
          <a:p>
            <a:r>
              <a:rPr lang="en-US" sz="1200" b="1">
                <a:solidFill>
                  <a:srgbClr val="F59E0B"/>
                </a:solidFill>
                <a:latin typeface="Calibri"/>
                <a:ea typeface="Calibri"/>
                <a:cs typeface="Calibri"/>
              </a:rPr>
              <a:t>CBC is serially chained. </a:t>
            </a:r>
            <a:r>
              <a:rPr lang="en-US" sz="1200">
                <a:solidFill>
                  <a:srgbClr val="E2E8F0"/>
                </a:solidFill>
                <a:latin typeface="Calibri"/>
                <a:ea typeface="Calibri"/>
                <a:cs typeface="Calibri"/>
              </a:rPr>
              <a:t>Block N+1 cannot start until block N's ciphertext is written, so the Cortex-A72's out-of-order pipeline has nothing to schedule in parallel.  IPC collapses to 0.63, the core is idle more than half the time.</a:t>
            </a:r>
            <a:endParaRPr lang="en-US" sz="1200">
              <a:latin typeface="Calibri"/>
              <a:ea typeface="Calibri"/>
              <a:cs typeface="Calibri"/>
            </a:endParaRPr>
          </a:p>
          <a:p>
            <a:pPr marL="0" indent="0">
              <a:buNone/>
            </a:pPr>
            <a:endParaRPr lang="en-US" sz="1200"/>
          </a:p>
          <a:p>
            <a:pPr marL="0" indent="0">
              <a:buNone/>
            </a:pPr>
            <a:r>
              <a:rPr lang="en-US" sz="1200" b="1">
                <a:solidFill>
                  <a:srgbClr val="14B8A6"/>
                </a:solidFill>
                <a:latin typeface="Calibri" pitchFamily="34" charset="0"/>
                <a:ea typeface="Calibri" pitchFamily="34" charset="-122"/>
                <a:cs typeface="Calibri" pitchFamily="34" charset="-120"/>
              </a:rPr>
              <a:t>CTR encrypts an independent counter for every block. </a:t>
            </a:r>
            <a:endParaRPr lang="en-US" sz="1200"/>
          </a:p>
          <a:p>
            <a:r>
              <a:rPr lang="en-US" sz="1200">
                <a:solidFill>
                  <a:srgbClr val="E2E8F0"/>
                </a:solidFill>
                <a:latin typeface="Calibri"/>
                <a:ea typeface="Calibri"/>
                <a:cs typeface="Calibri"/>
              </a:rPr>
              <a:t>All blocks can be computed in parallel, so the pipeline fills up.  IPC rises to 1.61, and throughput jumps to 140 MB/s  the same AES math, just reorganized.</a:t>
            </a:r>
            <a:endParaRPr lang="en-US" sz="1200">
              <a:latin typeface="Calibri"/>
              <a:ea typeface="Calibri"/>
              <a:cs typeface="Calibri"/>
            </a:endParaRPr>
          </a:p>
          <a:p>
            <a:pPr marL="0" indent="0">
              <a:buNone/>
            </a:pPr>
            <a:endParaRPr lang="en-US" sz="1200"/>
          </a:p>
          <a:p>
            <a:pPr marL="0" indent="0">
              <a:buNone/>
            </a:pPr>
            <a:r>
              <a:rPr lang="en-US" sz="1200" b="1">
                <a:solidFill>
                  <a:srgbClr val="FDE68A"/>
                </a:solidFill>
                <a:latin typeface="Calibri" pitchFamily="34" charset="0"/>
                <a:ea typeface="Calibri" pitchFamily="34" charset="-122"/>
                <a:cs typeface="Calibri" pitchFamily="34" charset="-120"/>
              </a:rPr>
              <a:t>GCM = CTR + GHASH. </a:t>
            </a:r>
            <a:endParaRPr lang="en-US" sz="1200"/>
          </a:p>
          <a:p>
            <a:r>
              <a:rPr lang="en-US" sz="1200">
                <a:solidFill>
                  <a:srgbClr val="E2E8F0"/>
                </a:solidFill>
                <a:latin typeface="Calibri"/>
                <a:ea typeface="Calibri"/>
                <a:cs typeface="Calibri"/>
              </a:rPr>
              <a:t>The counter half parallelizes like CTR (IPC even higher at 1.76), but GHASH runs in software because the Pi 4 has no PMULL instruction.  That software fallback roughly halves CTR's throughput  giving GCM a middle result of ~70 MB/s.</a:t>
            </a:r>
            <a:endParaRPr lang="en-US" sz="1200">
              <a:latin typeface="Calibri"/>
              <a:ea typeface="Calibri"/>
              <a:cs typeface="Calibri"/>
            </a:endParaRPr>
          </a:p>
        </p:txBody>
      </p:sp>
      <p:sp>
        <p:nvSpPr>
          <p:cNvPr id="29" name="Text 27"/>
          <p:cNvSpPr/>
          <p:nvPr/>
        </p:nvSpPr>
        <p:spPr>
          <a:xfrm>
            <a:off x="11430000" y="6492240"/>
            <a:ext cx="457200" cy="274320"/>
          </a:xfrm>
          <a:prstGeom prst="rect">
            <a:avLst/>
          </a:prstGeom>
          <a:noFill/>
          <a:ln/>
        </p:spPr>
        <p:txBody>
          <a:bodyPr wrap="square" lIns="0" tIns="0" rIns="0" bIns="0" rtlCol="0" anchor="ctr"/>
          <a:lstStyle/>
          <a:p>
            <a:pPr marL="0" indent="0" algn="r">
              <a:buNone/>
            </a:pPr>
            <a:r>
              <a:rPr lang="en-US" sz="1000">
                <a:solidFill>
                  <a:srgbClr val="64748B"/>
                </a:solidFill>
                <a:latin typeface="Calibri" pitchFamily="34" charset="0"/>
                <a:ea typeface="Calibri" pitchFamily="34" charset="-122"/>
                <a:cs typeface="Calibri" pitchFamily="34" charset="-120"/>
              </a:rPr>
              <a:t>9</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73152"/>
          </a:xfrm>
          <a:prstGeom prst="ellipse">
            <a:avLst/>
          </a:prstGeom>
          <a:solidFill>
            <a:srgbClr val="14B8A6">
              <a:alpha val="40000"/>
            </a:srgbClr>
          </a:solidFill>
          <a:ln w="12700">
            <a:solidFill>
              <a:srgbClr val="14B8A6"/>
            </a:solidFill>
            <a:prstDash val="solid"/>
          </a:ln>
        </p:spPr>
      </p:sp>
      <p:sp>
        <p:nvSpPr>
          <p:cNvPr id="3" name="Shape 1"/>
          <p:cNvSpPr/>
          <p:nvPr/>
        </p:nvSpPr>
        <p:spPr>
          <a:xfrm>
            <a:off x="841248" y="457200"/>
            <a:ext cx="73152" cy="73152"/>
          </a:xfrm>
          <a:prstGeom prst="ellipse">
            <a:avLst/>
          </a:prstGeom>
          <a:solidFill>
            <a:srgbClr val="14B8A6">
              <a:alpha val="40000"/>
            </a:srgbClr>
          </a:solidFill>
          <a:ln w="12700">
            <a:solidFill>
              <a:srgbClr val="14B8A6"/>
            </a:solidFill>
            <a:prstDash val="solid"/>
          </a:ln>
        </p:spPr>
      </p:sp>
      <p:sp>
        <p:nvSpPr>
          <p:cNvPr id="4" name="Shape 2"/>
          <p:cNvSpPr/>
          <p:nvPr/>
        </p:nvSpPr>
        <p:spPr>
          <a:xfrm>
            <a:off x="1225296" y="457200"/>
            <a:ext cx="73152" cy="73152"/>
          </a:xfrm>
          <a:prstGeom prst="ellipse">
            <a:avLst/>
          </a:prstGeom>
          <a:solidFill>
            <a:srgbClr val="14B8A6">
              <a:alpha val="40000"/>
            </a:srgbClr>
          </a:solidFill>
          <a:ln w="12700">
            <a:solidFill>
              <a:srgbClr val="14B8A6"/>
            </a:solidFill>
            <a:prstDash val="solid"/>
          </a:ln>
        </p:spPr>
      </p:sp>
      <p:sp>
        <p:nvSpPr>
          <p:cNvPr id="5" name="Shape 3"/>
          <p:cNvSpPr/>
          <p:nvPr/>
        </p:nvSpPr>
        <p:spPr>
          <a:xfrm>
            <a:off x="1609344" y="457200"/>
            <a:ext cx="73152" cy="73152"/>
          </a:xfrm>
          <a:prstGeom prst="ellipse">
            <a:avLst/>
          </a:prstGeom>
          <a:solidFill>
            <a:srgbClr val="14B8A6">
              <a:alpha val="40000"/>
            </a:srgbClr>
          </a:solidFill>
          <a:ln w="12700">
            <a:solidFill>
              <a:srgbClr val="14B8A6"/>
            </a:solidFill>
            <a:prstDash val="solid"/>
          </a:ln>
        </p:spPr>
      </p:sp>
      <p:sp>
        <p:nvSpPr>
          <p:cNvPr id="6" name="Shape 4"/>
          <p:cNvSpPr/>
          <p:nvPr/>
        </p:nvSpPr>
        <p:spPr>
          <a:xfrm>
            <a:off x="1993392" y="457200"/>
            <a:ext cx="73152" cy="73152"/>
          </a:xfrm>
          <a:prstGeom prst="ellipse">
            <a:avLst/>
          </a:prstGeom>
          <a:solidFill>
            <a:srgbClr val="14B8A6">
              <a:alpha val="40000"/>
            </a:srgbClr>
          </a:solidFill>
          <a:ln w="12700">
            <a:solidFill>
              <a:srgbClr val="14B8A6"/>
            </a:solidFill>
            <a:prstDash val="solid"/>
          </a:ln>
        </p:spPr>
      </p:sp>
      <p:sp>
        <p:nvSpPr>
          <p:cNvPr id="7" name="Shape 5"/>
          <p:cNvSpPr/>
          <p:nvPr/>
        </p:nvSpPr>
        <p:spPr>
          <a:xfrm>
            <a:off x="2377440" y="457200"/>
            <a:ext cx="73152" cy="73152"/>
          </a:xfrm>
          <a:prstGeom prst="ellipse">
            <a:avLst/>
          </a:prstGeom>
          <a:solidFill>
            <a:srgbClr val="14B8A6">
              <a:alpha val="40000"/>
            </a:srgbClr>
          </a:solidFill>
          <a:ln w="12700">
            <a:solidFill>
              <a:srgbClr val="14B8A6"/>
            </a:solidFill>
            <a:prstDash val="solid"/>
          </a:ln>
        </p:spPr>
      </p:sp>
      <p:sp>
        <p:nvSpPr>
          <p:cNvPr id="8" name="Shape 6"/>
          <p:cNvSpPr/>
          <p:nvPr/>
        </p:nvSpPr>
        <p:spPr>
          <a:xfrm>
            <a:off x="457200" y="841248"/>
            <a:ext cx="73152" cy="73152"/>
          </a:xfrm>
          <a:prstGeom prst="ellipse">
            <a:avLst/>
          </a:prstGeom>
          <a:solidFill>
            <a:srgbClr val="14B8A6">
              <a:alpha val="40000"/>
            </a:srgbClr>
          </a:solidFill>
          <a:ln w="12700">
            <a:solidFill>
              <a:srgbClr val="14B8A6"/>
            </a:solidFill>
            <a:prstDash val="solid"/>
          </a:ln>
        </p:spPr>
      </p:sp>
      <p:sp>
        <p:nvSpPr>
          <p:cNvPr id="9" name="Shape 7"/>
          <p:cNvSpPr/>
          <p:nvPr/>
        </p:nvSpPr>
        <p:spPr>
          <a:xfrm>
            <a:off x="841248" y="841248"/>
            <a:ext cx="73152" cy="73152"/>
          </a:xfrm>
          <a:prstGeom prst="ellipse">
            <a:avLst/>
          </a:prstGeom>
          <a:solidFill>
            <a:srgbClr val="14B8A6">
              <a:alpha val="40000"/>
            </a:srgbClr>
          </a:solidFill>
          <a:ln w="12700">
            <a:solidFill>
              <a:srgbClr val="14B8A6"/>
            </a:solidFill>
            <a:prstDash val="solid"/>
          </a:ln>
        </p:spPr>
      </p:sp>
      <p:sp>
        <p:nvSpPr>
          <p:cNvPr id="10" name="Shape 8"/>
          <p:cNvSpPr/>
          <p:nvPr/>
        </p:nvSpPr>
        <p:spPr>
          <a:xfrm>
            <a:off x="1225296" y="841248"/>
            <a:ext cx="73152" cy="73152"/>
          </a:xfrm>
          <a:prstGeom prst="ellipse">
            <a:avLst/>
          </a:prstGeom>
          <a:solidFill>
            <a:srgbClr val="14B8A6">
              <a:alpha val="40000"/>
            </a:srgbClr>
          </a:solidFill>
          <a:ln w="12700">
            <a:solidFill>
              <a:srgbClr val="14B8A6"/>
            </a:solidFill>
            <a:prstDash val="solid"/>
          </a:ln>
        </p:spPr>
      </p:sp>
      <p:sp>
        <p:nvSpPr>
          <p:cNvPr id="11" name="Shape 9"/>
          <p:cNvSpPr/>
          <p:nvPr/>
        </p:nvSpPr>
        <p:spPr>
          <a:xfrm>
            <a:off x="1609344" y="841248"/>
            <a:ext cx="73152" cy="73152"/>
          </a:xfrm>
          <a:prstGeom prst="ellipse">
            <a:avLst/>
          </a:prstGeom>
          <a:solidFill>
            <a:srgbClr val="14B8A6">
              <a:alpha val="40000"/>
            </a:srgbClr>
          </a:solidFill>
          <a:ln w="12700">
            <a:solidFill>
              <a:srgbClr val="14B8A6"/>
            </a:solidFill>
            <a:prstDash val="solid"/>
          </a:ln>
        </p:spPr>
      </p:sp>
      <p:sp>
        <p:nvSpPr>
          <p:cNvPr id="12" name="Shape 10"/>
          <p:cNvSpPr/>
          <p:nvPr/>
        </p:nvSpPr>
        <p:spPr>
          <a:xfrm>
            <a:off x="1993392" y="841248"/>
            <a:ext cx="73152" cy="73152"/>
          </a:xfrm>
          <a:prstGeom prst="ellipse">
            <a:avLst/>
          </a:prstGeom>
          <a:solidFill>
            <a:srgbClr val="14B8A6">
              <a:alpha val="40000"/>
            </a:srgbClr>
          </a:solidFill>
          <a:ln w="12700">
            <a:solidFill>
              <a:srgbClr val="14B8A6"/>
            </a:solidFill>
            <a:prstDash val="solid"/>
          </a:ln>
        </p:spPr>
      </p:sp>
      <p:sp>
        <p:nvSpPr>
          <p:cNvPr id="13" name="Shape 11"/>
          <p:cNvSpPr/>
          <p:nvPr/>
        </p:nvSpPr>
        <p:spPr>
          <a:xfrm>
            <a:off x="2377440" y="841248"/>
            <a:ext cx="73152" cy="73152"/>
          </a:xfrm>
          <a:prstGeom prst="ellipse">
            <a:avLst/>
          </a:prstGeom>
          <a:solidFill>
            <a:srgbClr val="14B8A6">
              <a:alpha val="40000"/>
            </a:srgbClr>
          </a:solidFill>
          <a:ln w="12700">
            <a:solidFill>
              <a:srgbClr val="14B8A6"/>
            </a:solidFill>
            <a:prstDash val="solid"/>
          </a:ln>
        </p:spPr>
      </p:sp>
      <p:sp>
        <p:nvSpPr>
          <p:cNvPr id="14" name="Shape 12"/>
          <p:cNvSpPr/>
          <p:nvPr/>
        </p:nvSpPr>
        <p:spPr>
          <a:xfrm>
            <a:off x="457200" y="1225296"/>
            <a:ext cx="73152" cy="73152"/>
          </a:xfrm>
          <a:prstGeom prst="ellipse">
            <a:avLst/>
          </a:prstGeom>
          <a:solidFill>
            <a:srgbClr val="14B8A6">
              <a:alpha val="40000"/>
            </a:srgbClr>
          </a:solidFill>
          <a:ln w="12700">
            <a:solidFill>
              <a:srgbClr val="14B8A6"/>
            </a:solidFill>
            <a:prstDash val="solid"/>
          </a:ln>
        </p:spPr>
      </p:sp>
      <p:sp>
        <p:nvSpPr>
          <p:cNvPr id="15" name="Shape 13"/>
          <p:cNvSpPr/>
          <p:nvPr/>
        </p:nvSpPr>
        <p:spPr>
          <a:xfrm>
            <a:off x="841248" y="1225296"/>
            <a:ext cx="73152" cy="73152"/>
          </a:xfrm>
          <a:prstGeom prst="ellipse">
            <a:avLst/>
          </a:prstGeom>
          <a:solidFill>
            <a:srgbClr val="14B8A6">
              <a:alpha val="40000"/>
            </a:srgbClr>
          </a:solidFill>
          <a:ln w="12700">
            <a:solidFill>
              <a:srgbClr val="14B8A6"/>
            </a:solidFill>
            <a:prstDash val="solid"/>
          </a:ln>
        </p:spPr>
      </p:sp>
      <p:sp>
        <p:nvSpPr>
          <p:cNvPr id="16" name="Shape 14"/>
          <p:cNvSpPr/>
          <p:nvPr/>
        </p:nvSpPr>
        <p:spPr>
          <a:xfrm>
            <a:off x="1225296" y="1225296"/>
            <a:ext cx="73152" cy="73152"/>
          </a:xfrm>
          <a:prstGeom prst="ellipse">
            <a:avLst/>
          </a:prstGeom>
          <a:solidFill>
            <a:srgbClr val="14B8A6">
              <a:alpha val="40000"/>
            </a:srgbClr>
          </a:solidFill>
          <a:ln w="12700">
            <a:solidFill>
              <a:srgbClr val="14B8A6"/>
            </a:solidFill>
            <a:prstDash val="solid"/>
          </a:ln>
        </p:spPr>
      </p:sp>
      <p:sp>
        <p:nvSpPr>
          <p:cNvPr id="17" name="Shape 15"/>
          <p:cNvSpPr/>
          <p:nvPr/>
        </p:nvSpPr>
        <p:spPr>
          <a:xfrm>
            <a:off x="1609344" y="1225296"/>
            <a:ext cx="73152" cy="73152"/>
          </a:xfrm>
          <a:prstGeom prst="ellipse">
            <a:avLst/>
          </a:prstGeom>
          <a:solidFill>
            <a:srgbClr val="14B8A6">
              <a:alpha val="40000"/>
            </a:srgbClr>
          </a:solidFill>
          <a:ln w="12700">
            <a:solidFill>
              <a:srgbClr val="14B8A6"/>
            </a:solidFill>
            <a:prstDash val="solid"/>
          </a:ln>
        </p:spPr>
      </p:sp>
      <p:sp>
        <p:nvSpPr>
          <p:cNvPr id="18" name="Shape 16"/>
          <p:cNvSpPr/>
          <p:nvPr/>
        </p:nvSpPr>
        <p:spPr>
          <a:xfrm>
            <a:off x="1993392" y="1225296"/>
            <a:ext cx="73152" cy="73152"/>
          </a:xfrm>
          <a:prstGeom prst="ellipse">
            <a:avLst/>
          </a:prstGeom>
          <a:solidFill>
            <a:srgbClr val="14B8A6">
              <a:alpha val="40000"/>
            </a:srgbClr>
          </a:solidFill>
          <a:ln w="12700">
            <a:solidFill>
              <a:srgbClr val="14B8A6"/>
            </a:solidFill>
            <a:prstDash val="solid"/>
          </a:ln>
        </p:spPr>
      </p:sp>
      <p:sp>
        <p:nvSpPr>
          <p:cNvPr id="19" name="Shape 17"/>
          <p:cNvSpPr/>
          <p:nvPr/>
        </p:nvSpPr>
        <p:spPr>
          <a:xfrm>
            <a:off x="2377440" y="1225296"/>
            <a:ext cx="73152" cy="73152"/>
          </a:xfrm>
          <a:prstGeom prst="ellipse">
            <a:avLst/>
          </a:prstGeom>
          <a:solidFill>
            <a:srgbClr val="14B8A6">
              <a:alpha val="40000"/>
            </a:srgbClr>
          </a:solidFill>
          <a:ln w="12700">
            <a:solidFill>
              <a:srgbClr val="14B8A6"/>
            </a:solidFill>
            <a:prstDash val="solid"/>
          </a:ln>
        </p:spPr>
      </p:sp>
      <p:sp>
        <p:nvSpPr>
          <p:cNvPr id="20" name="Shape 18"/>
          <p:cNvSpPr/>
          <p:nvPr/>
        </p:nvSpPr>
        <p:spPr>
          <a:xfrm>
            <a:off x="457200" y="1609344"/>
            <a:ext cx="73152" cy="73152"/>
          </a:xfrm>
          <a:prstGeom prst="ellipse">
            <a:avLst/>
          </a:prstGeom>
          <a:solidFill>
            <a:srgbClr val="14B8A6">
              <a:alpha val="40000"/>
            </a:srgbClr>
          </a:solidFill>
          <a:ln w="12700">
            <a:solidFill>
              <a:srgbClr val="14B8A6"/>
            </a:solidFill>
            <a:prstDash val="solid"/>
          </a:ln>
        </p:spPr>
      </p:sp>
      <p:sp>
        <p:nvSpPr>
          <p:cNvPr id="21" name="Shape 19"/>
          <p:cNvSpPr/>
          <p:nvPr/>
        </p:nvSpPr>
        <p:spPr>
          <a:xfrm>
            <a:off x="841248" y="1609344"/>
            <a:ext cx="73152" cy="73152"/>
          </a:xfrm>
          <a:prstGeom prst="ellipse">
            <a:avLst/>
          </a:prstGeom>
          <a:solidFill>
            <a:srgbClr val="14B8A6">
              <a:alpha val="40000"/>
            </a:srgbClr>
          </a:solidFill>
          <a:ln w="12700">
            <a:solidFill>
              <a:srgbClr val="14B8A6"/>
            </a:solidFill>
            <a:prstDash val="solid"/>
          </a:ln>
        </p:spPr>
      </p:sp>
      <p:sp>
        <p:nvSpPr>
          <p:cNvPr id="22" name="Shape 20"/>
          <p:cNvSpPr/>
          <p:nvPr/>
        </p:nvSpPr>
        <p:spPr>
          <a:xfrm>
            <a:off x="1225296" y="1609344"/>
            <a:ext cx="73152" cy="73152"/>
          </a:xfrm>
          <a:prstGeom prst="ellipse">
            <a:avLst/>
          </a:prstGeom>
          <a:solidFill>
            <a:srgbClr val="14B8A6">
              <a:alpha val="40000"/>
            </a:srgbClr>
          </a:solidFill>
          <a:ln w="12700">
            <a:solidFill>
              <a:srgbClr val="14B8A6"/>
            </a:solidFill>
            <a:prstDash val="solid"/>
          </a:ln>
        </p:spPr>
      </p:sp>
      <p:sp>
        <p:nvSpPr>
          <p:cNvPr id="23" name="Shape 21"/>
          <p:cNvSpPr/>
          <p:nvPr/>
        </p:nvSpPr>
        <p:spPr>
          <a:xfrm>
            <a:off x="1609344" y="1609344"/>
            <a:ext cx="73152" cy="73152"/>
          </a:xfrm>
          <a:prstGeom prst="ellipse">
            <a:avLst/>
          </a:prstGeom>
          <a:solidFill>
            <a:srgbClr val="14B8A6">
              <a:alpha val="40000"/>
            </a:srgbClr>
          </a:solidFill>
          <a:ln w="12700">
            <a:solidFill>
              <a:srgbClr val="14B8A6"/>
            </a:solidFill>
            <a:prstDash val="solid"/>
          </a:ln>
        </p:spPr>
      </p:sp>
      <p:sp>
        <p:nvSpPr>
          <p:cNvPr id="24" name="Shape 22"/>
          <p:cNvSpPr/>
          <p:nvPr/>
        </p:nvSpPr>
        <p:spPr>
          <a:xfrm>
            <a:off x="1993392" y="1609344"/>
            <a:ext cx="73152" cy="73152"/>
          </a:xfrm>
          <a:prstGeom prst="ellipse">
            <a:avLst/>
          </a:prstGeom>
          <a:solidFill>
            <a:srgbClr val="14B8A6">
              <a:alpha val="40000"/>
            </a:srgbClr>
          </a:solidFill>
          <a:ln w="12700">
            <a:solidFill>
              <a:srgbClr val="14B8A6"/>
            </a:solidFill>
            <a:prstDash val="solid"/>
          </a:ln>
        </p:spPr>
      </p:sp>
      <p:sp>
        <p:nvSpPr>
          <p:cNvPr id="25" name="Shape 23"/>
          <p:cNvSpPr/>
          <p:nvPr/>
        </p:nvSpPr>
        <p:spPr>
          <a:xfrm>
            <a:off x="2377440" y="1609344"/>
            <a:ext cx="73152" cy="73152"/>
          </a:xfrm>
          <a:prstGeom prst="ellipse">
            <a:avLst/>
          </a:prstGeom>
          <a:solidFill>
            <a:srgbClr val="14B8A6">
              <a:alpha val="40000"/>
            </a:srgbClr>
          </a:solidFill>
          <a:ln w="12700">
            <a:solidFill>
              <a:srgbClr val="14B8A6"/>
            </a:solidFill>
            <a:prstDash val="solid"/>
          </a:ln>
        </p:spPr>
      </p:sp>
      <p:sp>
        <p:nvSpPr>
          <p:cNvPr id="26" name="Shape 24"/>
          <p:cNvSpPr/>
          <p:nvPr/>
        </p:nvSpPr>
        <p:spPr>
          <a:xfrm>
            <a:off x="457200" y="1993392"/>
            <a:ext cx="73152" cy="73152"/>
          </a:xfrm>
          <a:prstGeom prst="ellipse">
            <a:avLst/>
          </a:prstGeom>
          <a:solidFill>
            <a:srgbClr val="14B8A6">
              <a:alpha val="40000"/>
            </a:srgbClr>
          </a:solidFill>
          <a:ln w="12700">
            <a:solidFill>
              <a:srgbClr val="14B8A6"/>
            </a:solidFill>
            <a:prstDash val="solid"/>
          </a:ln>
        </p:spPr>
      </p:sp>
      <p:sp>
        <p:nvSpPr>
          <p:cNvPr id="27" name="Shape 25"/>
          <p:cNvSpPr/>
          <p:nvPr/>
        </p:nvSpPr>
        <p:spPr>
          <a:xfrm>
            <a:off x="841248" y="1993392"/>
            <a:ext cx="73152" cy="73152"/>
          </a:xfrm>
          <a:prstGeom prst="ellipse">
            <a:avLst/>
          </a:prstGeom>
          <a:solidFill>
            <a:srgbClr val="14B8A6">
              <a:alpha val="40000"/>
            </a:srgbClr>
          </a:solidFill>
          <a:ln w="12700">
            <a:solidFill>
              <a:srgbClr val="14B8A6"/>
            </a:solidFill>
            <a:prstDash val="solid"/>
          </a:ln>
        </p:spPr>
      </p:sp>
      <p:sp>
        <p:nvSpPr>
          <p:cNvPr id="28" name="Shape 26"/>
          <p:cNvSpPr/>
          <p:nvPr/>
        </p:nvSpPr>
        <p:spPr>
          <a:xfrm>
            <a:off x="1225296" y="1993392"/>
            <a:ext cx="73152" cy="73152"/>
          </a:xfrm>
          <a:prstGeom prst="ellipse">
            <a:avLst/>
          </a:prstGeom>
          <a:solidFill>
            <a:srgbClr val="14B8A6">
              <a:alpha val="40000"/>
            </a:srgbClr>
          </a:solidFill>
          <a:ln w="12700">
            <a:solidFill>
              <a:srgbClr val="14B8A6"/>
            </a:solidFill>
            <a:prstDash val="solid"/>
          </a:ln>
        </p:spPr>
      </p:sp>
      <p:sp>
        <p:nvSpPr>
          <p:cNvPr id="29" name="Shape 27"/>
          <p:cNvSpPr/>
          <p:nvPr/>
        </p:nvSpPr>
        <p:spPr>
          <a:xfrm>
            <a:off x="1609344" y="1993392"/>
            <a:ext cx="73152" cy="73152"/>
          </a:xfrm>
          <a:prstGeom prst="ellipse">
            <a:avLst/>
          </a:prstGeom>
          <a:solidFill>
            <a:srgbClr val="14B8A6">
              <a:alpha val="40000"/>
            </a:srgbClr>
          </a:solidFill>
          <a:ln w="12700">
            <a:solidFill>
              <a:srgbClr val="14B8A6"/>
            </a:solidFill>
            <a:prstDash val="solid"/>
          </a:ln>
        </p:spPr>
      </p:sp>
      <p:sp>
        <p:nvSpPr>
          <p:cNvPr id="30" name="Shape 28"/>
          <p:cNvSpPr/>
          <p:nvPr/>
        </p:nvSpPr>
        <p:spPr>
          <a:xfrm>
            <a:off x="1993392" y="1993392"/>
            <a:ext cx="73152" cy="73152"/>
          </a:xfrm>
          <a:prstGeom prst="ellipse">
            <a:avLst/>
          </a:prstGeom>
          <a:solidFill>
            <a:srgbClr val="14B8A6">
              <a:alpha val="40000"/>
            </a:srgbClr>
          </a:solidFill>
          <a:ln w="12700">
            <a:solidFill>
              <a:srgbClr val="14B8A6"/>
            </a:solidFill>
            <a:prstDash val="solid"/>
          </a:ln>
        </p:spPr>
      </p:sp>
      <p:sp>
        <p:nvSpPr>
          <p:cNvPr id="31" name="Shape 29"/>
          <p:cNvSpPr/>
          <p:nvPr/>
        </p:nvSpPr>
        <p:spPr>
          <a:xfrm>
            <a:off x="2377440" y="1993392"/>
            <a:ext cx="73152" cy="73152"/>
          </a:xfrm>
          <a:prstGeom prst="ellipse">
            <a:avLst/>
          </a:prstGeom>
          <a:solidFill>
            <a:srgbClr val="14B8A6">
              <a:alpha val="40000"/>
            </a:srgbClr>
          </a:solidFill>
          <a:ln w="12700">
            <a:solidFill>
              <a:srgbClr val="14B8A6"/>
            </a:solidFill>
            <a:prstDash val="solid"/>
          </a:ln>
        </p:spPr>
      </p:sp>
      <p:sp>
        <p:nvSpPr>
          <p:cNvPr id="32" name="Shape 30"/>
          <p:cNvSpPr/>
          <p:nvPr/>
        </p:nvSpPr>
        <p:spPr>
          <a:xfrm>
            <a:off x="457200" y="2377440"/>
            <a:ext cx="73152" cy="73152"/>
          </a:xfrm>
          <a:prstGeom prst="ellipse">
            <a:avLst/>
          </a:prstGeom>
          <a:solidFill>
            <a:srgbClr val="14B8A6">
              <a:alpha val="40000"/>
            </a:srgbClr>
          </a:solidFill>
          <a:ln w="12700">
            <a:solidFill>
              <a:srgbClr val="14B8A6"/>
            </a:solidFill>
            <a:prstDash val="solid"/>
          </a:ln>
        </p:spPr>
      </p:sp>
      <p:sp>
        <p:nvSpPr>
          <p:cNvPr id="33" name="Shape 31"/>
          <p:cNvSpPr/>
          <p:nvPr/>
        </p:nvSpPr>
        <p:spPr>
          <a:xfrm>
            <a:off x="841248" y="2377440"/>
            <a:ext cx="73152" cy="73152"/>
          </a:xfrm>
          <a:prstGeom prst="ellipse">
            <a:avLst/>
          </a:prstGeom>
          <a:solidFill>
            <a:srgbClr val="14B8A6">
              <a:alpha val="40000"/>
            </a:srgbClr>
          </a:solidFill>
          <a:ln w="12700">
            <a:solidFill>
              <a:srgbClr val="14B8A6"/>
            </a:solidFill>
            <a:prstDash val="solid"/>
          </a:ln>
        </p:spPr>
      </p:sp>
      <p:sp>
        <p:nvSpPr>
          <p:cNvPr id="34" name="Shape 32"/>
          <p:cNvSpPr/>
          <p:nvPr/>
        </p:nvSpPr>
        <p:spPr>
          <a:xfrm>
            <a:off x="1225296" y="2377440"/>
            <a:ext cx="73152" cy="73152"/>
          </a:xfrm>
          <a:prstGeom prst="ellipse">
            <a:avLst/>
          </a:prstGeom>
          <a:solidFill>
            <a:srgbClr val="14B8A6">
              <a:alpha val="40000"/>
            </a:srgbClr>
          </a:solidFill>
          <a:ln w="12700">
            <a:solidFill>
              <a:srgbClr val="14B8A6"/>
            </a:solidFill>
            <a:prstDash val="solid"/>
          </a:ln>
        </p:spPr>
      </p:sp>
      <p:sp>
        <p:nvSpPr>
          <p:cNvPr id="35" name="Shape 33"/>
          <p:cNvSpPr/>
          <p:nvPr/>
        </p:nvSpPr>
        <p:spPr>
          <a:xfrm>
            <a:off x="1609344" y="2377440"/>
            <a:ext cx="73152" cy="73152"/>
          </a:xfrm>
          <a:prstGeom prst="ellipse">
            <a:avLst/>
          </a:prstGeom>
          <a:solidFill>
            <a:srgbClr val="14B8A6">
              <a:alpha val="40000"/>
            </a:srgbClr>
          </a:solidFill>
          <a:ln w="12700">
            <a:solidFill>
              <a:srgbClr val="14B8A6"/>
            </a:solidFill>
            <a:prstDash val="solid"/>
          </a:ln>
        </p:spPr>
      </p:sp>
      <p:sp>
        <p:nvSpPr>
          <p:cNvPr id="36" name="Shape 34"/>
          <p:cNvSpPr/>
          <p:nvPr/>
        </p:nvSpPr>
        <p:spPr>
          <a:xfrm>
            <a:off x="1993392" y="2377440"/>
            <a:ext cx="73152" cy="73152"/>
          </a:xfrm>
          <a:prstGeom prst="ellipse">
            <a:avLst/>
          </a:prstGeom>
          <a:solidFill>
            <a:srgbClr val="14B8A6">
              <a:alpha val="40000"/>
            </a:srgbClr>
          </a:solidFill>
          <a:ln w="12700">
            <a:solidFill>
              <a:srgbClr val="14B8A6"/>
            </a:solidFill>
            <a:prstDash val="solid"/>
          </a:ln>
        </p:spPr>
      </p:sp>
      <p:sp>
        <p:nvSpPr>
          <p:cNvPr id="37" name="Shape 35"/>
          <p:cNvSpPr/>
          <p:nvPr/>
        </p:nvSpPr>
        <p:spPr>
          <a:xfrm>
            <a:off x="2377440" y="2377440"/>
            <a:ext cx="73152" cy="73152"/>
          </a:xfrm>
          <a:prstGeom prst="ellipse">
            <a:avLst/>
          </a:prstGeom>
          <a:solidFill>
            <a:srgbClr val="14B8A6">
              <a:alpha val="40000"/>
            </a:srgbClr>
          </a:solidFill>
          <a:ln w="12700">
            <a:solidFill>
              <a:srgbClr val="14B8A6"/>
            </a:solidFill>
            <a:prstDash val="solid"/>
          </a:ln>
        </p:spPr>
      </p:sp>
      <p:sp>
        <p:nvSpPr>
          <p:cNvPr id="38" name="Shape 36"/>
          <p:cNvSpPr/>
          <p:nvPr/>
        </p:nvSpPr>
        <p:spPr>
          <a:xfrm>
            <a:off x="457200" y="2761488"/>
            <a:ext cx="73152" cy="73152"/>
          </a:xfrm>
          <a:prstGeom prst="ellipse">
            <a:avLst/>
          </a:prstGeom>
          <a:solidFill>
            <a:srgbClr val="14B8A6">
              <a:alpha val="40000"/>
            </a:srgbClr>
          </a:solidFill>
          <a:ln w="12700">
            <a:solidFill>
              <a:srgbClr val="14B8A6"/>
            </a:solidFill>
            <a:prstDash val="solid"/>
          </a:ln>
        </p:spPr>
      </p:sp>
      <p:sp>
        <p:nvSpPr>
          <p:cNvPr id="39" name="Shape 37"/>
          <p:cNvSpPr/>
          <p:nvPr/>
        </p:nvSpPr>
        <p:spPr>
          <a:xfrm>
            <a:off x="841248" y="2761488"/>
            <a:ext cx="73152" cy="73152"/>
          </a:xfrm>
          <a:prstGeom prst="ellipse">
            <a:avLst/>
          </a:prstGeom>
          <a:solidFill>
            <a:srgbClr val="14B8A6">
              <a:alpha val="40000"/>
            </a:srgbClr>
          </a:solidFill>
          <a:ln w="12700">
            <a:solidFill>
              <a:srgbClr val="14B8A6"/>
            </a:solidFill>
            <a:prstDash val="solid"/>
          </a:ln>
        </p:spPr>
      </p:sp>
      <p:sp>
        <p:nvSpPr>
          <p:cNvPr id="40" name="Shape 38"/>
          <p:cNvSpPr/>
          <p:nvPr/>
        </p:nvSpPr>
        <p:spPr>
          <a:xfrm>
            <a:off x="1225296" y="2761488"/>
            <a:ext cx="73152" cy="73152"/>
          </a:xfrm>
          <a:prstGeom prst="ellipse">
            <a:avLst/>
          </a:prstGeom>
          <a:solidFill>
            <a:srgbClr val="14B8A6">
              <a:alpha val="40000"/>
            </a:srgbClr>
          </a:solidFill>
          <a:ln w="12700">
            <a:solidFill>
              <a:srgbClr val="14B8A6"/>
            </a:solidFill>
            <a:prstDash val="solid"/>
          </a:ln>
        </p:spPr>
      </p:sp>
      <p:sp>
        <p:nvSpPr>
          <p:cNvPr id="41" name="Shape 39"/>
          <p:cNvSpPr/>
          <p:nvPr/>
        </p:nvSpPr>
        <p:spPr>
          <a:xfrm>
            <a:off x="1609344" y="2761488"/>
            <a:ext cx="73152" cy="73152"/>
          </a:xfrm>
          <a:prstGeom prst="ellipse">
            <a:avLst/>
          </a:prstGeom>
          <a:solidFill>
            <a:srgbClr val="14B8A6">
              <a:alpha val="40000"/>
            </a:srgbClr>
          </a:solidFill>
          <a:ln w="12700">
            <a:solidFill>
              <a:srgbClr val="14B8A6"/>
            </a:solidFill>
            <a:prstDash val="solid"/>
          </a:ln>
        </p:spPr>
      </p:sp>
      <p:sp>
        <p:nvSpPr>
          <p:cNvPr id="42" name="Shape 40"/>
          <p:cNvSpPr/>
          <p:nvPr/>
        </p:nvSpPr>
        <p:spPr>
          <a:xfrm>
            <a:off x="1993392" y="2761488"/>
            <a:ext cx="73152" cy="73152"/>
          </a:xfrm>
          <a:prstGeom prst="ellipse">
            <a:avLst/>
          </a:prstGeom>
          <a:solidFill>
            <a:srgbClr val="14B8A6">
              <a:alpha val="40000"/>
            </a:srgbClr>
          </a:solidFill>
          <a:ln w="12700">
            <a:solidFill>
              <a:srgbClr val="14B8A6"/>
            </a:solidFill>
            <a:prstDash val="solid"/>
          </a:ln>
        </p:spPr>
      </p:sp>
      <p:sp>
        <p:nvSpPr>
          <p:cNvPr id="43" name="Shape 41"/>
          <p:cNvSpPr/>
          <p:nvPr/>
        </p:nvSpPr>
        <p:spPr>
          <a:xfrm>
            <a:off x="2377440" y="2761488"/>
            <a:ext cx="73152" cy="73152"/>
          </a:xfrm>
          <a:prstGeom prst="ellipse">
            <a:avLst/>
          </a:prstGeom>
          <a:solidFill>
            <a:srgbClr val="14B8A6">
              <a:alpha val="40000"/>
            </a:srgbClr>
          </a:solidFill>
          <a:ln w="12700">
            <a:solidFill>
              <a:srgbClr val="14B8A6"/>
            </a:solidFill>
            <a:prstDash val="solid"/>
          </a:ln>
        </p:spPr>
      </p:sp>
      <p:sp>
        <p:nvSpPr>
          <p:cNvPr id="44" name="Shape 42"/>
          <p:cNvSpPr/>
          <p:nvPr/>
        </p:nvSpPr>
        <p:spPr>
          <a:xfrm>
            <a:off x="457200" y="3145536"/>
            <a:ext cx="73152" cy="73152"/>
          </a:xfrm>
          <a:prstGeom prst="ellipse">
            <a:avLst/>
          </a:prstGeom>
          <a:solidFill>
            <a:srgbClr val="14B8A6">
              <a:alpha val="40000"/>
            </a:srgbClr>
          </a:solidFill>
          <a:ln w="12700">
            <a:solidFill>
              <a:srgbClr val="14B8A6"/>
            </a:solidFill>
            <a:prstDash val="solid"/>
          </a:ln>
        </p:spPr>
      </p:sp>
      <p:sp>
        <p:nvSpPr>
          <p:cNvPr id="45" name="Shape 43"/>
          <p:cNvSpPr/>
          <p:nvPr/>
        </p:nvSpPr>
        <p:spPr>
          <a:xfrm>
            <a:off x="841248" y="3145536"/>
            <a:ext cx="73152" cy="73152"/>
          </a:xfrm>
          <a:prstGeom prst="ellipse">
            <a:avLst/>
          </a:prstGeom>
          <a:solidFill>
            <a:srgbClr val="14B8A6">
              <a:alpha val="40000"/>
            </a:srgbClr>
          </a:solidFill>
          <a:ln w="12700">
            <a:solidFill>
              <a:srgbClr val="14B8A6"/>
            </a:solidFill>
            <a:prstDash val="solid"/>
          </a:ln>
        </p:spPr>
      </p:sp>
      <p:sp>
        <p:nvSpPr>
          <p:cNvPr id="46" name="Shape 44"/>
          <p:cNvSpPr/>
          <p:nvPr/>
        </p:nvSpPr>
        <p:spPr>
          <a:xfrm>
            <a:off x="1225296" y="3145536"/>
            <a:ext cx="73152" cy="73152"/>
          </a:xfrm>
          <a:prstGeom prst="ellipse">
            <a:avLst/>
          </a:prstGeom>
          <a:solidFill>
            <a:srgbClr val="14B8A6">
              <a:alpha val="40000"/>
            </a:srgbClr>
          </a:solidFill>
          <a:ln w="12700">
            <a:solidFill>
              <a:srgbClr val="14B8A6"/>
            </a:solidFill>
            <a:prstDash val="solid"/>
          </a:ln>
        </p:spPr>
      </p:sp>
      <p:sp>
        <p:nvSpPr>
          <p:cNvPr id="47" name="Shape 45"/>
          <p:cNvSpPr/>
          <p:nvPr/>
        </p:nvSpPr>
        <p:spPr>
          <a:xfrm>
            <a:off x="1609344" y="3145536"/>
            <a:ext cx="73152" cy="73152"/>
          </a:xfrm>
          <a:prstGeom prst="ellipse">
            <a:avLst/>
          </a:prstGeom>
          <a:solidFill>
            <a:srgbClr val="14B8A6">
              <a:alpha val="40000"/>
            </a:srgbClr>
          </a:solidFill>
          <a:ln w="12700">
            <a:solidFill>
              <a:srgbClr val="14B8A6"/>
            </a:solidFill>
            <a:prstDash val="solid"/>
          </a:ln>
        </p:spPr>
      </p:sp>
      <p:sp>
        <p:nvSpPr>
          <p:cNvPr id="48" name="Shape 46"/>
          <p:cNvSpPr/>
          <p:nvPr/>
        </p:nvSpPr>
        <p:spPr>
          <a:xfrm>
            <a:off x="1993392" y="3145536"/>
            <a:ext cx="73152" cy="73152"/>
          </a:xfrm>
          <a:prstGeom prst="ellipse">
            <a:avLst/>
          </a:prstGeom>
          <a:solidFill>
            <a:srgbClr val="14B8A6">
              <a:alpha val="40000"/>
            </a:srgbClr>
          </a:solidFill>
          <a:ln w="12700">
            <a:solidFill>
              <a:srgbClr val="14B8A6"/>
            </a:solidFill>
            <a:prstDash val="solid"/>
          </a:ln>
        </p:spPr>
      </p:sp>
      <p:sp>
        <p:nvSpPr>
          <p:cNvPr id="49" name="Shape 47"/>
          <p:cNvSpPr/>
          <p:nvPr/>
        </p:nvSpPr>
        <p:spPr>
          <a:xfrm>
            <a:off x="2377440" y="3145536"/>
            <a:ext cx="73152" cy="73152"/>
          </a:xfrm>
          <a:prstGeom prst="ellipse">
            <a:avLst/>
          </a:prstGeom>
          <a:solidFill>
            <a:srgbClr val="14B8A6">
              <a:alpha val="40000"/>
            </a:srgbClr>
          </a:solidFill>
          <a:ln w="12700">
            <a:solidFill>
              <a:srgbClr val="14B8A6"/>
            </a:solidFill>
            <a:prstDash val="solid"/>
          </a:ln>
        </p:spPr>
      </p:sp>
      <p:sp>
        <p:nvSpPr>
          <p:cNvPr id="50" name="Shape 48"/>
          <p:cNvSpPr/>
          <p:nvPr/>
        </p:nvSpPr>
        <p:spPr>
          <a:xfrm>
            <a:off x="5394960" y="3017520"/>
            <a:ext cx="137160" cy="1371600"/>
          </a:xfrm>
          <a:prstGeom prst="rect">
            <a:avLst/>
          </a:prstGeom>
          <a:solidFill>
            <a:srgbClr val="14B8A6"/>
          </a:solidFill>
          <a:ln w="12700">
            <a:solidFill>
              <a:srgbClr val="14B8A6"/>
            </a:solidFill>
            <a:prstDash val="solid"/>
          </a:ln>
        </p:spPr>
      </p:sp>
      <p:sp>
        <p:nvSpPr>
          <p:cNvPr id="52" name="Text 50"/>
          <p:cNvSpPr/>
          <p:nvPr/>
        </p:nvSpPr>
        <p:spPr>
          <a:xfrm>
            <a:off x="5669280" y="3337560"/>
            <a:ext cx="7315200" cy="731520"/>
          </a:xfrm>
          <a:prstGeom prst="rect">
            <a:avLst/>
          </a:prstGeom>
          <a:noFill/>
          <a:ln/>
        </p:spPr>
        <p:txBody>
          <a:bodyPr wrap="square" lIns="0" tIns="0" rIns="0" bIns="0" rtlCol="0" anchor="ctr"/>
          <a:lstStyle/>
          <a:p>
            <a:pPr marL="0" indent="0">
              <a:buNone/>
            </a:pPr>
            <a:r>
              <a:rPr lang="en-US" sz="4400" b="1">
                <a:solidFill>
                  <a:srgbClr val="FFFFFF"/>
                </a:solidFill>
                <a:latin typeface="Calibri" pitchFamily="34" charset="0"/>
                <a:ea typeface="Calibri" pitchFamily="34" charset="-122"/>
                <a:cs typeface="Calibri" pitchFamily="34" charset="-120"/>
              </a:rPr>
              <a:t>Thank you.</a:t>
            </a:r>
            <a:endParaRPr lang="en-US" sz="4400"/>
          </a:p>
        </p:txBody>
      </p:sp>
      <p:sp>
        <p:nvSpPr>
          <p:cNvPr id="54" name="Shape 52"/>
          <p:cNvSpPr/>
          <p:nvPr/>
        </p:nvSpPr>
        <p:spPr>
          <a:xfrm>
            <a:off x="5669280" y="4800600"/>
            <a:ext cx="2743200" cy="0"/>
          </a:xfrm>
          <a:prstGeom prst="line">
            <a:avLst/>
          </a:prstGeom>
          <a:noFill/>
          <a:ln w="19050">
            <a:solidFill>
              <a:srgbClr val="14B8A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AES Benchmarking on Raspberry Pi 4</dc:title>
  <dc:subject>PptxGenJS Presentation</dc:subject>
  <dc:creator>Dhruv Bhatnagar, Waamiq Sharrar, Mikael Parsamyan, Parsa Ghasemi</dc:creator>
  <cp:revision>2</cp:revision>
  <dcterms:created xsi:type="dcterms:W3CDTF">2026-04-06T00:21:37Z</dcterms:created>
  <dcterms:modified xsi:type="dcterms:W3CDTF">2026-04-07T01:16:14Z</dcterms:modified>
</cp:coreProperties>
</file>