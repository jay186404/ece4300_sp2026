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Average"/>
      <p:regular r:id="rId21"/>
    </p:embeddedFont>
    <p:embeddedFont>
      <p:font typeface="Oswald"/>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5FEA36-0F14-421B-9723-4FB909D8675B}">
  <a:tblStyle styleId="{0D5FEA36-0F14-421B-9723-4FB909D8675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Oswald-regular.fntdata"/><Relationship Id="rId10" Type="http://schemas.openxmlformats.org/officeDocument/2006/relationships/slide" Target="slides/slide4.xml"/><Relationship Id="rId21" Type="http://schemas.openxmlformats.org/officeDocument/2006/relationships/font" Target="fonts/Average-regular.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Oswa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a186dae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a186dae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goal of this project is to implement AES encryption and measure its performance. We verify correctness using known plaintext and ciphertext values, then run the encryption repeatedly to measure total execution time and compute the average time per encryption.</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a186daee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a186daee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AES, or Advanced Encryption Standard, is a symmetric encryption algorithm that processes data in blocks of 128 bits, which is 16 bytes. It uses a secret key to perform multiple rounds of mathematical transformations on the data. In each round, the algorithm substitutes bytes using an S-box, shifts rows of data, mixes columns using finite field arithmetic, and adds a round key derived from the original key. These repeated transformations scramble the data so that it becomes secure and cannot be easily reversed without the correct key.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a186daee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a186daee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Benchmarking helps us understand how fast an algorithm runs. Instead of timing a single encryption, we run the encryption many times, such as one million times, and measure the total runtime. Then we divide the total time by the number of encryptions to find the average time per encryption.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a186daee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da186daee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system uses a C implementation of AES. We use predefined test vectors to verify that the encryption produces the correct output. A loop is used to repeat the encryption many times to measure performance.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a29d11523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a29d11523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a186daee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a186daee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program starts by defining the key and plaintext values. It initializes the AES encryption context, then encrypts the data block using ECB mode. This process is repeated many times to measure performance, and the final result is compared with the expected ciphertext to confirm correctness.</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a186daee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a186daee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shows how the program runs. The encryption process is repeated many times to generate measurable runtime data. The total execution time is recorded, and then the average time per encryption is calculated.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a29d1152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a29d1152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a19329fd9_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a19329fd9_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a186daee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a186daee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a19329fd9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a19329fd9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a29d11523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a29d11523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a19329fd9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a19329fd9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AES Encryption</a:t>
            </a:r>
            <a:endParaRPr/>
          </a:p>
        </p:txBody>
      </p:sp>
      <p:sp>
        <p:nvSpPr>
          <p:cNvPr id="60" name="Google Shape;60;p13"/>
          <p:cNvSpPr txBox="1"/>
          <p:nvPr>
            <p:ph idx="1" type="subTitle"/>
          </p:nvPr>
        </p:nvSpPr>
        <p:spPr>
          <a:xfrm>
            <a:off x="311700" y="3091900"/>
            <a:ext cx="8520600" cy="17454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None/>
            </a:pPr>
            <a:r>
              <a:rPr lang="en" sz="3000"/>
              <a:t>Group C</a:t>
            </a:r>
            <a:endParaRPr sz="3000"/>
          </a:p>
          <a:p>
            <a:pPr indent="0" lvl="0" marL="0" rtl="0" algn="ctr">
              <a:lnSpc>
                <a:spcPct val="80000"/>
              </a:lnSpc>
              <a:spcBef>
                <a:spcPts val="0"/>
              </a:spcBef>
              <a:spcAft>
                <a:spcPts val="0"/>
              </a:spcAft>
              <a:buNone/>
            </a:pPr>
            <a:r>
              <a:t/>
            </a:r>
            <a:endParaRPr sz="1100"/>
          </a:p>
          <a:p>
            <a:pPr indent="0" lvl="0" marL="0" rtl="0" algn="ctr">
              <a:lnSpc>
                <a:spcPct val="80000"/>
              </a:lnSpc>
              <a:spcBef>
                <a:spcPts val="0"/>
              </a:spcBef>
              <a:spcAft>
                <a:spcPts val="0"/>
              </a:spcAft>
              <a:buNone/>
            </a:pPr>
            <a:r>
              <a:rPr lang="en" sz="1600"/>
              <a:t>Andrew Chang</a:t>
            </a:r>
            <a:endParaRPr sz="1600"/>
          </a:p>
          <a:p>
            <a:pPr indent="0" lvl="0" marL="0" rtl="0" algn="ctr">
              <a:lnSpc>
                <a:spcPct val="80000"/>
              </a:lnSpc>
              <a:spcBef>
                <a:spcPts val="0"/>
              </a:spcBef>
              <a:spcAft>
                <a:spcPts val="0"/>
              </a:spcAft>
              <a:buNone/>
            </a:pPr>
            <a:r>
              <a:rPr lang="en" sz="1600"/>
              <a:t>Adam DeVictoria</a:t>
            </a:r>
            <a:endParaRPr sz="1600"/>
          </a:p>
          <a:p>
            <a:pPr indent="0" lvl="0" marL="0" rtl="0" algn="ctr">
              <a:lnSpc>
                <a:spcPct val="80000"/>
              </a:lnSpc>
              <a:spcBef>
                <a:spcPts val="0"/>
              </a:spcBef>
              <a:spcAft>
                <a:spcPts val="0"/>
              </a:spcAft>
              <a:buNone/>
            </a:pPr>
            <a:r>
              <a:rPr lang="en" sz="1600"/>
              <a:t>Rachel Martinez</a:t>
            </a:r>
            <a:endParaRPr sz="1600"/>
          </a:p>
          <a:p>
            <a:pPr indent="0" lvl="0" marL="0" rtl="0" algn="ctr">
              <a:lnSpc>
                <a:spcPct val="80000"/>
              </a:lnSpc>
              <a:spcBef>
                <a:spcPts val="0"/>
              </a:spcBef>
              <a:spcAft>
                <a:spcPts val="0"/>
              </a:spcAft>
              <a:buNone/>
            </a:pPr>
            <a:r>
              <a:rPr lang="en" sz="1600"/>
              <a:t>Nicholas Williams</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Implement AES 128, 192, and 256 encryption in C</a:t>
            </a:r>
            <a:endParaRPr sz="1600"/>
          </a:p>
          <a:p>
            <a:pPr indent="-330200" lvl="0" marL="457200" rtl="0" algn="l">
              <a:lnSpc>
                <a:spcPct val="200000"/>
              </a:lnSpc>
              <a:spcBef>
                <a:spcPts val="0"/>
              </a:spcBef>
              <a:spcAft>
                <a:spcPts val="0"/>
              </a:spcAft>
              <a:buSzPts val="1600"/>
              <a:buChar char="●"/>
            </a:pPr>
            <a:r>
              <a:rPr lang="en" sz="1600"/>
              <a:t>Measure execution time for repeated encryptions and calculate </a:t>
            </a:r>
            <a:r>
              <a:rPr lang="en" sz="1600"/>
              <a:t>average</a:t>
            </a:r>
            <a:r>
              <a:rPr lang="en" sz="1600"/>
              <a:t> time per encryption</a:t>
            </a:r>
            <a:endParaRPr sz="1600"/>
          </a:p>
          <a:p>
            <a:pPr indent="-330200" lvl="0" marL="457200" rtl="0" algn="l">
              <a:lnSpc>
                <a:spcPct val="200000"/>
              </a:lnSpc>
              <a:spcBef>
                <a:spcPts val="0"/>
              </a:spcBef>
              <a:spcAft>
                <a:spcPts val="0"/>
              </a:spcAft>
              <a:buSzPts val="1600"/>
              <a:buChar char="●"/>
            </a:pPr>
            <a:r>
              <a:rPr lang="en" sz="1600"/>
              <a:t>Compare the difference between encryption times based on block sizes</a:t>
            </a:r>
            <a:endParaRPr sz="1600"/>
          </a:p>
          <a:p>
            <a:pPr indent="-330200" lvl="0" marL="457200" rtl="0" algn="l">
              <a:lnSpc>
                <a:spcPct val="200000"/>
              </a:lnSpc>
              <a:spcBef>
                <a:spcPts val="0"/>
              </a:spcBef>
              <a:spcAft>
                <a:spcPts val="0"/>
              </a:spcAft>
              <a:buSzPts val="1600"/>
              <a:buChar char="●"/>
            </a:pPr>
            <a:r>
              <a:rPr lang="en" sz="1600"/>
              <a:t>Evaluate performance of AES software implementation</a:t>
            </a:r>
            <a:endParaRPr sz="1600"/>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AES</a:t>
            </a:r>
            <a:endParaRPr/>
          </a:p>
        </p:txBody>
      </p:sp>
      <p:sp>
        <p:nvSpPr>
          <p:cNvPr id="72" name="Google Shape;72;p15"/>
          <p:cNvSpPr txBox="1"/>
          <p:nvPr>
            <p:ph idx="1" type="body"/>
          </p:nvPr>
        </p:nvSpPr>
        <p:spPr>
          <a:xfrm>
            <a:off x="311700" y="1152475"/>
            <a:ext cx="82320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Advanced Encryption Standard</a:t>
            </a:r>
            <a:endParaRPr sz="1600"/>
          </a:p>
          <a:p>
            <a:pPr indent="-330200" lvl="0" marL="457200" rtl="0" algn="l">
              <a:lnSpc>
                <a:spcPct val="200000"/>
              </a:lnSpc>
              <a:spcBef>
                <a:spcPts val="0"/>
              </a:spcBef>
              <a:spcAft>
                <a:spcPts val="0"/>
              </a:spcAft>
              <a:buSzPts val="1600"/>
              <a:buChar char="●"/>
            </a:pPr>
            <a:r>
              <a:rPr lang="en" sz="1600"/>
              <a:t>AES encrypts data into 16-byte blocks using a key and a series of rounds that transform the data </a:t>
            </a:r>
            <a:endParaRPr sz="1600"/>
          </a:p>
          <a:p>
            <a:pPr indent="-330200" lvl="0" marL="457200" rtl="0" algn="l">
              <a:lnSpc>
                <a:spcPct val="200000"/>
              </a:lnSpc>
              <a:spcBef>
                <a:spcPts val="0"/>
              </a:spcBef>
              <a:spcAft>
                <a:spcPts val="0"/>
              </a:spcAft>
              <a:buSzPts val="1600"/>
              <a:buChar char="●"/>
            </a:pPr>
            <a:r>
              <a:rPr lang="en" sz="1600"/>
              <a:t>This encryption makes the original data unreadable without the correct key</a:t>
            </a:r>
            <a:endParaRPr sz="1600"/>
          </a:p>
          <a:p>
            <a:pPr indent="-330200" lvl="0" marL="457200" rtl="0" algn="l">
              <a:lnSpc>
                <a:spcPct val="200000"/>
              </a:lnSpc>
              <a:spcBef>
                <a:spcPts val="0"/>
              </a:spcBef>
              <a:spcAft>
                <a:spcPts val="0"/>
              </a:spcAft>
              <a:buSzPts val="1600"/>
              <a:buChar char="●"/>
            </a:pPr>
            <a:r>
              <a:rPr lang="en" sz="1600"/>
              <a:t>Common uses include wireless networking, disk encryption, web security, etc.</a:t>
            </a:r>
            <a:endParaRPr sz="1600"/>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Benchmarking</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457200" rtl="0" algn="l">
              <a:lnSpc>
                <a:spcPct val="200000"/>
              </a:lnSpc>
              <a:spcBef>
                <a:spcPts val="0"/>
              </a:spcBef>
              <a:spcAft>
                <a:spcPts val="0"/>
              </a:spcAft>
              <a:buNone/>
            </a:pPr>
            <a:r>
              <a:rPr lang="en" sz="1600"/>
              <a:t>Benchmarking is</a:t>
            </a:r>
            <a:r>
              <a:rPr lang="en" sz="1600"/>
              <a:t> the process of </a:t>
            </a:r>
            <a:r>
              <a:rPr lang="en" sz="1600"/>
              <a:t>measuring</a:t>
            </a:r>
            <a:r>
              <a:rPr lang="en" sz="1600"/>
              <a:t> system </a:t>
            </a:r>
            <a:r>
              <a:rPr lang="en" sz="1600"/>
              <a:t>performance</a:t>
            </a:r>
            <a:r>
              <a:rPr lang="en" sz="1600"/>
              <a:t> by </a:t>
            </a:r>
            <a:r>
              <a:rPr lang="en" sz="1600"/>
              <a:t>running</a:t>
            </a:r>
            <a:r>
              <a:rPr lang="en" sz="1600"/>
              <a:t> a task repeatedly and recording </a:t>
            </a:r>
            <a:r>
              <a:rPr lang="en" sz="1600"/>
              <a:t>execution</a:t>
            </a:r>
            <a:r>
              <a:rPr lang="en" sz="1600"/>
              <a:t> time.</a:t>
            </a:r>
            <a:endParaRPr sz="1600"/>
          </a:p>
          <a:p>
            <a:pPr indent="0" lvl="0" marL="457200" rtl="0" algn="l">
              <a:lnSpc>
                <a:spcPct val="200000"/>
              </a:lnSpc>
              <a:spcBef>
                <a:spcPts val="1200"/>
              </a:spcBef>
              <a:spcAft>
                <a:spcPts val="0"/>
              </a:spcAft>
              <a:buNone/>
            </a:pPr>
            <a:r>
              <a:rPr lang="en" sz="1600"/>
              <a:t>In this project:</a:t>
            </a:r>
            <a:endParaRPr sz="1600"/>
          </a:p>
          <a:p>
            <a:pPr indent="-322580" lvl="0" marL="457200" rtl="0" algn="l">
              <a:lnSpc>
                <a:spcPct val="200000"/>
              </a:lnSpc>
              <a:spcBef>
                <a:spcPts val="1200"/>
              </a:spcBef>
              <a:spcAft>
                <a:spcPts val="0"/>
              </a:spcAft>
              <a:buSzPct val="100000"/>
              <a:buChar char="●"/>
            </a:pPr>
            <a:r>
              <a:rPr lang="en" sz="1600"/>
              <a:t>AES encryption is </a:t>
            </a:r>
            <a:r>
              <a:rPr lang="en" sz="1600"/>
              <a:t>executed</a:t>
            </a:r>
            <a:r>
              <a:rPr lang="en" sz="1600"/>
              <a:t> many times</a:t>
            </a:r>
            <a:endParaRPr sz="1600"/>
          </a:p>
          <a:p>
            <a:pPr indent="-322580" lvl="0" marL="457200" rtl="0" algn="l">
              <a:lnSpc>
                <a:spcPct val="200000"/>
              </a:lnSpc>
              <a:spcBef>
                <a:spcPts val="0"/>
              </a:spcBef>
              <a:spcAft>
                <a:spcPts val="0"/>
              </a:spcAft>
              <a:buSzPct val="100000"/>
              <a:buChar char="●"/>
            </a:pPr>
            <a:r>
              <a:rPr lang="en" sz="1600"/>
              <a:t>Total runtime is measured</a:t>
            </a:r>
            <a:endParaRPr sz="1600"/>
          </a:p>
          <a:p>
            <a:pPr indent="-322580" lvl="0" marL="457200" rtl="0" algn="l">
              <a:lnSpc>
                <a:spcPct val="200000"/>
              </a:lnSpc>
              <a:spcBef>
                <a:spcPts val="0"/>
              </a:spcBef>
              <a:spcAft>
                <a:spcPts val="0"/>
              </a:spcAft>
              <a:buSzPct val="100000"/>
              <a:buChar char="●"/>
            </a:pPr>
            <a:r>
              <a:rPr lang="en" sz="1600"/>
              <a:t>Average time per </a:t>
            </a:r>
            <a:r>
              <a:rPr lang="en" sz="1600"/>
              <a:t>encryption</a:t>
            </a:r>
            <a:r>
              <a:rPr lang="en" sz="1600"/>
              <a:t> is calculated.</a:t>
            </a:r>
            <a:endParaRPr sz="1600"/>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Setup</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Programming</a:t>
            </a:r>
            <a:r>
              <a:rPr lang="en" sz="1600"/>
              <a:t> Language: C</a:t>
            </a:r>
            <a:endParaRPr sz="1600"/>
          </a:p>
          <a:p>
            <a:pPr indent="-330200" lvl="0" marL="457200" rtl="0" algn="l">
              <a:lnSpc>
                <a:spcPct val="200000"/>
              </a:lnSpc>
              <a:spcBef>
                <a:spcPts val="0"/>
              </a:spcBef>
              <a:spcAft>
                <a:spcPts val="0"/>
              </a:spcAft>
              <a:buSzPts val="1600"/>
              <a:buChar char="●"/>
            </a:pPr>
            <a:r>
              <a:rPr lang="en" sz="1600"/>
              <a:t>AES library implementation</a:t>
            </a:r>
            <a:endParaRPr sz="1600"/>
          </a:p>
          <a:p>
            <a:pPr indent="-330200" lvl="0" marL="457200" rtl="0" algn="l">
              <a:lnSpc>
                <a:spcPct val="200000"/>
              </a:lnSpc>
              <a:spcBef>
                <a:spcPts val="0"/>
              </a:spcBef>
              <a:spcAft>
                <a:spcPts val="0"/>
              </a:spcAft>
              <a:buSzPts val="1600"/>
              <a:buChar char="●"/>
            </a:pPr>
            <a:r>
              <a:rPr lang="en" sz="1600"/>
              <a:t>Standard test vectors for verification</a:t>
            </a:r>
            <a:endParaRPr sz="1600"/>
          </a:p>
          <a:p>
            <a:pPr indent="-330200" lvl="0" marL="457200" rtl="0" algn="l">
              <a:lnSpc>
                <a:spcPct val="200000"/>
              </a:lnSpc>
              <a:spcBef>
                <a:spcPts val="0"/>
              </a:spcBef>
              <a:spcAft>
                <a:spcPts val="0"/>
              </a:spcAft>
              <a:buSzPts val="1600"/>
              <a:buChar char="●"/>
            </a:pPr>
            <a:r>
              <a:rPr lang="en" sz="1600"/>
              <a:t>Repeated </a:t>
            </a:r>
            <a:r>
              <a:rPr lang="en" sz="1600"/>
              <a:t>encryption</a:t>
            </a:r>
            <a:r>
              <a:rPr lang="en" sz="1600"/>
              <a:t> loop for benchmarking</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Microblaze V Block Diagram (Done in Vivado)</a:t>
            </a:r>
            <a:endParaRPr/>
          </a:p>
        </p:txBody>
      </p:sp>
      <p:pic>
        <p:nvPicPr>
          <p:cNvPr id="90" name="Google Shape;90;p18"/>
          <p:cNvPicPr preferRelativeResize="0"/>
          <p:nvPr/>
        </p:nvPicPr>
        <p:blipFill>
          <a:blip r:embed="rId3">
            <a:alphaModFix/>
          </a:blip>
          <a:stretch>
            <a:fillRect/>
          </a:stretch>
        </p:blipFill>
        <p:spPr>
          <a:xfrm>
            <a:off x="311700" y="934550"/>
            <a:ext cx="8520600" cy="411386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Implementation </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Define encryption key and plaintext</a:t>
            </a:r>
            <a:endParaRPr sz="1600"/>
          </a:p>
          <a:p>
            <a:pPr indent="-330200" lvl="0" marL="457200" rtl="0" algn="l">
              <a:lnSpc>
                <a:spcPct val="200000"/>
              </a:lnSpc>
              <a:spcBef>
                <a:spcPts val="0"/>
              </a:spcBef>
              <a:spcAft>
                <a:spcPts val="0"/>
              </a:spcAft>
              <a:buSzPts val="1600"/>
              <a:buChar char="●"/>
            </a:pPr>
            <a:r>
              <a:rPr lang="en" sz="1600"/>
              <a:t>Initialize AES context</a:t>
            </a:r>
            <a:endParaRPr sz="1600"/>
          </a:p>
          <a:p>
            <a:pPr indent="-330200" lvl="0" marL="457200" rtl="0" algn="l">
              <a:lnSpc>
                <a:spcPct val="200000"/>
              </a:lnSpc>
              <a:spcBef>
                <a:spcPts val="0"/>
              </a:spcBef>
              <a:spcAft>
                <a:spcPts val="0"/>
              </a:spcAft>
              <a:buSzPts val="1600"/>
              <a:buChar char="●"/>
            </a:pPr>
            <a:r>
              <a:rPr lang="en" sz="1600"/>
              <a:t>Encrypt data </a:t>
            </a:r>
            <a:r>
              <a:rPr lang="en" sz="1600"/>
              <a:t>block</a:t>
            </a:r>
            <a:r>
              <a:rPr lang="en" sz="1600"/>
              <a:t> using ECB mode</a:t>
            </a:r>
            <a:endParaRPr sz="1600"/>
          </a:p>
          <a:p>
            <a:pPr indent="-330200" lvl="0" marL="457200" rtl="0" algn="l">
              <a:lnSpc>
                <a:spcPct val="200000"/>
              </a:lnSpc>
              <a:spcBef>
                <a:spcPts val="0"/>
              </a:spcBef>
              <a:spcAft>
                <a:spcPts val="0"/>
              </a:spcAft>
              <a:buSzPts val="1600"/>
              <a:buChar char="●"/>
            </a:pPr>
            <a:r>
              <a:rPr lang="en" sz="1600"/>
              <a:t>Repeat encryption multiple times</a:t>
            </a:r>
            <a:endParaRPr sz="1600"/>
          </a:p>
          <a:p>
            <a:pPr indent="-330200" lvl="0" marL="457200" rtl="0" algn="l">
              <a:lnSpc>
                <a:spcPct val="200000"/>
              </a:lnSpc>
              <a:spcBef>
                <a:spcPts val="0"/>
              </a:spcBef>
              <a:spcAft>
                <a:spcPts val="0"/>
              </a:spcAft>
              <a:buSzPts val="1600"/>
              <a:buChar char="●"/>
            </a:pPr>
            <a:r>
              <a:rPr lang="en" sz="1600"/>
              <a:t>Compare result with expected ciphertext</a:t>
            </a:r>
            <a:endParaRPr sz="1600"/>
          </a:p>
        </p:txBody>
      </p:sp>
      <p:pic>
        <p:nvPicPr>
          <p:cNvPr id="97" name="Google Shape;97;p19"/>
          <p:cNvPicPr preferRelativeResize="0"/>
          <p:nvPr/>
        </p:nvPicPr>
        <p:blipFill rotWithShape="1">
          <a:blip r:embed="rId3">
            <a:alphaModFix/>
          </a:blip>
          <a:srcRect b="30138" l="0" r="0" t="0"/>
          <a:stretch/>
        </p:blipFill>
        <p:spPr>
          <a:xfrm>
            <a:off x="4700938" y="91600"/>
            <a:ext cx="3867150" cy="2874725"/>
          </a:xfrm>
          <a:prstGeom prst="rect">
            <a:avLst/>
          </a:prstGeom>
          <a:noFill/>
          <a:ln>
            <a:noFill/>
          </a:ln>
        </p:spPr>
      </p:pic>
      <p:pic>
        <p:nvPicPr>
          <p:cNvPr id="98" name="Google Shape;98;p19"/>
          <p:cNvPicPr preferRelativeResize="0"/>
          <p:nvPr/>
        </p:nvPicPr>
        <p:blipFill rotWithShape="1">
          <a:blip r:embed="rId4">
            <a:alphaModFix/>
          </a:blip>
          <a:srcRect b="0" l="0" r="51946" t="0"/>
          <a:stretch/>
        </p:blipFill>
        <p:spPr>
          <a:xfrm>
            <a:off x="5016115" y="2966325"/>
            <a:ext cx="3236826" cy="2121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Program Flow</a:t>
            </a:r>
            <a:endParaRPr/>
          </a:p>
        </p:txBody>
      </p:sp>
      <p:sp>
        <p:nvSpPr>
          <p:cNvPr id="104" name="Google Shape;104;p20"/>
          <p:cNvSpPr txBox="1"/>
          <p:nvPr>
            <p:ph idx="1" type="body"/>
          </p:nvPr>
        </p:nvSpPr>
        <p:spPr>
          <a:xfrm>
            <a:off x="311700" y="1152475"/>
            <a:ext cx="4160100" cy="21957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Load key and plaintext</a:t>
            </a:r>
            <a:endParaRPr sz="1600"/>
          </a:p>
          <a:p>
            <a:pPr indent="-330200" lvl="0" marL="457200" rtl="0" algn="l">
              <a:lnSpc>
                <a:spcPct val="200000"/>
              </a:lnSpc>
              <a:spcBef>
                <a:spcPts val="0"/>
              </a:spcBef>
              <a:spcAft>
                <a:spcPts val="0"/>
              </a:spcAft>
              <a:buSzPts val="1600"/>
              <a:buChar char="●"/>
            </a:pPr>
            <a:r>
              <a:rPr lang="en" sz="1600"/>
              <a:t>Initialize AES </a:t>
            </a:r>
            <a:r>
              <a:rPr lang="en" sz="1600"/>
              <a:t>encryption</a:t>
            </a:r>
            <a:r>
              <a:rPr lang="en" sz="1600"/>
              <a:t> context</a:t>
            </a:r>
            <a:endParaRPr sz="1600"/>
          </a:p>
          <a:p>
            <a:pPr indent="-330200" lvl="0" marL="457200" rtl="0" algn="l">
              <a:lnSpc>
                <a:spcPct val="200000"/>
              </a:lnSpc>
              <a:spcBef>
                <a:spcPts val="0"/>
              </a:spcBef>
              <a:spcAft>
                <a:spcPts val="0"/>
              </a:spcAft>
              <a:buSzPts val="1600"/>
              <a:buChar char="●"/>
            </a:pPr>
            <a:r>
              <a:rPr lang="en" sz="1600"/>
              <a:t>Encrypt 16-byte data block</a:t>
            </a:r>
            <a:endParaRPr sz="1600"/>
          </a:p>
        </p:txBody>
      </p:sp>
      <p:sp>
        <p:nvSpPr>
          <p:cNvPr id="105" name="Google Shape;105;p20"/>
          <p:cNvSpPr/>
          <p:nvPr/>
        </p:nvSpPr>
        <p:spPr>
          <a:xfrm>
            <a:off x="833150" y="3476875"/>
            <a:ext cx="1585200" cy="109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200000"/>
              </a:lnSpc>
              <a:spcBef>
                <a:spcPts val="0"/>
              </a:spcBef>
              <a:spcAft>
                <a:spcPts val="0"/>
              </a:spcAft>
              <a:buNone/>
            </a:pPr>
            <a:r>
              <a:rPr b="1" lang="en" sz="1600">
                <a:latin typeface="Average"/>
                <a:ea typeface="Average"/>
                <a:cs typeface="Average"/>
                <a:sym typeface="Average"/>
              </a:rPr>
              <a:t>Input</a:t>
            </a:r>
            <a:endParaRPr>
              <a:latin typeface="Average"/>
              <a:ea typeface="Average"/>
              <a:cs typeface="Average"/>
              <a:sym typeface="Average"/>
            </a:endParaRPr>
          </a:p>
          <a:p>
            <a:pPr indent="0" lvl="0" marL="0" rtl="0" algn="ctr">
              <a:lnSpc>
                <a:spcPct val="200000"/>
              </a:lnSpc>
              <a:spcBef>
                <a:spcPts val="0"/>
              </a:spcBef>
              <a:spcAft>
                <a:spcPts val="0"/>
              </a:spcAft>
              <a:buNone/>
            </a:pPr>
            <a:r>
              <a:rPr lang="en">
                <a:latin typeface="Average"/>
                <a:ea typeface="Average"/>
                <a:cs typeface="Average"/>
                <a:sym typeface="Average"/>
              </a:rPr>
              <a:t>Key + Plaintext</a:t>
            </a:r>
            <a:endParaRPr>
              <a:latin typeface="Average"/>
              <a:ea typeface="Average"/>
              <a:cs typeface="Average"/>
              <a:sym typeface="Average"/>
            </a:endParaRPr>
          </a:p>
        </p:txBody>
      </p:sp>
      <p:sp>
        <p:nvSpPr>
          <p:cNvPr id="106" name="Google Shape;106;p20"/>
          <p:cNvSpPr txBox="1"/>
          <p:nvPr>
            <p:ph idx="1" type="body"/>
          </p:nvPr>
        </p:nvSpPr>
        <p:spPr>
          <a:xfrm>
            <a:off x="4572000" y="1152475"/>
            <a:ext cx="4160100" cy="17796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Repeat encryption 1 million times</a:t>
            </a:r>
            <a:endParaRPr sz="1600"/>
          </a:p>
          <a:p>
            <a:pPr indent="-330200" lvl="0" marL="457200" rtl="0" algn="l">
              <a:lnSpc>
                <a:spcPct val="200000"/>
              </a:lnSpc>
              <a:spcBef>
                <a:spcPts val="0"/>
              </a:spcBef>
              <a:spcAft>
                <a:spcPts val="0"/>
              </a:spcAft>
              <a:buSzPts val="1600"/>
              <a:buChar char="●"/>
            </a:pPr>
            <a:r>
              <a:rPr lang="en" sz="1600"/>
              <a:t>Measure total execution time</a:t>
            </a:r>
            <a:endParaRPr sz="1600"/>
          </a:p>
          <a:p>
            <a:pPr indent="-330200" lvl="0" marL="457200" rtl="0" algn="l">
              <a:lnSpc>
                <a:spcPct val="200000"/>
              </a:lnSpc>
              <a:spcBef>
                <a:spcPts val="0"/>
              </a:spcBef>
              <a:spcAft>
                <a:spcPts val="0"/>
              </a:spcAft>
              <a:buSzPts val="1600"/>
              <a:buChar char="●"/>
            </a:pPr>
            <a:r>
              <a:rPr lang="en" sz="1600"/>
              <a:t>Compute average time per encryption</a:t>
            </a:r>
            <a:endParaRPr sz="1600"/>
          </a:p>
        </p:txBody>
      </p:sp>
      <p:sp>
        <p:nvSpPr>
          <p:cNvPr id="107" name="Google Shape;107;p20"/>
          <p:cNvSpPr/>
          <p:nvPr/>
        </p:nvSpPr>
        <p:spPr>
          <a:xfrm>
            <a:off x="3479350" y="3476875"/>
            <a:ext cx="1585200" cy="109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200000"/>
              </a:lnSpc>
              <a:spcBef>
                <a:spcPts val="0"/>
              </a:spcBef>
              <a:spcAft>
                <a:spcPts val="0"/>
              </a:spcAft>
              <a:buNone/>
            </a:pPr>
            <a:r>
              <a:rPr b="1" lang="en" sz="1600">
                <a:latin typeface="Average"/>
                <a:ea typeface="Average"/>
                <a:cs typeface="Average"/>
                <a:sym typeface="Average"/>
              </a:rPr>
              <a:t>Process</a:t>
            </a:r>
            <a:endParaRPr>
              <a:latin typeface="Average"/>
              <a:ea typeface="Average"/>
              <a:cs typeface="Average"/>
              <a:sym typeface="Average"/>
            </a:endParaRPr>
          </a:p>
          <a:p>
            <a:pPr indent="0" lvl="0" marL="0" rtl="0" algn="ctr">
              <a:lnSpc>
                <a:spcPct val="200000"/>
              </a:lnSpc>
              <a:spcBef>
                <a:spcPts val="0"/>
              </a:spcBef>
              <a:spcAft>
                <a:spcPts val="0"/>
              </a:spcAft>
              <a:buNone/>
            </a:pPr>
            <a:r>
              <a:rPr lang="en">
                <a:latin typeface="Average"/>
                <a:ea typeface="Average"/>
                <a:cs typeface="Average"/>
                <a:sym typeface="Average"/>
              </a:rPr>
              <a:t>AES Encryption</a:t>
            </a:r>
            <a:endParaRPr>
              <a:latin typeface="Average"/>
              <a:ea typeface="Average"/>
              <a:cs typeface="Average"/>
              <a:sym typeface="Average"/>
            </a:endParaRPr>
          </a:p>
        </p:txBody>
      </p:sp>
      <p:sp>
        <p:nvSpPr>
          <p:cNvPr id="108" name="Google Shape;108;p20"/>
          <p:cNvSpPr/>
          <p:nvPr/>
        </p:nvSpPr>
        <p:spPr>
          <a:xfrm>
            <a:off x="6125550" y="3476875"/>
            <a:ext cx="1585200" cy="109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200000"/>
              </a:lnSpc>
              <a:spcBef>
                <a:spcPts val="0"/>
              </a:spcBef>
              <a:spcAft>
                <a:spcPts val="0"/>
              </a:spcAft>
              <a:buNone/>
            </a:pPr>
            <a:r>
              <a:rPr b="1" lang="en" sz="1600">
                <a:latin typeface="Average"/>
                <a:ea typeface="Average"/>
                <a:cs typeface="Average"/>
                <a:sym typeface="Average"/>
              </a:rPr>
              <a:t>Output</a:t>
            </a:r>
            <a:endParaRPr>
              <a:latin typeface="Average"/>
              <a:ea typeface="Average"/>
              <a:cs typeface="Average"/>
              <a:sym typeface="Average"/>
            </a:endParaRPr>
          </a:p>
          <a:p>
            <a:pPr indent="0" lvl="0" marL="0" rtl="0" algn="ctr">
              <a:lnSpc>
                <a:spcPct val="100000"/>
              </a:lnSpc>
              <a:spcBef>
                <a:spcPts val="0"/>
              </a:spcBef>
              <a:spcAft>
                <a:spcPts val="0"/>
              </a:spcAft>
              <a:buNone/>
            </a:pPr>
            <a:r>
              <a:rPr lang="en">
                <a:latin typeface="Average"/>
                <a:ea typeface="Average"/>
                <a:cs typeface="Average"/>
                <a:sym typeface="Average"/>
              </a:rPr>
              <a:t>Ciphertext + Timing Results</a:t>
            </a:r>
            <a:endParaRPr>
              <a:latin typeface="Average"/>
              <a:ea typeface="Average"/>
              <a:cs typeface="Average"/>
              <a:sym typeface="Average"/>
            </a:endParaRPr>
          </a:p>
        </p:txBody>
      </p:sp>
      <p:sp>
        <p:nvSpPr>
          <p:cNvPr id="109" name="Google Shape;109;p20"/>
          <p:cNvSpPr/>
          <p:nvPr/>
        </p:nvSpPr>
        <p:spPr>
          <a:xfrm>
            <a:off x="2603375" y="3976550"/>
            <a:ext cx="761700" cy="175800"/>
          </a:xfrm>
          <a:prstGeom prst="rightArrow">
            <a:avLst>
              <a:gd fmla="val 50000" name="adj1"/>
              <a:gd fmla="val 50000" name="adj2"/>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10" name="Google Shape;110;p20"/>
          <p:cNvSpPr/>
          <p:nvPr/>
        </p:nvSpPr>
        <p:spPr>
          <a:xfrm>
            <a:off x="5214200" y="3976550"/>
            <a:ext cx="761700" cy="175800"/>
          </a:xfrm>
          <a:prstGeom prst="rightArrow">
            <a:avLst>
              <a:gd fmla="val 50000" name="adj1"/>
              <a:gd fmla="val 50000" name="adj2"/>
            </a:avLst>
          </a:prstGeom>
          <a:solidFill>
            <a:srgbClr val="B45F0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Output</a:t>
            </a:r>
            <a:endParaRPr/>
          </a:p>
        </p:txBody>
      </p:sp>
      <p:sp>
        <p:nvSpPr>
          <p:cNvPr id="116" name="Google Shape;11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Plaintext = original unscrambled text</a:t>
            </a:r>
            <a:endParaRPr/>
          </a:p>
          <a:p>
            <a:pPr indent="-342900" lvl="0" marL="457200" rtl="0" algn="l">
              <a:spcBef>
                <a:spcPts val="0"/>
              </a:spcBef>
              <a:spcAft>
                <a:spcPts val="0"/>
              </a:spcAft>
              <a:buSzPts val="1800"/>
              <a:buChar char="●"/>
            </a:pPr>
            <a:r>
              <a:rPr lang="en"/>
              <a:t>Expected = hard-coded expected output</a:t>
            </a:r>
            <a:endParaRPr/>
          </a:p>
          <a:p>
            <a:pPr indent="-342900" lvl="0" marL="457200" rtl="0" algn="l">
              <a:spcBef>
                <a:spcPts val="0"/>
              </a:spcBef>
              <a:spcAft>
                <a:spcPts val="0"/>
              </a:spcAft>
              <a:buSzPts val="1800"/>
              <a:buChar char="●"/>
            </a:pPr>
            <a:r>
              <a:rPr lang="en"/>
              <a:t>Ciphertext = output after many rounds of </a:t>
            </a:r>
            <a:br>
              <a:rPr lang="en"/>
            </a:br>
            <a:r>
              <a:rPr lang="en"/>
              <a:t>encryptions </a:t>
            </a:r>
            <a:endParaRPr/>
          </a:p>
          <a:p>
            <a:pPr indent="-342900" lvl="0" marL="457200" rtl="0" algn="l">
              <a:spcBef>
                <a:spcPts val="0"/>
              </a:spcBef>
              <a:spcAft>
                <a:spcPts val="0"/>
              </a:spcAft>
              <a:buSzPts val="1800"/>
              <a:buChar char="●"/>
            </a:pPr>
            <a:r>
              <a:rPr lang="en"/>
              <a:t>We did 1 million encryptions each for </a:t>
            </a:r>
            <a:br>
              <a:rPr lang="en"/>
            </a:br>
            <a:r>
              <a:rPr lang="en"/>
              <a:t>128, 192, and 256-bit AES using the same</a:t>
            </a:r>
            <a:br>
              <a:rPr lang="en"/>
            </a:br>
            <a:r>
              <a:rPr lang="en"/>
              <a:t>plaintext and measured execution time</a:t>
            </a:r>
            <a:endParaRPr/>
          </a:p>
        </p:txBody>
      </p:sp>
      <p:pic>
        <p:nvPicPr>
          <p:cNvPr id="117" name="Google Shape;117;p21"/>
          <p:cNvPicPr preferRelativeResize="0"/>
          <p:nvPr/>
        </p:nvPicPr>
        <p:blipFill rotWithShape="1">
          <a:blip r:embed="rId3">
            <a:alphaModFix/>
          </a:blip>
          <a:srcRect b="0" l="607" r="60222" t="1381"/>
          <a:stretch/>
        </p:blipFill>
        <p:spPr>
          <a:xfrm>
            <a:off x="5203325" y="218050"/>
            <a:ext cx="3795849" cy="4782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Tests (Time to complete 1 million encryptions)</a:t>
            </a:r>
            <a:endParaRPr/>
          </a:p>
        </p:txBody>
      </p:sp>
      <p:graphicFrame>
        <p:nvGraphicFramePr>
          <p:cNvPr id="123" name="Google Shape;123;p22"/>
          <p:cNvGraphicFramePr/>
          <p:nvPr/>
        </p:nvGraphicFramePr>
        <p:xfrm>
          <a:off x="952500" y="1428750"/>
          <a:ext cx="3000000" cy="3000000"/>
        </p:xfrm>
        <a:graphic>
          <a:graphicData uri="http://schemas.openxmlformats.org/drawingml/2006/table">
            <a:tbl>
              <a:tblPr>
                <a:noFill/>
                <a:tableStyleId>{0D5FEA36-0F14-421B-9723-4FB909D8675B}</a:tableStyleId>
              </a:tblPr>
              <a:tblGrid>
                <a:gridCol w="1809750"/>
                <a:gridCol w="1809750"/>
                <a:gridCol w="1809750"/>
                <a:gridCol w="1809750"/>
              </a:tblGrid>
              <a:tr h="381000">
                <a:tc>
                  <a:txBody>
                    <a:bodyPr/>
                    <a:lstStyle/>
                    <a:p>
                      <a:pPr indent="0" lvl="0" marL="0" rtl="0" algn="l">
                        <a:spcBef>
                          <a:spcPts val="0"/>
                        </a:spcBef>
                        <a:spcAft>
                          <a:spcPts val="0"/>
                        </a:spcAft>
                        <a:buNone/>
                      </a:pPr>
                      <a:r>
                        <a:t/>
                      </a:r>
                      <a:endParaRPr>
                        <a:solidFill>
                          <a:schemeClr val="dk2"/>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AES-128</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AES-192</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AES-256</a:t>
                      </a:r>
                      <a:endParaRPr b="1">
                        <a:solidFill>
                          <a:schemeClr val="dk1"/>
                        </a:solidFill>
                        <a:latin typeface="Average"/>
                        <a:ea typeface="Average"/>
                        <a:cs typeface="Average"/>
                        <a:sym typeface="Average"/>
                      </a:endParaRPr>
                    </a:p>
                  </a:txBody>
                  <a:tcPr marT="91425" marB="91425" marR="91425" marL="91425"/>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Trial 1</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6:32.5</a:t>
                      </a:r>
                      <a:endParaRPr>
                        <a:solidFill>
                          <a:schemeClr val="dk2"/>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8:19.2</a:t>
                      </a:r>
                      <a:endParaRPr>
                        <a:solidFill>
                          <a:schemeClr val="dk2"/>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9:08.2</a:t>
                      </a:r>
                      <a:endParaRPr>
                        <a:solidFill>
                          <a:schemeClr val="dk2"/>
                        </a:solidFill>
                        <a:latin typeface="Average"/>
                        <a:ea typeface="Average"/>
                        <a:cs typeface="Average"/>
                        <a:sym typeface="Average"/>
                      </a:endParaRPr>
                    </a:p>
                  </a:txBody>
                  <a:tcPr marT="91425" marB="91425" marR="91425" marL="91425"/>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Trial 2</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6:32.3</a:t>
                      </a:r>
                      <a:endParaRPr>
                        <a:solidFill>
                          <a:schemeClr val="dk2"/>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8:19.1</a:t>
                      </a:r>
                      <a:endParaRPr>
                        <a:solidFill>
                          <a:schemeClr val="dk2"/>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9:08.08</a:t>
                      </a:r>
                      <a:endParaRPr>
                        <a:solidFill>
                          <a:schemeClr val="dk2"/>
                        </a:solidFill>
                        <a:latin typeface="Average"/>
                        <a:ea typeface="Average"/>
                        <a:cs typeface="Average"/>
                        <a:sym typeface="Average"/>
                      </a:endParaRPr>
                    </a:p>
                  </a:txBody>
                  <a:tcPr marT="91425" marB="91425" marR="91425" marL="91425"/>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Trial 3</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6:32.6</a:t>
                      </a:r>
                      <a:endParaRPr>
                        <a:solidFill>
                          <a:schemeClr val="dk2"/>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8:19.2</a:t>
                      </a:r>
                      <a:endParaRPr>
                        <a:solidFill>
                          <a:schemeClr val="dk2"/>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9:08.3</a:t>
                      </a:r>
                      <a:endParaRPr>
                        <a:solidFill>
                          <a:schemeClr val="dk2"/>
                        </a:solidFill>
                        <a:latin typeface="Average"/>
                        <a:ea typeface="Average"/>
                        <a:cs typeface="Average"/>
                        <a:sym typeface="Average"/>
                      </a:endParaRPr>
                    </a:p>
                  </a:txBody>
                  <a:tcPr marT="91425" marB="91425" marR="91425" marL="91425"/>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Trial 4</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6:32.1</a:t>
                      </a:r>
                      <a:endParaRPr>
                        <a:solidFill>
                          <a:schemeClr val="dk2"/>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8:19.0</a:t>
                      </a:r>
                      <a:endParaRPr>
                        <a:solidFill>
                          <a:schemeClr val="dk2"/>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lang="en">
                          <a:solidFill>
                            <a:schemeClr val="dk2"/>
                          </a:solidFill>
                          <a:latin typeface="Average"/>
                          <a:ea typeface="Average"/>
                          <a:cs typeface="Average"/>
                          <a:sym typeface="Average"/>
                        </a:rPr>
                        <a:t>9:07.95</a:t>
                      </a:r>
                      <a:endParaRPr>
                        <a:solidFill>
                          <a:schemeClr val="dk2"/>
                        </a:solidFill>
                        <a:latin typeface="Average"/>
                        <a:ea typeface="Average"/>
                        <a:cs typeface="Average"/>
                        <a:sym typeface="Average"/>
                      </a:endParaRPr>
                    </a:p>
                  </a:txBody>
                  <a:tcPr marT="91425" marB="91425" marR="91425" marL="91425"/>
                </a:tc>
              </a:tr>
              <a:tr h="381000">
                <a:tc>
                  <a:txBody>
                    <a:bodyPr/>
                    <a:lstStyle/>
                    <a:p>
                      <a:pPr indent="0" lvl="0" marL="0" rtl="0" algn="l">
                        <a:spcBef>
                          <a:spcPts val="0"/>
                        </a:spcBef>
                        <a:spcAft>
                          <a:spcPts val="0"/>
                        </a:spcAft>
                        <a:buNone/>
                      </a:pPr>
                      <a:r>
                        <a:rPr b="1" lang="en">
                          <a:solidFill>
                            <a:schemeClr val="dk1"/>
                          </a:solidFill>
                          <a:latin typeface="Average"/>
                          <a:ea typeface="Average"/>
                          <a:cs typeface="Average"/>
                          <a:sym typeface="Average"/>
                        </a:rPr>
                        <a:t>Avg</a:t>
                      </a:r>
                      <a:endParaRPr b="1">
                        <a:solidFill>
                          <a:schemeClr val="dk1"/>
                        </a:solidFill>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sz="1600">
                          <a:solidFill>
                            <a:schemeClr val="dk1"/>
                          </a:solidFill>
                          <a:highlight>
                            <a:schemeClr val="dk2"/>
                          </a:highlight>
                          <a:latin typeface="Average"/>
                          <a:ea typeface="Average"/>
                          <a:cs typeface="Average"/>
                          <a:sym typeface="Average"/>
                        </a:rPr>
                        <a:t>6:32.375</a:t>
                      </a:r>
                      <a:endParaRPr b="1" sz="1600">
                        <a:solidFill>
                          <a:schemeClr val="dk1"/>
                        </a:solidFill>
                        <a:highlight>
                          <a:schemeClr val="dk2"/>
                        </a:highlight>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sz="1600">
                          <a:solidFill>
                            <a:schemeClr val="dk1"/>
                          </a:solidFill>
                          <a:highlight>
                            <a:schemeClr val="dk2"/>
                          </a:highlight>
                          <a:latin typeface="Average"/>
                          <a:ea typeface="Average"/>
                          <a:cs typeface="Average"/>
                          <a:sym typeface="Average"/>
                        </a:rPr>
                        <a:t>8:19.125</a:t>
                      </a:r>
                      <a:endParaRPr b="1" sz="1600">
                        <a:solidFill>
                          <a:schemeClr val="dk1"/>
                        </a:solidFill>
                        <a:highlight>
                          <a:schemeClr val="dk2"/>
                        </a:highlight>
                        <a:latin typeface="Average"/>
                        <a:ea typeface="Average"/>
                        <a:cs typeface="Average"/>
                        <a:sym typeface="Average"/>
                      </a:endParaRPr>
                    </a:p>
                  </a:txBody>
                  <a:tcPr marT="91425" marB="91425" marR="91425" marL="91425"/>
                </a:tc>
                <a:tc>
                  <a:txBody>
                    <a:bodyPr/>
                    <a:lstStyle/>
                    <a:p>
                      <a:pPr indent="0" lvl="0" marL="0" rtl="0" algn="l">
                        <a:spcBef>
                          <a:spcPts val="0"/>
                        </a:spcBef>
                        <a:spcAft>
                          <a:spcPts val="0"/>
                        </a:spcAft>
                        <a:buNone/>
                      </a:pPr>
                      <a:r>
                        <a:rPr b="1" lang="en" sz="1600">
                          <a:solidFill>
                            <a:schemeClr val="dk1"/>
                          </a:solidFill>
                          <a:highlight>
                            <a:schemeClr val="dk2"/>
                          </a:highlight>
                          <a:latin typeface="Average"/>
                          <a:ea typeface="Average"/>
                          <a:cs typeface="Average"/>
                          <a:sym typeface="Average"/>
                        </a:rPr>
                        <a:t>9:08.1325</a:t>
                      </a:r>
                      <a:endParaRPr b="1" sz="1600">
                        <a:solidFill>
                          <a:schemeClr val="dk1"/>
                        </a:solidFill>
                        <a:highlight>
                          <a:schemeClr val="dk2"/>
                        </a:highlight>
                        <a:latin typeface="Average"/>
                        <a:ea typeface="Average"/>
                        <a:cs typeface="Average"/>
                        <a:sym typeface="Average"/>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129" name="Google Shape;129;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30200" lvl="0" marL="457200" rtl="0" algn="l">
              <a:lnSpc>
                <a:spcPct val="200000"/>
              </a:lnSpc>
              <a:spcBef>
                <a:spcPts val="0"/>
              </a:spcBef>
              <a:spcAft>
                <a:spcPts val="0"/>
              </a:spcAft>
              <a:buSzPts val="1600"/>
              <a:buChar char="●"/>
            </a:pPr>
            <a:r>
              <a:rPr lang="en"/>
              <a:t>Each run - 1 million encryptions</a:t>
            </a:r>
            <a:endParaRPr/>
          </a:p>
          <a:p>
            <a:pPr indent="-330200" lvl="0" marL="457200" rtl="0" algn="l">
              <a:lnSpc>
                <a:spcPct val="200000"/>
              </a:lnSpc>
              <a:spcBef>
                <a:spcPts val="0"/>
              </a:spcBef>
              <a:spcAft>
                <a:spcPts val="0"/>
              </a:spcAft>
              <a:buSzPts val="1600"/>
              <a:buChar char="●"/>
            </a:pPr>
            <a:r>
              <a:rPr lang="en"/>
              <a:t>AES 128 : 6 min and 32.375 seconds → </a:t>
            </a:r>
            <a:r>
              <a:rPr lang="en"/>
              <a:t>392.375 seconds </a:t>
            </a:r>
            <a:endParaRPr/>
          </a:p>
          <a:p>
            <a:pPr indent="-317500" lvl="1" marL="914400" rtl="0" algn="l">
              <a:lnSpc>
                <a:spcPct val="200000"/>
              </a:lnSpc>
              <a:spcBef>
                <a:spcPts val="0"/>
              </a:spcBef>
              <a:spcAft>
                <a:spcPts val="0"/>
              </a:spcAft>
              <a:buSzPts val="1400"/>
              <a:buChar char="○"/>
            </a:pPr>
            <a:r>
              <a:rPr lang="en"/>
              <a:t>this is about 392.4 µs per encryption, or 2,548.4 encryptions per second</a:t>
            </a:r>
            <a:endParaRPr/>
          </a:p>
          <a:p>
            <a:pPr indent="-342900" lvl="0" marL="457200" rtl="0" algn="l">
              <a:lnSpc>
                <a:spcPct val="200000"/>
              </a:lnSpc>
              <a:spcBef>
                <a:spcPts val="0"/>
              </a:spcBef>
              <a:spcAft>
                <a:spcPts val="0"/>
              </a:spcAft>
              <a:buSzPts val="1800"/>
              <a:buChar char="●"/>
            </a:pPr>
            <a:r>
              <a:rPr lang="en"/>
              <a:t>AES 192: 8 min and 19.125 seconds → 499.125 seconds</a:t>
            </a:r>
            <a:endParaRPr/>
          </a:p>
          <a:p>
            <a:pPr indent="-317500" lvl="1" marL="914400" rtl="0" algn="l">
              <a:lnSpc>
                <a:spcPct val="200000"/>
              </a:lnSpc>
              <a:spcBef>
                <a:spcPts val="0"/>
              </a:spcBef>
              <a:spcAft>
                <a:spcPts val="0"/>
              </a:spcAft>
              <a:buSzPts val="1400"/>
              <a:buChar char="○"/>
            </a:pPr>
            <a:r>
              <a:rPr lang="en"/>
              <a:t>This is about 499.1 µs per encryption, or 2,003.6 encryptions per second</a:t>
            </a:r>
            <a:endParaRPr/>
          </a:p>
          <a:p>
            <a:pPr indent="-342900" lvl="0" marL="457200" rtl="0" algn="l">
              <a:lnSpc>
                <a:spcPct val="200000"/>
              </a:lnSpc>
              <a:spcBef>
                <a:spcPts val="0"/>
              </a:spcBef>
              <a:spcAft>
                <a:spcPts val="0"/>
              </a:spcAft>
              <a:buSzPts val="1800"/>
              <a:buChar char="●"/>
            </a:pPr>
            <a:r>
              <a:rPr lang="en"/>
              <a:t>AES 256: 9 min and 8.1325 seconds → 548.1325 seconds</a:t>
            </a:r>
            <a:endParaRPr/>
          </a:p>
          <a:p>
            <a:pPr indent="-317500" lvl="1" marL="914400" rtl="0" algn="l">
              <a:lnSpc>
                <a:spcPct val="200000"/>
              </a:lnSpc>
              <a:spcBef>
                <a:spcPts val="0"/>
              </a:spcBef>
              <a:spcAft>
                <a:spcPts val="0"/>
              </a:spcAft>
              <a:buSzPts val="1400"/>
              <a:buChar char="○"/>
            </a:pPr>
            <a:r>
              <a:rPr lang="en"/>
              <a:t>This is about 548.1 µs per encryption, or 1,824.5 encryptions per second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00"/>
              <a:t>Extra Tests (Personal computers, AES-256 10,000,000 encryptions)</a:t>
            </a:r>
            <a:endParaRPr sz="2600"/>
          </a:p>
        </p:txBody>
      </p:sp>
      <p:sp>
        <p:nvSpPr>
          <p:cNvPr id="135" name="Google Shape;135;p24"/>
          <p:cNvSpPr txBox="1"/>
          <p:nvPr>
            <p:ph idx="1" type="body"/>
          </p:nvPr>
        </p:nvSpPr>
        <p:spPr>
          <a:xfrm>
            <a:off x="311700" y="1152475"/>
            <a:ext cx="4554600" cy="11730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
              <a:t>AMD Ryzen 5 2600 @ 3.4 GHz </a:t>
            </a:r>
            <a:r>
              <a:rPr lang="en">
                <a:solidFill>
                  <a:schemeClr val="dk1"/>
                </a:solidFill>
                <a:highlight>
                  <a:srgbClr val="999999"/>
                </a:highlight>
              </a:rPr>
              <a:t>(32.3 seconds)</a:t>
            </a:r>
            <a:br>
              <a:rPr lang="en"/>
            </a:br>
            <a:r>
              <a:rPr lang="en"/>
              <a:t>AMD Radeon RX 580</a:t>
            </a:r>
            <a:br>
              <a:rPr lang="en"/>
            </a:br>
            <a:r>
              <a:rPr lang="en"/>
              <a:t>16 GB RAM</a:t>
            </a:r>
            <a:endParaRPr/>
          </a:p>
        </p:txBody>
      </p:sp>
      <p:sp>
        <p:nvSpPr>
          <p:cNvPr id="136" name="Google Shape;136;p24"/>
          <p:cNvSpPr txBox="1"/>
          <p:nvPr>
            <p:ph idx="1" type="body"/>
          </p:nvPr>
        </p:nvSpPr>
        <p:spPr>
          <a:xfrm>
            <a:off x="5159375" y="1152475"/>
            <a:ext cx="4554600" cy="117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50"/>
              <a:t>Apple M1 @ 3.2 GHz </a:t>
            </a:r>
            <a:r>
              <a:rPr lang="en" sz="1650">
                <a:solidFill>
                  <a:schemeClr val="dk1"/>
                </a:solidFill>
                <a:highlight>
                  <a:srgbClr val="999999"/>
                </a:highlight>
              </a:rPr>
              <a:t>(21.4 seconds)</a:t>
            </a:r>
            <a:br>
              <a:rPr lang="en" sz="1650"/>
            </a:br>
            <a:r>
              <a:rPr lang="en" sz="1650"/>
              <a:t>Apple M1 integrated GPU</a:t>
            </a:r>
            <a:br>
              <a:rPr lang="en" sz="1650"/>
            </a:br>
            <a:r>
              <a:rPr lang="en" sz="1650"/>
              <a:t>8 GB RAM</a:t>
            </a:r>
            <a:endParaRPr sz="1650"/>
          </a:p>
        </p:txBody>
      </p:sp>
      <p:sp>
        <p:nvSpPr>
          <p:cNvPr id="137" name="Google Shape;137;p24"/>
          <p:cNvSpPr txBox="1"/>
          <p:nvPr>
            <p:ph idx="1" type="body"/>
          </p:nvPr>
        </p:nvSpPr>
        <p:spPr>
          <a:xfrm>
            <a:off x="311700" y="2351575"/>
            <a:ext cx="4847700" cy="1390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650"/>
              <a:t>Intel i7-11800H @ 2.30GHz </a:t>
            </a:r>
            <a:r>
              <a:rPr lang="en" sz="1650"/>
              <a:t> </a:t>
            </a:r>
            <a:r>
              <a:rPr lang="en" sz="1650">
                <a:solidFill>
                  <a:schemeClr val="dk1"/>
                </a:solidFill>
                <a:highlight>
                  <a:srgbClr val="999999"/>
                </a:highlight>
              </a:rPr>
              <a:t>(21.2 seconds)</a:t>
            </a:r>
            <a:br>
              <a:rPr lang="en" sz="1650"/>
            </a:br>
            <a:r>
              <a:rPr lang="en" sz="1650"/>
              <a:t>Intel UHD Graphics</a:t>
            </a:r>
            <a:br>
              <a:rPr lang="en" sz="1650"/>
            </a:br>
            <a:r>
              <a:rPr lang="en" sz="1650"/>
              <a:t>32 GB RAM</a:t>
            </a:r>
            <a:endParaRPr sz="1650"/>
          </a:p>
        </p:txBody>
      </p:sp>
      <p:sp>
        <p:nvSpPr>
          <p:cNvPr id="138" name="Google Shape;138;p24"/>
          <p:cNvSpPr txBox="1"/>
          <p:nvPr/>
        </p:nvSpPr>
        <p:spPr>
          <a:xfrm>
            <a:off x="4437425" y="2338075"/>
            <a:ext cx="4395000" cy="102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50">
                <a:solidFill>
                  <a:schemeClr val="accent3"/>
                </a:solidFill>
                <a:latin typeface="Average"/>
                <a:ea typeface="Average"/>
                <a:cs typeface="Average"/>
                <a:sym typeface="Average"/>
              </a:rPr>
              <a:t>AMD Ryzen 9 7940</a:t>
            </a:r>
            <a:r>
              <a:rPr lang="en" sz="1650">
                <a:solidFill>
                  <a:schemeClr val="accent3"/>
                </a:solidFill>
                <a:latin typeface="Average"/>
                <a:ea typeface="Average"/>
                <a:cs typeface="Average"/>
                <a:sym typeface="Average"/>
              </a:rPr>
              <a:t> @ 4.00GHz </a:t>
            </a:r>
            <a:r>
              <a:rPr lang="en" sz="1650">
                <a:solidFill>
                  <a:schemeClr val="dk1"/>
                </a:solidFill>
                <a:highlight>
                  <a:srgbClr val="999999"/>
                </a:highlight>
                <a:latin typeface="Average"/>
                <a:ea typeface="Average"/>
                <a:cs typeface="Average"/>
                <a:sym typeface="Average"/>
              </a:rPr>
              <a:t>(20.54 seconds)</a:t>
            </a:r>
            <a:br>
              <a:rPr lang="en" sz="1650">
                <a:solidFill>
                  <a:schemeClr val="accent3"/>
                </a:solidFill>
                <a:latin typeface="Average"/>
                <a:ea typeface="Average"/>
                <a:cs typeface="Average"/>
                <a:sym typeface="Average"/>
              </a:rPr>
            </a:br>
            <a:r>
              <a:rPr lang="en" sz="1650">
                <a:solidFill>
                  <a:schemeClr val="accent3"/>
                </a:solidFill>
                <a:latin typeface="Average"/>
                <a:ea typeface="Average"/>
                <a:cs typeface="Average"/>
                <a:sym typeface="Average"/>
              </a:rPr>
              <a:t>Radeon 780M</a:t>
            </a:r>
            <a:br>
              <a:rPr lang="en" sz="1650">
                <a:solidFill>
                  <a:schemeClr val="accent3"/>
                </a:solidFill>
                <a:latin typeface="Average"/>
                <a:ea typeface="Average"/>
                <a:cs typeface="Average"/>
                <a:sym typeface="Average"/>
              </a:rPr>
            </a:br>
            <a:r>
              <a:rPr lang="en" sz="1650">
                <a:solidFill>
                  <a:schemeClr val="accent3"/>
                </a:solidFill>
                <a:latin typeface="Average"/>
                <a:ea typeface="Average"/>
                <a:cs typeface="Average"/>
                <a:sym typeface="Average"/>
              </a:rPr>
              <a:t>16 GB RAM</a:t>
            </a:r>
            <a:endParaRPr sz="1650">
              <a:solidFill>
                <a:schemeClr val="accent3"/>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Observations</a:t>
            </a:r>
            <a:endParaRPr/>
          </a:p>
        </p:txBody>
      </p:sp>
      <p:sp>
        <p:nvSpPr>
          <p:cNvPr id="144" name="Google Shape;14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were unable to isolate singular variables such as </a:t>
            </a:r>
            <a:r>
              <a:rPr lang="en"/>
              <a:t>clock speed, amount of RAM, cache, and any hardware AES capability, however:</a:t>
            </a:r>
            <a:endParaRPr/>
          </a:p>
          <a:p>
            <a:pPr indent="-342900" lvl="0" marL="457200" rtl="0" algn="l">
              <a:spcBef>
                <a:spcPts val="1200"/>
              </a:spcBef>
              <a:spcAft>
                <a:spcPts val="0"/>
              </a:spcAft>
              <a:buSzPts val="1800"/>
              <a:buChar char="●"/>
            </a:pPr>
            <a:r>
              <a:rPr lang="en"/>
              <a:t>Our own computers ran the AES encryptions much faster than our FPGA boards</a:t>
            </a:r>
            <a:endParaRPr/>
          </a:p>
          <a:p>
            <a:pPr indent="-317500" lvl="1" marL="914400" rtl="0" algn="l">
              <a:spcBef>
                <a:spcPts val="0"/>
              </a:spcBef>
              <a:spcAft>
                <a:spcPts val="0"/>
              </a:spcAft>
              <a:buSzPts val="1400"/>
              <a:buChar char="○"/>
            </a:pPr>
            <a:r>
              <a:rPr lang="en"/>
              <a:t>About 2.1 seconds for 1 million AES-256 encryptions vs. 548 seconds for FPGA software-only</a:t>
            </a:r>
            <a:endParaRPr/>
          </a:p>
          <a:p>
            <a:pPr indent="-342900" lvl="0" marL="457200" rtl="0" algn="l">
              <a:spcBef>
                <a:spcPts val="0"/>
              </a:spcBef>
              <a:spcAft>
                <a:spcPts val="0"/>
              </a:spcAft>
              <a:buSzPts val="1800"/>
              <a:buChar char="●"/>
            </a:pPr>
            <a:r>
              <a:rPr lang="en"/>
              <a:t>Many CPUs have special hardware dedicated to AES (AES-NI in Intel &amp; AMD CPUs, ARM cryptography extensions, etc. that are much faster than software AES</a:t>
            </a:r>
            <a:endParaRPr/>
          </a:p>
          <a:p>
            <a:pPr indent="-342900" lvl="0" marL="457200" rtl="0" algn="l">
              <a:spcBef>
                <a:spcPts val="0"/>
              </a:spcBef>
              <a:spcAft>
                <a:spcPts val="0"/>
              </a:spcAft>
              <a:buSzPts val="1800"/>
              <a:buChar char="●"/>
            </a:pPr>
            <a:r>
              <a:rPr lang="en"/>
              <a:t>Clock speed makes a big difference (100MHz on FPGA vs. 2-4GHz on PCs)</a:t>
            </a:r>
            <a:endParaRPr/>
          </a:p>
          <a:p>
            <a:pPr indent="-342900" lvl="0" marL="457200" rtl="0" algn="l">
              <a:spcBef>
                <a:spcPts val="0"/>
              </a:spcBef>
              <a:spcAft>
                <a:spcPts val="0"/>
              </a:spcAft>
              <a:buSzPts val="1800"/>
              <a:buChar char="●"/>
            </a:pPr>
            <a:r>
              <a:rPr lang="en"/>
              <a:t>Running AES in parallel (such as with GPU acceleration) means multiple blocks of AES can be encrypted at the same time, vs. sequential software AES 1 at a time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50" name="Google Shape;15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lnSpc>
                <a:spcPct val="200000"/>
              </a:lnSpc>
              <a:spcBef>
                <a:spcPts val="0"/>
              </a:spcBef>
              <a:spcAft>
                <a:spcPts val="0"/>
              </a:spcAft>
              <a:buSzPts val="1600"/>
              <a:buChar char="●"/>
            </a:pPr>
            <a:r>
              <a:rPr lang="en" sz="1600"/>
              <a:t>AES encryption was successfully implemented in C</a:t>
            </a:r>
            <a:endParaRPr sz="1600"/>
          </a:p>
          <a:p>
            <a:pPr indent="-330200" lvl="0" marL="457200" rtl="0" algn="l">
              <a:lnSpc>
                <a:spcPct val="200000"/>
              </a:lnSpc>
              <a:spcBef>
                <a:spcPts val="0"/>
              </a:spcBef>
              <a:spcAft>
                <a:spcPts val="0"/>
              </a:spcAft>
              <a:buSzPts val="1600"/>
              <a:buChar char="●"/>
            </a:pPr>
            <a:r>
              <a:rPr lang="en" sz="1600"/>
              <a:t>Encryption correctness was verified using known test vectors</a:t>
            </a:r>
            <a:endParaRPr sz="1600"/>
          </a:p>
          <a:p>
            <a:pPr indent="-330200" lvl="0" marL="457200" rtl="0" algn="l">
              <a:lnSpc>
                <a:spcPct val="200000"/>
              </a:lnSpc>
              <a:spcBef>
                <a:spcPts val="0"/>
              </a:spcBef>
              <a:spcAft>
                <a:spcPts val="0"/>
              </a:spcAft>
              <a:buSzPts val="1600"/>
              <a:buChar char="●"/>
            </a:pPr>
            <a:r>
              <a:rPr lang="en" sz="1600"/>
              <a:t>Performance</a:t>
            </a:r>
            <a:r>
              <a:rPr lang="en" sz="1600"/>
              <a:t> was measured using repeated encryption</a:t>
            </a:r>
            <a:endParaRPr sz="1600"/>
          </a:p>
          <a:p>
            <a:pPr indent="-330200" lvl="0" marL="457200" rtl="0" algn="l">
              <a:lnSpc>
                <a:spcPct val="200000"/>
              </a:lnSpc>
              <a:spcBef>
                <a:spcPts val="0"/>
              </a:spcBef>
              <a:spcAft>
                <a:spcPts val="0"/>
              </a:spcAft>
              <a:buSzPts val="1600"/>
              <a:buChar char="●"/>
            </a:pPr>
            <a:r>
              <a:rPr lang="en" sz="1600"/>
              <a:t>Average time per encryption was calculated </a:t>
            </a:r>
            <a:endParaRPr sz="1600"/>
          </a:p>
          <a:p>
            <a:pPr indent="-330200" lvl="0" marL="457200" rtl="0" algn="l">
              <a:lnSpc>
                <a:spcPct val="200000"/>
              </a:lnSpc>
              <a:spcBef>
                <a:spcPts val="0"/>
              </a:spcBef>
              <a:spcAft>
                <a:spcPts val="0"/>
              </a:spcAft>
              <a:buSzPts val="1600"/>
              <a:buChar char="●"/>
            </a:pPr>
            <a:r>
              <a:rPr lang="en" sz="1600"/>
              <a:t>Results show increased runtime with larger key sizes</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